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80" r:id="rId3"/>
    <p:sldId id="281" r:id="rId4"/>
    <p:sldId id="282" r:id="rId5"/>
    <p:sldId id="286" r:id="rId6"/>
    <p:sldId id="287" r:id="rId7"/>
    <p:sldId id="288" r:id="rId8"/>
    <p:sldId id="284" r:id="rId9"/>
    <p:sldId id="285" r:id="rId10"/>
    <p:sldId id="291" r:id="rId11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92D32"/>
    <a:srgbClr val="5C6571"/>
    <a:srgbClr val="B64294"/>
    <a:srgbClr val="05B0F0"/>
    <a:srgbClr val="414548"/>
    <a:srgbClr val="51575B"/>
    <a:srgbClr val="798595"/>
    <a:srgbClr val="545C6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94"/>
    <p:restoredTop sz="94658"/>
  </p:normalViewPr>
  <p:slideViewPr>
    <p:cSldViewPr snapToGrid="0">
      <p:cViewPr varScale="1">
        <p:scale>
          <a:sx n="106" d="100"/>
          <a:sy n="106" d="100"/>
        </p:scale>
        <p:origin x="144" y="4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8AE268-3FB1-8B49-A7E8-783BB6480738}" type="datetimeFigureOut">
              <a:rPr lang="tr-TR" smtClean="0"/>
              <a:t>7.12.2025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FE9AE9-BB42-C34B-931A-FD2D50803AF6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437371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5B71D12-6014-37ED-D724-E7BD21CD1F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D7F1C411-FDA3-1EBE-717C-6F5734E736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5B9C50E4-56B1-4284-626D-7F384E9DF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7.12.2025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30437F4F-2860-0763-71A6-1B3819F21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1364079C-7C9B-7B96-FE94-076E2E531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474580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E97CEE7-B00F-0FD4-58A2-F19241816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B0C2F3B-9EDC-6534-3AD8-D31BECE5E5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F26D53D-822F-01AD-1D89-A7DB3EB18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7.12.2025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F969F30-DA4B-B063-8F71-A72368141A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D32376F-9008-FE54-58BE-4DA32639A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13195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48A2D08-8FF3-5C08-8F25-993A1498D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D51FDB1B-5903-E2AC-8921-47169E6F98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1BE4E1D-C9EA-1658-DF1D-5BDBE8D59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7.12.2025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4ACECCC-9712-9788-CDCA-45B456945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9747ED0-3CA1-4B0C-C742-1A79299F3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248992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DB796983-B230-5DF0-A663-44957483F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F44C255-0943-116D-BB82-2EF438BCC8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D4D61C3-1234-4838-79EB-35B63C2707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F5DEDA43-A814-757B-D488-F63358C8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7.12.2025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B3B7278F-488C-2C45-942E-08F02446B2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DB51193-6E02-506C-C594-1E0E34EDF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68538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C5A7B51-33A6-3FED-4F48-BE4D8D6C0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47EC8560-CE69-5B8E-1C53-6108C4F9EC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51643E41-09C9-5896-C3A0-862DA65830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28386D9F-899E-4925-CAEB-5007B35CE3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B30CB6D5-BF0C-0551-504B-5EBAB6EC9E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D7221D1D-127E-F76D-FED3-7505B2A4D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7.12.2025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148C8362-1F05-C873-442C-91D11AE4A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E9B66BB0-02F6-28A3-A18D-FB3633C1A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77382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464876C-89C6-387F-D823-335418BBC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E25550B7-1621-87D1-CD9A-1292A8BFB6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7.12.2025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7836EA5-CBDA-5984-3468-34B155DD2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56D5C7CF-B164-C79A-E588-63741216E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900713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8289D3F3-1B89-625F-69E6-95F452A9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7.12.2025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0F8AEC59-1807-31A8-4117-BCF28EBB3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D4FA6569-4038-FDAB-F07B-0907B1071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939207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CD7E437-D04B-EDB3-1C9A-321CBD025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89FB12BD-CA8F-19C5-E07F-6BA3F3AF22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9762264D-61E1-5D00-E98B-44E5785A18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BB0DDEAF-2FC9-DD9C-4D2B-52F78160E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7.12.2025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D230EFF5-ADB4-7418-AB48-AB229A5CD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B610274-958B-D7C0-A9B6-A8EE32633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132542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A83E5F4-AEAC-ABE8-B970-9C55FBA85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A23B1470-DF3A-5F71-2075-BD936E41F1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C51B652-01AF-77F0-D7DF-EB1883010D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CCB569E5-C427-D36E-7AC4-03D1DCD04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7.12.2025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820E582B-AAE1-FCFB-8E6D-B4CD48DA5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B83B2003-2979-7E56-757C-F2BFB47EE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8640838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212CF21-7F7D-0A9C-7B6C-CBCB24CE0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0BA9B703-9B23-37B6-3BD4-4866A12895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BE7340DF-04BF-BF18-1B3F-6925C79DD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7.12.2025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5779988-7071-E382-3E05-704D13889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009D9C1-CA76-0E32-C1A9-9F799233F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45288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2BDF4BA0-CCF6-8DC6-C3F2-DBE2D9FABC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AAC172A6-9DA9-E8BF-6E31-EF9F70BDF6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A664C77-1E81-FD93-F8D9-5868AFF5B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7.12.2025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4F8C3791-3A2E-6B3B-23C0-82649FABE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C72C615E-D35F-AF24-F70A-A9C6FB99C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7573694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90789D7F-49E3-DAE1-DA9C-C245CBCBC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0412297F-5A4E-97C8-ABAA-3CEDDC70F1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9A8255C-5E34-C115-62ED-88A41ACA6A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FF5D94-9F9C-DF48-BC1C-1A1DDC476D4B}" type="datetimeFigureOut">
              <a:rPr lang="tr-TR" smtClean="0"/>
              <a:t>7.12.2025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0CBE843-EB72-4D28-9329-F013C3F4C5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DB2264BE-BB55-7E8B-A051-A95DB3F61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65779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Resim 6" descr="grafik, daire, grafik tasarım, ekran görüntüsü içeren bir resim&#10;&#10;Açıklama otomatik olarak oluşturuldu">
            <a:extLst>
              <a:ext uri="{FF2B5EF4-FFF2-40B4-BE49-F238E27FC236}">
                <a16:creationId xmlns:a16="http://schemas.microsoft.com/office/drawing/2014/main" id="{48B4DAD3-B83F-1A37-6973-05CCBD9346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741" y="810794"/>
            <a:ext cx="2396890" cy="642598"/>
          </a:xfrm>
          <a:prstGeom prst="rect">
            <a:avLst/>
          </a:prstGeom>
        </p:spPr>
      </p:pic>
      <p:sp>
        <p:nvSpPr>
          <p:cNvPr id="8" name="Metin kutusu 7">
            <a:extLst>
              <a:ext uri="{FF2B5EF4-FFF2-40B4-BE49-F238E27FC236}">
                <a16:creationId xmlns:a16="http://schemas.microsoft.com/office/drawing/2014/main" id="{015320E3-0176-22CE-1CDE-E908C6E1585E}"/>
              </a:ext>
            </a:extLst>
          </p:cNvPr>
          <p:cNvSpPr txBox="1">
            <a:spLocks/>
          </p:cNvSpPr>
          <p:nvPr/>
        </p:nvSpPr>
        <p:spPr>
          <a:xfrm>
            <a:off x="690566" y="1621558"/>
            <a:ext cx="10345109" cy="2873529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Lexend"/>
                <a:ea typeface="Lexend"/>
                <a:cs typeface="Lexend"/>
                <a:sym typeface="Lexend"/>
              </a:rPr>
              <a:t>Building AI-Powered .NET Apps with ABP &amp; Microsoft Agent Framework</a:t>
            </a:r>
            <a:br>
              <a:rPr lang="tr-TR" sz="4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Lexend"/>
                <a:ea typeface="Lexend"/>
                <a:cs typeface="Lexend"/>
                <a:sym typeface="Lexend"/>
              </a:rPr>
            </a:br>
            <a:endParaRPr lang="tr-TR" sz="4500" b="1" dirty="0">
              <a:solidFill>
                <a:schemeClr val="tx1">
                  <a:lumMod val="95000"/>
                  <a:lumOff val="5000"/>
                </a:schemeClr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15" name="Google Shape;82;p3">
            <a:extLst>
              <a:ext uri="{FF2B5EF4-FFF2-40B4-BE49-F238E27FC236}">
                <a16:creationId xmlns:a16="http://schemas.microsoft.com/office/drawing/2014/main" id="{B25361F7-0FA7-054C-DCA8-FF866A07E270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699242" y="3361290"/>
            <a:ext cx="2957700" cy="2957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Resim 18" descr="kalıp, desen, düzen, grafik, grafik tasarım, tasarım içeren bir resim&#10;&#10;Açıklama otomatik olarak oluşturuldu">
            <a:extLst>
              <a:ext uri="{FF2B5EF4-FFF2-40B4-BE49-F238E27FC236}">
                <a16:creationId xmlns:a16="http://schemas.microsoft.com/office/drawing/2014/main" id="{BAA39AE7-D742-BC06-6EE1-563EED2DE7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8182" y="3573458"/>
            <a:ext cx="2519817" cy="253336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F1C1067-6FF4-05E9-BBF6-DC52A33EF387}"/>
              </a:ext>
            </a:extLst>
          </p:cNvPr>
          <p:cNvSpPr txBox="1"/>
          <p:nvPr/>
        </p:nvSpPr>
        <p:spPr>
          <a:xfrm>
            <a:off x="5176615" y="901260"/>
            <a:ext cx="60974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Lexend"/>
                <a:ea typeface="Lexend"/>
                <a:cs typeface="Lexend"/>
                <a:sym typeface="Lexend"/>
              </a:rPr>
              <a:t>ABP Community Talks 2025.10</a:t>
            </a:r>
          </a:p>
        </p:txBody>
      </p:sp>
    </p:spTree>
    <p:extLst>
      <p:ext uri="{BB962C8B-B14F-4D97-AF65-F5344CB8AC3E}">
        <p14:creationId xmlns:p14="http://schemas.microsoft.com/office/powerpoint/2010/main" val="42796887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Agenda</a:t>
            </a:r>
            <a:endParaRPr lang="tr-TR" sz="3600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28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Overall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Microsoft</a:t>
            </a:r>
            <a:r>
              <a:rPr lang="tr-TR" sz="28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’s</a:t>
            </a:r>
            <a:r>
              <a:rPr lang="en-US" sz="28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 </a:t>
            </a:r>
            <a:r>
              <a:rPr lang="en-US" sz="28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AI libraries</a:t>
            </a:r>
            <a:r>
              <a:rPr lang="tr-TR" sz="28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/frameworks</a:t>
            </a:r>
            <a:endParaRPr lang="tr-TR" sz="2800" dirty="0">
              <a:solidFill>
                <a:srgbClr val="5C6571"/>
              </a:solidFill>
              <a:latin typeface="Poppins" pitchFamily="2" charset="0"/>
              <a:ea typeface="Poppins"/>
              <a:cs typeface="Poppins" pitchFamily="2" charset="0"/>
              <a:sym typeface="Poppins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sz="28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AI for </a:t>
            </a:r>
            <a:r>
              <a:rPr lang="tr-TR" sz="28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ABP </a:t>
            </a:r>
            <a:r>
              <a:rPr lang="tr-TR" sz="28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Developers</a:t>
            </a:r>
            <a:endParaRPr lang="en-US" sz="2800" dirty="0">
              <a:solidFill>
                <a:srgbClr val="5C6571"/>
              </a:solidFill>
              <a:latin typeface="Poppins" pitchFamily="2" charset="0"/>
              <a:ea typeface="Poppins"/>
              <a:cs typeface="Poppins" pitchFamily="2" charset="0"/>
              <a:sym typeface="Poppin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28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The Microsoft </a:t>
            </a:r>
            <a:r>
              <a:rPr lang="tr-TR" sz="28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Agent Framework </a:t>
            </a:r>
            <a:r>
              <a:rPr lang="tr-TR" sz="2800" i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by Engin Veske</a:t>
            </a:r>
            <a:endParaRPr lang="en-US" sz="2800" i="1" dirty="0">
              <a:solidFill>
                <a:srgbClr val="5C6571"/>
              </a:solidFill>
              <a:latin typeface="Poppins" pitchFamily="2" charset="0"/>
              <a:ea typeface="Poppins"/>
              <a:cs typeface="Poppins" pitchFamily="2" charset="0"/>
              <a:sym typeface="Poppin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28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ABP </a:t>
            </a:r>
            <a:r>
              <a:rPr lang="tr-TR" sz="28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AI Management Module</a:t>
            </a:r>
            <a:r>
              <a:rPr lang="tr-TR" sz="28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 </a:t>
            </a:r>
            <a:r>
              <a:rPr lang="tr-TR" sz="2800" i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by Enis Necipoğlu</a:t>
            </a:r>
            <a:endParaRPr lang="en-US" sz="2800" i="1" dirty="0">
              <a:solidFill>
                <a:srgbClr val="5C6571"/>
              </a:solidFill>
              <a:latin typeface="Poppins" pitchFamily="2" charset="0"/>
              <a:ea typeface="Poppins"/>
              <a:cs typeface="Poppins" pitchFamily="2" charset="0"/>
              <a:sym typeface="Poppin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28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QA </a:t>
            </a:r>
            <a:r>
              <a:rPr lang="tr-TR" sz="28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– ask your questions!</a:t>
            </a:r>
            <a:endParaRPr lang="en-US" sz="2800" dirty="0">
              <a:solidFill>
                <a:srgbClr val="5C6571"/>
              </a:solidFill>
              <a:latin typeface="Poppins SemiBold" pitchFamily="2" charset="0"/>
              <a:ea typeface="Poppins"/>
              <a:cs typeface="Poppins SemiBold" pitchFamily="2" charset="0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1706987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C12D6D-787E-4435-ED64-DF250F120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8D21995A-ED9C-DD2B-6D94-9F4801CB062D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Microsoft AI Libraries/Frameworks</a:t>
            </a:r>
            <a:endParaRPr lang="tr-TR" sz="3600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A9F5CE85-D2F9-F7D0-CD38-F049268A93EE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6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Microsoft.Extensions.AI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6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Semantic Kernel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6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AutoGen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6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Agent Framework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600" b="1" dirty="0">
              <a:solidFill>
                <a:srgbClr val="5C6571"/>
              </a:solidFill>
              <a:latin typeface="Poppins SemiBold" pitchFamily="2" charset="0"/>
              <a:ea typeface="Poppins"/>
              <a:cs typeface="Poppins SemiBold" pitchFamily="2" charset="0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3569340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FA8F63-4AAD-DC81-9F10-32C92ED8D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8A76EF97-AF0E-03DE-9294-DFF8A42D4019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115622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lvl="0"/>
            <a: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Microsoft.Extensions.AI</a:t>
            </a:r>
            <a:b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</a:br>
            <a:r>
              <a:rPr lang="en-US" sz="2800" dirty="0">
                <a:latin typeface="Lexend" pitchFamily="2" charset="-94"/>
              </a:rPr>
              <a:t>The Foundation Layer</a:t>
            </a:r>
            <a:endParaRPr lang="tr-TR" sz="3600" dirty="0">
              <a:solidFill>
                <a:srgbClr val="292D33"/>
              </a:solidFill>
              <a:latin typeface="Lexend" pitchFamily="2" charset="-94"/>
              <a:ea typeface="Lexend"/>
              <a:cs typeface="Lexend"/>
              <a:sym typeface="Lexend"/>
            </a:endParaRP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307956F6-5539-0FCF-8B6F-56F5F3451D8A}"/>
              </a:ext>
            </a:extLst>
          </p:cNvPr>
          <p:cNvSpPr txBox="1"/>
          <p:nvPr/>
        </p:nvSpPr>
        <p:spPr>
          <a:xfrm>
            <a:off x="455846" y="1760434"/>
            <a:ext cx="11239964" cy="4236604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2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Abstractions</a:t>
            </a:r>
            <a:r>
              <a:rPr lang="en-US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 </a:t>
            </a:r>
            <a:r>
              <a:rPr lang="tr-TR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and fundamental implementations </a:t>
            </a:r>
            <a:r>
              <a:rPr lang="en-US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for models, prompts</a:t>
            </a:r>
            <a:r>
              <a:rPr lang="tr-TR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, chat and</a:t>
            </a:r>
            <a:r>
              <a:rPr lang="en-US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 embeddings</a:t>
            </a:r>
            <a:endParaRPr lang="tr-TR" sz="3200" dirty="0">
              <a:solidFill>
                <a:srgbClr val="5C6571"/>
              </a:solidFill>
              <a:latin typeface="Poppins" pitchFamily="2" charset="0"/>
              <a:ea typeface="Poppins"/>
              <a:cs typeface="Poppins" pitchFamily="2" charset="0"/>
              <a:sym typeface="Poppin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2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Dependency Injection </a:t>
            </a:r>
            <a:r>
              <a:rPr lang="tr-TR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Simple </a:t>
            </a:r>
            <a:r>
              <a:rPr lang="tr-TR" sz="32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middleware </a:t>
            </a:r>
            <a:r>
              <a:rPr lang="tr-TR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system for extensibility</a:t>
            </a:r>
          </a:p>
          <a:p>
            <a:endParaRPr lang="tr-TR" sz="3200" dirty="0">
              <a:solidFill>
                <a:srgbClr val="5C6571"/>
              </a:solidFill>
              <a:latin typeface="Poppins" pitchFamily="2" charset="0"/>
              <a:ea typeface="Poppins"/>
              <a:cs typeface="Poppins" pitchFamily="2" charset="0"/>
              <a:sym typeface="Poppins"/>
            </a:endParaRPr>
          </a:p>
          <a:p>
            <a:pPr algn="ctr"/>
            <a:r>
              <a:rPr lang="tr-TR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Other libraries use this as </a:t>
            </a:r>
            <a:r>
              <a:rPr lang="tr-TR" sz="32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the base</a:t>
            </a:r>
            <a:endParaRPr lang="en-US" sz="3200" b="1" dirty="0">
              <a:solidFill>
                <a:srgbClr val="5C6571"/>
              </a:solidFill>
              <a:latin typeface="Poppins SemiBold" pitchFamily="2" charset="0"/>
              <a:ea typeface="Poppins"/>
              <a:cs typeface="Poppins SemiBold" pitchFamily="2" charset="0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1608094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6B42E2-1C36-2F1B-A83B-141682DC6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3BE88963-9B4E-8B03-6941-08C03278C324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115622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lvl="0"/>
            <a: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Semantic Kernel</a:t>
            </a:r>
            <a:b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</a:br>
            <a:r>
              <a:rPr lang="en-US" sz="2800" dirty="0">
                <a:latin typeface="Lexend" pitchFamily="2" charset="-94"/>
              </a:rPr>
              <a:t>The Application Framework</a:t>
            </a:r>
            <a:endParaRPr lang="tr-TR" sz="3600" dirty="0">
              <a:solidFill>
                <a:srgbClr val="292D33"/>
              </a:solidFill>
              <a:latin typeface="Lexend" pitchFamily="2" charset="-94"/>
              <a:ea typeface="Lexend"/>
              <a:cs typeface="Lexend"/>
              <a:sym typeface="Lexend"/>
            </a:endParaRP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79925425-C3E6-BAAC-8159-5D1C664B083E}"/>
              </a:ext>
            </a:extLst>
          </p:cNvPr>
          <p:cNvSpPr txBox="1"/>
          <p:nvPr/>
        </p:nvSpPr>
        <p:spPr>
          <a:xfrm>
            <a:off x="455846" y="1760434"/>
            <a:ext cx="11239964" cy="4236604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2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Function </a:t>
            </a:r>
            <a:r>
              <a:rPr lang="tr-TR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orchestration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Connectors/</a:t>
            </a:r>
            <a:r>
              <a:rPr lang="tr-TR" sz="32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plugins </a:t>
            </a:r>
            <a:r>
              <a:rPr lang="tr-TR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for external systems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2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Memory </a:t>
            </a:r>
            <a:r>
              <a:rPr lang="tr-TR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abstractions (vector stores, retrieval)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Planners</a:t>
            </a:r>
            <a:r>
              <a:rPr lang="en-US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, task execution, pipelines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High-level patterns like </a:t>
            </a:r>
            <a:r>
              <a:rPr lang="en-US" sz="32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RAG</a:t>
            </a:r>
            <a:r>
              <a:rPr lang="en-US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, agent ↔ tool interactions</a:t>
            </a:r>
            <a:r>
              <a:rPr lang="tr-TR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, </a:t>
            </a:r>
            <a:r>
              <a:rPr lang="tr-TR" sz="32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agent orchestration </a:t>
            </a:r>
            <a:r>
              <a:rPr lang="tr-TR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/</a:t>
            </a:r>
            <a:r>
              <a:rPr lang="en-US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 workflows</a:t>
            </a:r>
          </a:p>
        </p:txBody>
      </p:sp>
    </p:spTree>
    <p:extLst>
      <p:ext uri="{BB962C8B-B14F-4D97-AF65-F5344CB8AC3E}">
        <p14:creationId xmlns:p14="http://schemas.microsoft.com/office/powerpoint/2010/main" val="1711364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94FAEE-C6A9-9070-7A0D-5B1DC9141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2C8EB9C7-17F9-0824-86BE-66E663E0D4AA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115622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lvl="0"/>
            <a: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AutoGen</a:t>
            </a:r>
            <a:b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</a:br>
            <a:r>
              <a:rPr lang="tr-TR" sz="2800" dirty="0">
                <a:latin typeface="Lexend" pitchFamily="2" charset="-94"/>
              </a:rPr>
              <a:t>Multi-Agent Coordination</a:t>
            </a:r>
            <a:endParaRPr lang="tr-TR" sz="3600" dirty="0">
              <a:solidFill>
                <a:srgbClr val="292D33"/>
              </a:solidFill>
              <a:latin typeface="Lexend" pitchFamily="2" charset="-94"/>
              <a:ea typeface="Lexend"/>
              <a:cs typeface="Lexend"/>
              <a:sym typeface="Lexend"/>
            </a:endParaRP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4C787698-F2AE-CBB7-F67F-C4C06F4018B0}"/>
              </a:ext>
            </a:extLst>
          </p:cNvPr>
          <p:cNvSpPr txBox="1"/>
          <p:nvPr/>
        </p:nvSpPr>
        <p:spPr>
          <a:xfrm>
            <a:off x="455846" y="1760434"/>
            <a:ext cx="11239964" cy="4236604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2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Agent</a:t>
            </a:r>
            <a:r>
              <a:rPr lang="tr-TR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 classes (chat agent, tool agent, etc)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Conversation</a:t>
            </a:r>
            <a:r>
              <a:rPr lang="en-US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 orchestration</a:t>
            </a:r>
            <a:endParaRPr lang="tr-TR" sz="3200" dirty="0">
              <a:solidFill>
                <a:srgbClr val="5C6571"/>
              </a:solidFill>
              <a:latin typeface="Poppins" panose="00000500000000000000" pitchFamily="2" charset="-94"/>
              <a:ea typeface="Poppins"/>
              <a:cs typeface="Poppins" panose="00000500000000000000" pitchFamily="2" charset="-94"/>
              <a:sym typeface="Poppin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Patterns</a:t>
            </a:r>
            <a:r>
              <a:rPr lang="en-US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 like round-robin, group chats, delegation, function calling, and human-in-the-loop</a:t>
            </a:r>
            <a:endParaRPr lang="tr-TR" sz="3200" dirty="0">
              <a:solidFill>
                <a:srgbClr val="5C6571"/>
              </a:solidFill>
              <a:latin typeface="Poppins" panose="00000500000000000000" pitchFamily="2" charset="-94"/>
              <a:ea typeface="Poppins"/>
              <a:cs typeface="Poppins" panose="00000500000000000000" pitchFamily="2" charset="-94"/>
              <a:sym typeface="Poppins"/>
            </a:endParaRPr>
          </a:p>
          <a:p>
            <a:endParaRPr lang="tr-TR" sz="3200" dirty="0">
              <a:solidFill>
                <a:srgbClr val="5C6571"/>
              </a:solidFill>
              <a:latin typeface="Poppins" panose="00000500000000000000" pitchFamily="2" charset="-94"/>
              <a:ea typeface="Poppins"/>
              <a:cs typeface="Poppins" panose="00000500000000000000" pitchFamily="2" charset="-94"/>
              <a:sym typeface="Poppins"/>
            </a:endParaRPr>
          </a:p>
          <a:p>
            <a:pPr algn="ctr"/>
            <a:r>
              <a:rPr lang="tr-TR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As October 2025, it enters to </a:t>
            </a:r>
            <a:r>
              <a:rPr lang="tr-TR" sz="32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maintanence </a:t>
            </a:r>
            <a:r>
              <a:rPr lang="tr-TR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phase – </a:t>
            </a:r>
            <a:r>
              <a:rPr lang="tr-TR" sz="3200" i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The Agent Framework is recommended now</a:t>
            </a:r>
            <a:endParaRPr lang="en-US" sz="3200" i="1" dirty="0">
              <a:solidFill>
                <a:srgbClr val="5C6571"/>
              </a:solidFill>
              <a:latin typeface="Poppins" panose="00000500000000000000" pitchFamily="2" charset="-94"/>
              <a:ea typeface="Poppins"/>
              <a:cs typeface="Poppins" panose="00000500000000000000" pitchFamily="2" charset="-94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2704251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AB4CD0-5EA5-28D2-D10B-9720D31E1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C30179FF-FA4F-B138-DA33-9F8AB6C44810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115622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lvl="0"/>
            <a: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Microsoft Agent Framework</a:t>
            </a:r>
            <a:b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</a:br>
            <a:r>
              <a:rPr lang="en-US" sz="2800" dirty="0">
                <a:latin typeface="Lexend" pitchFamily="2" charset="-94"/>
              </a:rPr>
              <a:t>The </a:t>
            </a:r>
            <a:r>
              <a:rPr lang="tr-TR" sz="2800" dirty="0">
                <a:latin typeface="Lexend" pitchFamily="2" charset="-94"/>
              </a:rPr>
              <a:t>Future</a:t>
            </a:r>
            <a:endParaRPr lang="tr-TR" sz="3600" dirty="0">
              <a:solidFill>
                <a:srgbClr val="292D33"/>
              </a:solidFill>
              <a:latin typeface="Lexend" pitchFamily="2" charset="-94"/>
              <a:ea typeface="Lexend"/>
              <a:cs typeface="Lexend"/>
              <a:sym typeface="Lexend"/>
            </a:endParaRP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66D27697-6F9F-BC61-ACF6-7F172BA2B032}"/>
              </a:ext>
            </a:extLst>
          </p:cNvPr>
          <p:cNvSpPr txBox="1"/>
          <p:nvPr/>
        </p:nvSpPr>
        <p:spPr>
          <a:xfrm>
            <a:off x="455846" y="1760434"/>
            <a:ext cx="11239964" cy="4236604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Use </a:t>
            </a:r>
            <a:r>
              <a:rPr lang="en-US" sz="32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Microsoft.Extensions.AI </a:t>
            </a:r>
            <a:r>
              <a:rPr lang="en-US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as the underlying model interface</a:t>
            </a:r>
            <a:endParaRPr lang="tr-TR" sz="3200" dirty="0">
              <a:solidFill>
                <a:srgbClr val="5C6571"/>
              </a:solidFill>
              <a:latin typeface="Poppins" panose="00000500000000000000" pitchFamily="2" charset="-94"/>
              <a:ea typeface="Poppins"/>
              <a:cs typeface="Poppins" panose="00000500000000000000" pitchFamily="2" charset="-94"/>
              <a:sym typeface="Poppin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Gets</a:t>
            </a:r>
            <a:r>
              <a:rPr lang="en-US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 the best practices from </a:t>
            </a:r>
            <a:r>
              <a:rPr lang="en-US" sz="32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Semantic Kernel </a:t>
            </a:r>
            <a:r>
              <a:rPr lang="en-US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orchestration and </a:t>
            </a:r>
            <a:r>
              <a:rPr lang="en-US" sz="3200" b="1" dirty="0" err="1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AutoGen</a:t>
            </a:r>
            <a:r>
              <a:rPr lang="en-US" sz="3200" dirty="0" err="1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’s</a:t>
            </a:r>
            <a:r>
              <a:rPr lang="en-US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 conversational agents</a:t>
            </a:r>
            <a:endParaRPr lang="tr-TR" sz="3200" dirty="0">
              <a:solidFill>
                <a:srgbClr val="5C6571"/>
              </a:solidFill>
              <a:latin typeface="Poppins" panose="00000500000000000000" pitchFamily="2" charset="-94"/>
              <a:ea typeface="Poppins"/>
              <a:cs typeface="Poppins" panose="00000500000000000000" pitchFamily="2" charset="-94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418848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CD8BAF-E4ED-9DF8-30AC-56377C7F8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2E8087A7-295F-3F05-10F3-AD19FF349CEC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Relations of MS AI Libraries</a:t>
            </a:r>
            <a:endParaRPr lang="tr-TR" sz="3600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98C77BB-6701-8BEA-25EE-131160E3F9DD}"/>
              </a:ext>
            </a:extLst>
          </p:cNvPr>
          <p:cNvSpPr/>
          <p:nvPr/>
        </p:nvSpPr>
        <p:spPr>
          <a:xfrm>
            <a:off x="4378295" y="5264210"/>
            <a:ext cx="3435409" cy="70876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Microsoft.Extensions.AI</a:t>
            </a:r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B46F077-86C7-1D6D-7EAA-8C20030873C3}"/>
              </a:ext>
            </a:extLst>
          </p:cNvPr>
          <p:cNvSpPr/>
          <p:nvPr/>
        </p:nvSpPr>
        <p:spPr>
          <a:xfrm>
            <a:off x="1882924" y="3227972"/>
            <a:ext cx="3435409" cy="7087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Semantic Kernel</a:t>
            </a:r>
            <a:br>
              <a:rPr lang="tr-TR" dirty="0"/>
            </a:br>
            <a:r>
              <a:rPr lang="tr-TR" sz="1400" dirty="0">
                <a:solidFill>
                  <a:schemeClr val="bg1">
                    <a:lumMod val="85000"/>
                  </a:schemeClr>
                </a:solidFill>
              </a:rPr>
              <a:t>(maintainance mode)</a:t>
            </a:r>
            <a:endParaRPr lang="en-US" sz="14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6080EDB-8F97-B3A9-3553-C4561BAE3506}"/>
              </a:ext>
            </a:extLst>
          </p:cNvPr>
          <p:cNvSpPr/>
          <p:nvPr/>
        </p:nvSpPr>
        <p:spPr>
          <a:xfrm>
            <a:off x="6856579" y="3227972"/>
            <a:ext cx="3435409" cy="708763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AutoGen</a:t>
            </a:r>
            <a:br>
              <a:rPr lang="tr-TR" dirty="0"/>
            </a:br>
            <a:r>
              <a:rPr lang="tr-TR" sz="1400" dirty="0">
                <a:solidFill>
                  <a:schemeClr val="bg1">
                    <a:lumMod val="85000"/>
                  </a:schemeClr>
                </a:solidFill>
              </a:rPr>
              <a:t>(maintainance mode)</a:t>
            </a:r>
            <a:endParaRPr lang="en-US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C500DEF-E9E0-459A-5D15-32D18775C552}"/>
              </a:ext>
            </a:extLst>
          </p:cNvPr>
          <p:cNvSpPr/>
          <p:nvPr/>
        </p:nvSpPr>
        <p:spPr>
          <a:xfrm>
            <a:off x="4378294" y="1191735"/>
            <a:ext cx="3435409" cy="708763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Agent Framework</a:t>
            </a:r>
            <a:endParaRPr lang="en-US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4705E71-8078-86C6-9D78-934D08A2A471}"/>
              </a:ext>
            </a:extLst>
          </p:cNvPr>
          <p:cNvCxnSpPr/>
          <p:nvPr/>
        </p:nvCxnSpPr>
        <p:spPr>
          <a:xfrm>
            <a:off x="4802736" y="3936735"/>
            <a:ext cx="0" cy="1327475"/>
          </a:xfrm>
          <a:prstGeom prst="straightConnector1">
            <a:avLst/>
          </a:prstGeom>
          <a:ln w="50800"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A2D7300-81DE-7370-A0FC-993BB681C33F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6096000" y="1900497"/>
            <a:ext cx="0" cy="3363713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B3156BF-769E-4ADC-F894-88A58B58FC2B}"/>
              </a:ext>
            </a:extLst>
          </p:cNvPr>
          <p:cNvCxnSpPr>
            <a:cxnSpLocks/>
          </p:cNvCxnSpPr>
          <p:nvPr/>
        </p:nvCxnSpPr>
        <p:spPr>
          <a:xfrm flipV="1">
            <a:off x="4802736" y="1900497"/>
            <a:ext cx="0" cy="1327475"/>
          </a:xfrm>
          <a:prstGeom prst="straightConnector1">
            <a:avLst/>
          </a:prstGeom>
          <a:ln w="50800" cmpd="dbl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A25DB63-CFCA-3B72-33DD-E6F617D4163E}"/>
              </a:ext>
            </a:extLst>
          </p:cNvPr>
          <p:cNvCxnSpPr>
            <a:cxnSpLocks/>
          </p:cNvCxnSpPr>
          <p:nvPr/>
        </p:nvCxnSpPr>
        <p:spPr>
          <a:xfrm flipV="1">
            <a:off x="7288138" y="1900497"/>
            <a:ext cx="0" cy="1327475"/>
          </a:xfrm>
          <a:prstGeom prst="straightConnector1">
            <a:avLst/>
          </a:prstGeom>
          <a:ln w="50800" cmpd="dbl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26257DCD-E9F1-BBED-5280-791580161EAD}"/>
              </a:ext>
            </a:extLst>
          </p:cNvPr>
          <p:cNvSpPr txBox="1"/>
          <p:nvPr/>
        </p:nvSpPr>
        <p:spPr>
          <a:xfrm>
            <a:off x="3418318" y="4263497"/>
            <a:ext cx="13844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tr-TR" dirty="0"/>
              <a:t>Partially</a:t>
            </a:r>
          </a:p>
          <a:p>
            <a:r>
              <a:rPr lang="tr-TR" dirty="0"/>
              <a:t>Implements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A8FA7F6-21FA-3D7A-A48D-F257A006E4E2}"/>
              </a:ext>
            </a:extLst>
          </p:cNvPr>
          <p:cNvSpPr txBox="1"/>
          <p:nvPr/>
        </p:nvSpPr>
        <p:spPr>
          <a:xfrm>
            <a:off x="6075831" y="4401996"/>
            <a:ext cx="138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/>
              <a:t>Implements</a:t>
            </a:r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A9A291E-5DF5-62AB-E83A-543698BAFA53}"/>
              </a:ext>
            </a:extLst>
          </p:cNvPr>
          <p:cNvSpPr txBox="1"/>
          <p:nvPr/>
        </p:nvSpPr>
        <p:spPr>
          <a:xfrm>
            <a:off x="7288138" y="2379569"/>
            <a:ext cx="1094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/>
              <a:t>Migrating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554A23-CD8E-6604-5757-1B5B4F74F710}"/>
              </a:ext>
            </a:extLst>
          </p:cNvPr>
          <p:cNvSpPr txBox="1"/>
          <p:nvPr/>
        </p:nvSpPr>
        <p:spPr>
          <a:xfrm>
            <a:off x="3698378" y="2379568"/>
            <a:ext cx="1094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/>
              <a:t>Migrating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93979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5DBDA3-9313-3A1C-E37E-AE140BFC4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28C0D93-3CF9-5802-ACB2-EF33FCA73B04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AI for ABP Developers</a:t>
            </a:r>
            <a:endParaRPr lang="tr-TR" sz="3600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E3A01149-6D50-AD5A-0825-DFFBB9390E67}"/>
              </a:ext>
            </a:extLst>
          </p:cNvPr>
          <p:cNvSpPr txBox="1"/>
          <p:nvPr/>
        </p:nvSpPr>
        <p:spPr>
          <a:xfrm>
            <a:off x="455846" y="1250909"/>
            <a:ext cx="11239964" cy="5199434"/>
          </a:xfrm>
          <a:prstGeom prst="rect">
            <a:avLst/>
          </a:prstGeom>
          <a:noFill/>
        </p:spPr>
        <p:txBody>
          <a:bodyPr wrap="square" rtlCol="0">
            <a:normAutofit lnSpcReduction="10000"/>
          </a:bodyPr>
          <a:lstStyle/>
          <a:p>
            <a:r>
              <a:rPr lang="en-US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Everything you can build with .NET is easier with the ABP Framework</a:t>
            </a:r>
            <a:r>
              <a:rPr lang="tr-TR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 – You can </a:t>
            </a:r>
            <a:r>
              <a:rPr lang="tr-TR" sz="28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use any AI Framework </a:t>
            </a:r>
            <a:r>
              <a:rPr lang="tr-TR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in your ABP applications</a:t>
            </a:r>
          </a:p>
          <a:p>
            <a:endParaRPr lang="tr-TR" sz="2800" b="1" dirty="0">
              <a:solidFill>
                <a:srgbClr val="5C6571"/>
              </a:solidFill>
              <a:latin typeface="Poppins SemiBold" pitchFamily="2" charset="0"/>
              <a:ea typeface="Poppins"/>
              <a:cs typeface="Poppins SemiBold" pitchFamily="2" charset="0"/>
              <a:sym typeface="Poppin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The new </a:t>
            </a:r>
            <a:r>
              <a:rPr lang="tr-TR" sz="28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Volo.Abp.AI</a:t>
            </a:r>
            <a:r>
              <a:rPr lang="tr-TR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 NuGet Package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sz="28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Workspaces:</a:t>
            </a:r>
            <a:r>
              <a:rPr lang="tr-TR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 Manage multiple AI configuration in a single application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sz="28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Modularity</a:t>
            </a:r>
            <a:r>
              <a:rPr lang="tr-TR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: Configure and use AI in a modular application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The </a:t>
            </a:r>
            <a:r>
              <a:rPr lang="tr-TR" sz="28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AI Management </a:t>
            </a:r>
            <a:r>
              <a:rPr lang="tr-TR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Module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sz="28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Centralize </a:t>
            </a:r>
            <a:r>
              <a:rPr lang="tr-TR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and </a:t>
            </a:r>
            <a:r>
              <a:rPr lang="tr-TR" sz="28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visualize </a:t>
            </a:r>
            <a:r>
              <a:rPr lang="tr-TR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how to managet and test AI configuration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Provide a AI usage model for </a:t>
            </a:r>
            <a:r>
              <a:rPr lang="tr-TR" sz="28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distributed systems</a:t>
            </a:r>
            <a:endParaRPr lang="tr-TR" sz="2800" dirty="0">
              <a:solidFill>
                <a:srgbClr val="5C6571"/>
              </a:solidFill>
              <a:latin typeface="Poppins" panose="00000500000000000000" pitchFamily="2" charset="-94"/>
              <a:ea typeface="Poppins"/>
              <a:cs typeface="Poppins" panose="00000500000000000000" pitchFamily="2" charset="-94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2684249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8C4AA6-9A7A-D9E5-5383-459CD17F4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ECEEADF5-D160-7812-350C-75703161FF99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TODO</a:t>
            </a:r>
            <a:endParaRPr lang="tr-TR" sz="3600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82FA96C3-F475-3CDF-F28D-E0DC430A1B0D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28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TODO</a:t>
            </a:r>
            <a:endParaRPr lang="en-US" sz="2800" b="1" dirty="0">
              <a:solidFill>
                <a:srgbClr val="5C6571"/>
              </a:solidFill>
              <a:latin typeface="Poppins SemiBold" pitchFamily="2" charset="0"/>
              <a:ea typeface="Poppins"/>
              <a:cs typeface="Poppins SemiBold" pitchFamily="2" charset="0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24346719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483</TotalTime>
  <Words>328</Words>
  <Application>Microsoft Office PowerPoint</Application>
  <PresentationFormat>Widescreen</PresentationFormat>
  <Paragraphs>56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Lexend</vt:lpstr>
      <vt:lpstr>Poppins</vt:lpstr>
      <vt:lpstr>Poppins SemiBold</vt:lpstr>
      <vt:lpstr>Office Teması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Volosoft Bilisim</dc:creator>
  <cp:lastModifiedBy>Halil Kalkan</cp:lastModifiedBy>
  <cp:revision>77</cp:revision>
  <dcterms:created xsi:type="dcterms:W3CDTF">2024-10-07T11:11:00Z</dcterms:created>
  <dcterms:modified xsi:type="dcterms:W3CDTF">2025-12-07T11:06:24Z</dcterms:modified>
</cp:coreProperties>
</file>