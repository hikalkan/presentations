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9"/>
  </p:notesMasterIdLst>
  <p:sldIdLst>
    <p:sldId id="294" r:id="rId2"/>
    <p:sldId id="354" r:id="rId3"/>
    <p:sldId id="349" r:id="rId4"/>
    <p:sldId id="358" r:id="rId5"/>
    <p:sldId id="355" r:id="rId6"/>
    <p:sldId id="356" r:id="rId7"/>
    <p:sldId id="357" r:id="rId8"/>
    <p:sldId id="348" r:id="rId9"/>
    <p:sldId id="347" r:id="rId10"/>
    <p:sldId id="350" r:id="rId11"/>
    <p:sldId id="351" r:id="rId12"/>
    <p:sldId id="346" r:id="rId13"/>
    <p:sldId id="353" r:id="rId14"/>
    <p:sldId id="352" r:id="rId15"/>
    <p:sldId id="359" r:id="rId16"/>
    <p:sldId id="317" r:id="rId17"/>
    <p:sldId id="326" r:id="rId18"/>
    <p:sldId id="360" r:id="rId19"/>
    <p:sldId id="361" r:id="rId20"/>
    <p:sldId id="339" r:id="rId21"/>
    <p:sldId id="362" r:id="rId22"/>
    <p:sldId id="345" r:id="rId23"/>
    <p:sldId id="363" r:id="rId24"/>
    <p:sldId id="334" r:id="rId25"/>
    <p:sldId id="364" r:id="rId26"/>
    <p:sldId id="365" r:id="rId27"/>
    <p:sldId id="332" r:id="rId28"/>
  </p:sldIdLst>
  <p:sldSz cx="12192000" cy="6858000"/>
  <p:notesSz cx="6858000" cy="9144000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92D32"/>
    <a:srgbClr val="5C6571"/>
    <a:srgbClr val="B64294"/>
    <a:srgbClr val="05B0F0"/>
    <a:srgbClr val="414548"/>
    <a:srgbClr val="51575B"/>
    <a:srgbClr val="798595"/>
    <a:srgbClr val="545C6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394"/>
    <p:restoredTop sz="94658"/>
  </p:normalViewPr>
  <p:slideViewPr>
    <p:cSldViewPr snapToGrid="0">
      <p:cViewPr varScale="1">
        <p:scale>
          <a:sx n="120" d="100"/>
          <a:sy n="120" d="100"/>
        </p:scale>
        <p:origin x="32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st Bilgi Yer Tutucusu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Veri Yer Tutucusu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8AE268-3FB1-8B49-A7E8-783BB6480738}" type="datetimeFigureOut">
              <a:rPr lang="tr-TR" smtClean="0"/>
              <a:t>3.05.2026</a:t>
            </a:fld>
            <a:endParaRPr lang="tr-TR"/>
          </a:p>
        </p:txBody>
      </p:sp>
      <p:sp>
        <p:nvSpPr>
          <p:cNvPr id="4" name="Slayt Resmi Yer Tutucus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 Yer Tutucusu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6" name="Alt Bilgi Yer Tutucusu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ayt Numarası Yer Tutucus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6FE9AE9-BB42-C34B-931A-FD2D50803AF6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4437371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aşlık Slayd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C5B71D12-6014-37ED-D724-E7BD21CD1F2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Alt Başlık 2">
            <a:extLst>
              <a:ext uri="{FF2B5EF4-FFF2-40B4-BE49-F238E27FC236}">
                <a16:creationId xmlns:a16="http://schemas.microsoft.com/office/drawing/2014/main" id="{D7F1C411-FDA3-1EBE-717C-6F5734E7361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tr-TR"/>
              <a:t>Asıl alt başlık stilini düzenlemek için tıklayın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5B9C50E4-56B1-4284-626D-7F384E9DFC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F5D94-9F9C-DF48-BC1C-1A1DDC476D4B}" type="datetimeFigureOut">
              <a:rPr lang="tr-TR" smtClean="0"/>
              <a:t>3.05.2026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30437F4F-2860-0763-71A6-1B3819F21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1364079C-7C9B-7B96-FE94-076E2E531C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5B393-21BF-2240-8199-3A8335B19374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6474580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aşlık ve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BE97CEE7-B00F-0FD4-58A2-F192418161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9B0C2F3B-9EDC-6534-3AD8-D31BECE5E5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8F26D53D-822F-01AD-1D89-A7DB3EB18A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F5D94-9F9C-DF48-BC1C-1A1DDC476D4B}" type="datetimeFigureOut">
              <a:rPr lang="tr-TR" smtClean="0"/>
              <a:t>3.05.2026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2F969F30-DA4B-B063-8F71-A72368141A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7D32376F-9008-FE54-58BE-4DA32639A6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5B393-21BF-2240-8199-3A8335B19374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1131958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Bölüm Üst Bilgis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648A2D08-8FF3-5C08-8F25-993A1498D9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D51FDB1B-5903-E2AC-8921-47169E6F98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81BE4E1D-C9EA-1658-DF1D-5BDBE8D591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F5D94-9F9C-DF48-BC1C-1A1DDC476D4B}" type="datetimeFigureOut">
              <a:rPr lang="tr-TR" smtClean="0"/>
              <a:t>3.05.2026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04ACECCC-9712-9788-CDCA-45B4569456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E9747ED0-3CA1-4B0C-C742-1A79299F39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5B393-21BF-2240-8199-3A8335B19374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6248992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İki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DB796983-B230-5DF0-A663-44957483F3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DF44C255-0943-116D-BB82-2EF438BCC81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İçerik Yer Tutucusu 3">
            <a:extLst>
              <a:ext uri="{FF2B5EF4-FFF2-40B4-BE49-F238E27FC236}">
                <a16:creationId xmlns:a16="http://schemas.microsoft.com/office/drawing/2014/main" id="{ED4D61C3-1234-4838-79EB-35B63C2707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F5DEDA43-A814-757B-D488-F63358C8BD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F5D94-9F9C-DF48-BC1C-1A1DDC476D4B}" type="datetimeFigureOut">
              <a:rPr lang="tr-TR" smtClean="0"/>
              <a:t>3.05.2026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B3B7278F-488C-2C45-942E-08F02446B2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4DB51193-6E02-506C-C594-1E0E34EDF1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5B393-21BF-2240-8199-3A8335B19374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2685385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Karşılaştır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6C5A7B51-33A6-3FED-4F48-BE4D8D6C07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47EC8560-CE69-5B8E-1C53-6108C4F9EC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İçerik Yer Tutucusu 3">
            <a:extLst>
              <a:ext uri="{FF2B5EF4-FFF2-40B4-BE49-F238E27FC236}">
                <a16:creationId xmlns:a16="http://schemas.microsoft.com/office/drawing/2014/main" id="{51643E41-09C9-5896-C3A0-862DA65830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5" name="Metin Yer Tutucusu 4">
            <a:extLst>
              <a:ext uri="{FF2B5EF4-FFF2-40B4-BE49-F238E27FC236}">
                <a16:creationId xmlns:a16="http://schemas.microsoft.com/office/drawing/2014/main" id="{28386D9F-899E-4925-CAEB-5007B35CE38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6" name="İçerik Yer Tutucusu 5">
            <a:extLst>
              <a:ext uri="{FF2B5EF4-FFF2-40B4-BE49-F238E27FC236}">
                <a16:creationId xmlns:a16="http://schemas.microsoft.com/office/drawing/2014/main" id="{B30CB6D5-BF0C-0551-504B-5EBAB6EC9E0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7" name="Veri Yer Tutucusu 6">
            <a:extLst>
              <a:ext uri="{FF2B5EF4-FFF2-40B4-BE49-F238E27FC236}">
                <a16:creationId xmlns:a16="http://schemas.microsoft.com/office/drawing/2014/main" id="{D7221D1D-127E-F76D-FED3-7505B2A4D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F5D94-9F9C-DF48-BC1C-1A1DDC476D4B}" type="datetimeFigureOut">
              <a:rPr lang="tr-TR" smtClean="0"/>
              <a:t>3.05.2026</a:t>
            </a:fld>
            <a:endParaRPr lang="tr-TR"/>
          </a:p>
        </p:txBody>
      </p:sp>
      <p:sp>
        <p:nvSpPr>
          <p:cNvPr id="8" name="Alt Bilgi Yer Tutucusu 7">
            <a:extLst>
              <a:ext uri="{FF2B5EF4-FFF2-40B4-BE49-F238E27FC236}">
                <a16:creationId xmlns:a16="http://schemas.microsoft.com/office/drawing/2014/main" id="{148C8362-1F05-C873-442C-91D11AE4AF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9" name="Slayt Numarası Yer Tutucusu 8">
            <a:extLst>
              <a:ext uri="{FF2B5EF4-FFF2-40B4-BE49-F238E27FC236}">
                <a16:creationId xmlns:a16="http://schemas.microsoft.com/office/drawing/2014/main" id="{E9B66BB0-02F6-28A3-A18D-FB3633C1A4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5B393-21BF-2240-8199-3A8335B19374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0773822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Yalnızca Başlı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B464876C-89C6-387F-D823-335418BBC0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Veri Yer Tutucusu 2">
            <a:extLst>
              <a:ext uri="{FF2B5EF4-FFF2-40B4-BE49-F238E27FC236}">
                <a16:creationId xmlns:a16="http://schemas.microsoft.com/office/drawing/2014/main" id="{E25550B7-1621-87D1-CD9A-1292A8BFB6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F5D94-9F9C-DF48-BC1C-1A1DDC476D4B}" type="datetimeFigureOut">
              <a:rPr lang="tr-TR" smtClean="0"/>
              <a:t>3.05.2026</a:t>
            </a:fld>
            <a:endParaRPr lang="tr-TR"/>
          </a:p>
        </p:txBody>
      </p:sp>
      <p:sp>
        <p:nvSpPr>
          <p:cNvPr id="4" name="Alt Bilgi Yer Tutucusu 3">
            <a:extLst>
              <a:ext uri="{FF2B5EF4-FFF2-40B4-BE49-F238E27FC236}">
                <a16:creationId xmlns:a16="http://schemas.microsoft.com/office/drawing/2014/main" id="{17836EA5-CBDA-5984-3468-34B155DD24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Slayt Numarası Yer Tutucusu 4">
            <a:extLst>
              <a:ext uri="{FF2B5EF4-FFF2-40B4-BE49-F238E27FC236}">
                <a16:creationId xmlns:a16="http://schemas.microsoft.com/office/drawing/2014/main" id="{56D5C7CF-B164-C79A-E588-63741216EF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5B393-21BF-2240-8199-3A8335B19374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7900713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o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i Yer Tutucusu 1">
            <a:extLst>
              <a:ext uri="{FF2B5EF4-FFF2-40B4-BE49-F238E27FC236}">
                <a16:creationId xmlns:a16="http://schemas.microsoft.com/office/drawing/2014/main" id="{8289D3F3-1B89-625F-69E6-95F452A9BA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F5D94-9F9C-DF48-BC1C-1A1DDC476D4B}" type="datetimeFigureOut">
              <a:rPr lang="tr-TR" smtClean="0"/>
              <a:t>3.05.2026</a:t>
            </a:fld>
            <a:endParaRPr lang="tr-TR"/>
          </a:p>
        </p:txBody>
      </p:sp>
      <p:sp>
        <p:nvSpPr>
          <p:cNvPr id="3" name="Alt Bilgi Yer Tutucusu 2">
            <a:extLst>
              <a:ext uri="{FF2B5EF4-FFF2-40B4-BE49-F238E27FC236}">
                <a16:creationId xmlns:a16="http://schemas.microsoft.com/office/drawing/2014/main" id="{0F8AEC59-1807-31A8-4117-BCF28EBB3C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ayt Numarası Yer Tutucusu 3">
            <a:extLst>
              <a:ext uri="{FF2B5EF4-FFF2-40B4-BE49-F238E27FC236}">
                <a16:creationId xmlns:a16="http://schemas.microsoft.com/office/drawing/2014/main" id="{D4FA6569-4038-FDAB-F07B-0907B1071C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5B393-21BF-2240-8199-3A8335B19374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9392076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Başlıklı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CCD7E437-D04B-EDB3-1C9A-321CBD0258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89FB12BD-CA8F-19C5-E07F-6BA3F3AF22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Metin Yer Tutucusu 3">
            <a:extLst>
              <a:ext uri="{FF2B5EF4-FFF2-40B4-BE49-F238E27FC236}">
                <a16:creationId xmlns:a16="http://schemas.microsoft.com/office/drawing/2014/main" id="{9762264D-61E1-5D00-E98B-44E5785A18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BB0DDEAF-2FC9-DD9C-4D2B-52F78160E0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F5D94-9F9C-DF48-BC1C-1A1DDC476D4B}" type="datetimeFigureOut">
              <a:rPr lang="tr-TR" smtClean="0"/>
              <a:t>3.05.2026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D230EFF5-ADB4-7418-AB48-AB229A5CD4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FB610274-958B-D7C0-A9B6-A8EE326338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5B393-21BF-2240-8199-3A8335B19374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9132542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aşlıklı Resi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0A83E5F4-AEAC-ABE8-B970-9C55FBA854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Resim Yer Tutucusu 2">
            <a:extLst>
              <a:ext uri="{FF2B5EF4-FFF2-40B4-BE49-F238E27FC236}">
                <a16:creationId xmlns:a16="http://schemas.microsoft.com/office/drawing/2014/main" id="{A23B1470-DF3A-5F71-2075-BD936E41F1C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tr-TR"/>
          </a:p>
        </p:txBody>
      </p:sp>
      <p:sp>
        <p:nvSpPr>
          <p:cNvPr id="4" name="Metin Yer Tutucusu 3">
            <a:extLst>
              <a:ext uri="{FF2B5EF4-FFF2-40B4-BE49-F238E27FC236}">
                <a16:creationId xmlns:a16="http://schemas.microsoft.com/office/drawing/2014/main" id="{CC51B652-01AF-77F0-D7DF-EB1883010D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CCB569E5-C427-D36E-7AC4-03D1DCD044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F5D94-9F9C-DF48-BC1C-1A1DDC476D4B}" type="datetimeFigureOut">
              <a:rPr lang="tr-TR" smtClean="0"/>
              <a:t>3.05.2026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820E582B-AAE1-FCFB-8E6D-B4CD48DA5A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B83B2003-2979-7E56-757C-F2BFB47EEE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5B393-21BF-2240-8199-3A8335B19374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8640838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Başlık ve Dikey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E212CF21-7F7D-0A9C-7B6C-CBCB24CE0B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Dikey Metin Yer Tutucusu 2">
            <a:extLst>
              <a:ext uri="{FF2B5EF4-FFF2-40B4-BE49-F238E27FC236}">
                <a16:creationId xmlns:a16="http://schemas.microsoft.com/office/drawing/2014/main" id="{0BA9B703-9B23-37B6-3BD4-4866A12895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BE7340DF-04BF-BF18-1B3F-6925C79DDA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F5D94-9F9C-DF48-BC1C-1A1DDC476D4B}" type="datetimeFigureOut">
              <a:rPr lang="tr-TR" smtClean="0"/>
              <a:t>3.05.2026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25779988-7071-E382-3E05-704D13889F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E009D9C1-CA76-0E32-C1A9-9F799233FE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5B393-21BF-2240-8199-3A8335B19374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5452887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Dikey Başlık ve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key Başlık 1">
            <a:extLst>
              <a:ext uri="{FF2B5EF4-FFF2-40B4-BE49-F238E27FC236}">
                <a16:creationId xmlns:a16="http://schemas.microsoft.com/office/drawing/2014/main" id="{2BDF4BA0-CCF6-8DC6-C3F2-DBE2D9FABC8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Dikey Metin Yer Tutucusu 2">
            <a:extLst>
              <a:ext uri="{FF2B5EF4-FFF2-40B4-BE49-F238E27FC236}">
                <a16:creationId xmlns:a16="http://schemas.microsoft.com/office/drawing/2014/main" id="{AAC172A6-9DA9-E8BF-6E31-EF9F70BDF6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0A664C77-1E81-FD93-F8D9-5868AFF5B8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F5D94-9F9C-DF48-BC1C-1A1DDC476D4B}" type="datetimeFigureOut">
              <a:rPr lang="tr-TR" smtClean="0"/>
              <a:t>3.05.2026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4F8C3791-3A2E-6B3B-23C0-82649FABE0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C72C615E-D35F-AF24-F70A-A9C6FB99CC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5B393-21BF-2240-8199-3A8335B19374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7573694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Yer Tutucusu 1">
            <a:extLst>
              <a:ext uri="{FF2B5EF4-FFF2-40B4-BE49-F238E27FC236}">
                <a16:creationId xmlns:a16="http://schemas.microsoft.com/office/drawing/2014/main" id="{90789D7F-49E3-DAE1-DA9C-C245CBCBC5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0412297F-5A4E-97C8-ABAA-3CEDDC70F1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29A8255C-5E34-C115-62ED-88A41ACA6A0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FF5D94-9F9C-DF48-BC1C-1A1DDC476D4B}" type="datetimeFigureOut">
              <a:rPr lang="tr-TR" smtClean="0"/>
              <a:t>3.05.2026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00CBE843-EB72-4D28-9329-F013C3F4C5C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DB2264BE-BB55-7E8B-A051-A95DB3F614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065B393-21BF-2240-8199-3A8335B19374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6657798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tr-T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Resim 6" descr="grafik, daire, grafik tasarım, ekran görüntüsü içeren bir resim&#10;&#10;Açıklama otomatik olarak oluşturuldu">
            <a:extLst>
              <a:ext uri="{FF2B5EF4-FFF2-40B4-BE49-F238E27FC236}">
                <a16:creationId xmlns:a16="http://schemas.microsoft.com/office/drawing/2014/main" id="{48B4DAD3-B83F-1A37-6973-05CCBD9346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741" y="810794"/>
            <a:ext cx="2396890" cy="642598"/>
          </a:xfrm>
          <a:prstGeom prst="rect">
            <a:avLst/>
          </a:prstGeom>
        </p:spPr>
      </p:pic>
      <p:sp>
        <p:nvSpPr>
          <p:cNvPr id="8" name="Metin kutusu 7">
            <a:extLst>
              <a:ext uri="{FF2B5EF4-FFF2-40B4-BE49-F238E27FC236}">
                <a16:creationId xmlns:a16="http://schemas.microsoft.com/office/drawing/2014/main" id="{015320E3-0176-22CE-1CDE-E908C6E1585E}"/>
              </a:ext>
            </a:extLst>
          </p:cNvPr>
          <p:cNvSpPr txBox="1">
            <a:spLocks/>
          </p:cNvSpPr>
          <p:nvPr/>
        </p:nvSpPr>
        <p:spPr>
          <a:xfrm>
            <a:off x="690566" y="1621559"/>
            <a:ext cx="10345109" cy="2102374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DYNAMIC ENTITIES IN .NET</a:t>
            </a: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rgbClr val="156082"/>
                </a:solidFill>
                <a:latin typeface="Poppins"/>
                <a:ea typeface="Poppins"/>
                <a:cs typeface="Poppins"/>
                <a:sym typeface="Poppins"/>
              </a:rPr>
              <a:t>Building Low-Code Systems on Top of Entity Framework Core</a:t>
            </a:r>
          </a:p>
        </p:txBody>
      </p:sp>
      <p:pic>
        <p:nvPicPr>
          <p:cNvPr id="4" name="Resim 3">
            <a:extLst>
              <a:ext uri="{FF2B5EF4-FFF2-40B4-BE49-F238E27FC236}">
                <a16:creationId xmlns:a16="http://schemas.microsoft.com/office/drawing/2014/main" id="{4447589D-5148-04AF-37BB-FE7C25B87EA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19721" y="3572172"/>
            <a:ext cx="1039470" cy="1039470"/>
          </a:xfrm>
          <a:prstGeom prst="rect">
            <a:avLst/>
          </a:prstGeom>
        </p:spPr>
      </p:pic>
      <p:sp>
        <p:nvSpPr>
          <p:cNvPr id="5" name="Google Shape;56;p1">
            <a:extLst>
              <a:ext uri="{FF2B5EF4-FFF2-40B4-BE49-F238E27FC236}">
                <a16:creationId xmlns:a16="http://schemas.microsoft.com/office/drawing/2014/main" id="{EC1F3BFE-4173-36BA-E273-4D216E4C760B}"/>
              </a:ext>
            </a:extLst>
          </p:cNvPr>
          <p:cNvSpPr txBox="1"/>
          <p:nvPr/>
        </p:nvSpPr>
        <p:spPr>
          <a:xfrm>
            <a:off x="1991241" y="3637715"/>
            <a:ext cx="6497100" cy="50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dirty="0">
                <a:solidFill>
                  <a:srgbClr val="292D33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Halil İbrahim Kalkan</a:t>
            </a:r>
          </a:p>
        </p:txBody>
      </p:sp>
      <p:sp>
        <p:nvSpPr>
          <p:cNvPr id="6" name="Google Shape;57;p1">
            <a:extLst>
              <a:ext uri="{FF2B5EF4-FFF2-40B4-BE49-F238E27FC236}">
                <a16:creationId xmlns:a16="http://schemas.microsoft.com/office/drawing/2014/main" id="{5B74307E-E9BB-1484-179C-F2D391547F94}"/>
              </a:ext>
            </a:extLst>
          </p:cNvPr>
          <p:cNvSpPr txBox="1"/>
          <p:nvPr/>
        </p:nvSpPr>
        <p:spPr>
          <a:xfrm>
            <a:off x="1991241" y="4157642"/>
            <a:ext cx="64971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2500"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rgbClr val="4E5258"/>
                </a:solidFill>
                <a:latin typeface="Poppins"/>
                <a:ea typeface="Poppins"/>
                <a:cs typeface="Poppins"/>
                <a:sym typeface="Poppins"/>
              </a:rPr>
              <a:t>Co-founder, </a:t>
            </a:r>
            <a:r>
              <a:rPr lang="tr-TR" sz="1600" dirty="0">
                <a:solidFill>
                  <a:srgbClr val="4E5258"/>
                </a:solidFill>
                <a:latin typeface="Poppins"/>
                <a:ea typeface="Poppins"/>
                <a:cs typeface="Poppins"/>
                <a:sym typeface="Poppins"/>
              </a:rPr>
              <a:t>V</a:t>
            </a:r>
            <a:r>
              <a:rPr lang="en-US" sz="1600" dirty="0" err="1">
                <a:solidFill>
                  <a:srgbClr val="4E5258"/>
                </a:solidFill>
                <a:latin typeface="Poppins"/>
                <a:ea typeface="Poppins"/>
                <a:cs typeface="Poppins"/>
                <a:sym typeface="Poppins"/>
              </a:rPr>
              <a:t>olosoft</a:t>
            </a:r>
            <a:endParaRPr lang="en-US" sz="1600" dirty="0">
              <a:solidFill>
                <a:srgbClr val="4E5258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9" name="Google Shape;59;p1">
            <a:extLst>
              <a:ext uri="{FF2B5EF4-FFF2-40B4-BE49-F238E27FC236}">
                <a16:creationId xmlns:a16="http://schemas.microsoft.com/office/drawing/2014/main" id="{846EB880-027A-B440-595A-7ACCA7B47A98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77596" y="5047385"/>
            <a:ext cx="318353" cy="318353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Google Shape;60;p1">
            <a:extLst>
              <a:ext uri="{FF2B5EF4-FFF2-40B4-BE49-F238E27FC236}">
                <a16:creationId xmlns:a16="http://schemas.microsoft.com/office/drawing/2014/main" id="{C2874D93-BCD8-4318-4BC4-E08A83EF49BC}"/>
              </a:ext>
            </a:extLst>
          </p:cNvPr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77596" y="5513412"/>
            <a:ext cx="318352" cy="318352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61;p1">
            <a:extLst>
              <a:ext uri="{FF2B5EF4-FFF2-40B4-BE49-F238E27FC236}">
                <a16:creationId xmlns:a16="http://schemas.microsoft.com/office/drawing/2014/main" id="{581AB1EE-B2BC-B41F-4751-8F68C7C3F015}"/>
              </a:ext>
            </a:extLst>
          </p:cNvPr>
          <p:cNvSpPr txBox="1"/>
          <p:nvPr/>
        </p:nvSpPr>
        <p:spPr>
          <a:xfrm>
            <a:off x="1184593" y="4990379"/>
            <a:ext cx="523793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500" dirty="0">
                <a:solidFill>
                  <a:srgbClr val="292D33"/>
                </a:solidFill>
                <a:latin typeface="Poppins"/>
                <a:ea typeface="Poppins"/>
                <a:cs typeface="Poppins"/>
                <a:sym typeface="Poppins"/>
              </a:rPr>
              <a:t>hibrahimkalkan</a:t>
            </a:r>
            <a:endParaRPr lang="en-US" sz="1500" dirty="0">
              <a:solidFill>
                <a:srgbClr val="292D33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" name="Google Shape;62;p1">
            <a:extLst>
              <a:ext uri="{FF2B5EF4-FFF2-40B4-BE49-F238E27FC236}">
                <a16:creationId xmlns:a16="http://schemas.microsoft.com/office/drawing/2014/main" id="{59F8CAA3-EA35-AA7C-4946-2DCFEC622153}"/>
              </a:ext>
            </a:extLst>
          </p:cNvPr>
          <p:cNvSpPr txBox="1"/>
          <p:nvPr/>
        </p:nvSpPr>
        <p:spPr>
          <a:xfrm>
            <a:off x="1184593" y="5448523"/>
            <a:ext cx="523793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500" dirty="0">
                <a:solidFill>
                  <a:srgbClr val="292D33"/>
                </a:solidFill>
                <a:latin typeface="Poppins"/>
                <a:ea typeface="Poppins"/>
                <a:cs typeface="Poppins"/>
                <a:sym typeface="Poppins"/>
              </a:rPr>
              <a:t>hikalkan</a:t>
            </a:r>
            <a:endParaRPr lang="en-US" sz="1500" dirty="0">
              <a:solidFill>
                <a:srgbClr val="292D33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4" name="Google Shape;57;p1">
            <a:extLst>
              <a:ext uri="{FF2B5EF4-FFF2-40B4-BE49-F238E27FC236}">
                <a16:creationId xmlns:a16="http://schemas.microsoft.com/office/drawing/2014/main" id="{BACCE9D7-3649-BE68-FD9B-9B24E52A5046}"/>
              </a:ext>
            </a:extLst>
          </p:cNvPr>
          <p:cNvSpPr txBox="1"/>
          <p:nvPr/>
        </p:nvSpPr>
        <p:spPr>
          <a:xfrm>
            <a:off x="8699242" y="2961090"/>
            <a:ext cx="29577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400" dirty="0">
                <a:solidFill>
                  <a:srgbClr val="292D32"/>
                </a:solidFill>
                <a:latin typeface="Poppins"/>
                <a:ea typeface="Poppins"/>
                <a:cs typeface="Poppins"/>
                <a:sym typeface="Poppins"/>
              </a:rPr>
              <a:t>Download the Presentation</a:t>
            </a:r>
            <a:endParaRPr lang="en-US" sz="1400" dirty="0">
              <a:solidFill>
                <a:srgbClr val="292D32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15" name="Google Shape;82;p3">
            <a:extLst>
              <a:ext uri="{FF2B5EF4-FFF2-40B4-BE49-F238E27FC236}">
                <a16:creationId xmlns:a16="http://schemas.microsoft.com/office/drawing/2014/main" id="{B25361F7-0FA7-054C-DCA8-FF866A07E270}"/>
              </a:ext>
            </a:extLst>
          </p:cNvPr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8699242" y="3361290"/>
            <a:ext cx="2957700" cy="2957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498EB1C-EAAC-5D57-ACE6-444706B1550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66528" y="3523785"/>
            <a:ext cx="2634906" cy="2634906"/>
          </a:xfrm>
          <a:prstGeom prst="roundRect">
            <a:avLst>
              <a:gd name="adj" fmla="val 9472"/>
            </a:avLst>
          </a:prstGeom>
        </p:spPr>
      </p:pic>
    </p:spTree>
    <p:extLst>
      <p:ext uri="{BB962C8B-B14F-4D97-AF65-F5344CB8AC3E}">
        <p14:creationId xmlns:p14="http://schemas.microsoft.com/office/powerpoint/2010/main" val="14589663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CE41AC7-7DE6-4F49-D2A4-87CF772C11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647AA5FA-1518-D7B5-A5F3-1CF27B22BCA6}"/>
              </a:ext>
            </a:extLst>
          </p:cNvPr>
          <p:cNvSpPr txBox="1">
            <a:spLocks/>
          </p:cNvSpPr>
          <p:nvPr/>
        </p:nvSpPr>
        <p:spPr>
          <a:xfrm>
            <a:off x="455849" y="407657"/>
            <a:ext cx="11239965" cy="70876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32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Agenda</a:t>
            </a:r>
            <a:endParaRPr lang="en-US" sz="3200" b="1" dirty="0">
              <a:solidFill>
                <a:srgbClr val="292D33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2" name="Metin kutusu 13">
            <a:extLst>
              <a:ext uri="{FF2B5EF4-FFF2-40B4-BE49-F238E27FC236}">
                <a16:creationId xmlns:a16="http://schemas.microsoft.com/office/drawing/2014/main" id="{016D13D2-7E02-DC27-57C6-30144026DF4F}"/>
              </a:ext>
            </a:extLst>
          </p:cNvPr>
          <p:cNvSpPr txBox="1"/>
          <p:nvPr/>
        </p:nvSpPr>
        <p:spPr>
          <a:xfrm>
            <a:off x="455846" y="2345635"/>
            <a:ext cx="11239964" cy="3651404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tr-TR" sz="2800" b="1" dirty="0">
                <a:latin typeface="Poppins" panose="00000500000000000000" pitchFamily="2" charset="-94"/>
                <a:cs typeface="Poppins" panose="00000500000000000000" pitchFamily="2" charset="-94"/>
              </a:rPr>
              <a:t>What </a:t>
            </a:r>
            <a:r>
              <a:rPr lang="tr-TR" sz="2800" dirty="0">
                <a:latin typeface="Poppins" panose="00000500000000000000" pitchFamily="2" charset="-94"/>
                <a:cs typeface="Poppins" panose="00000500000000000000" pitchFamily="2" charset="-94"/>
              </a:rPr>
              <a:t>is a Low Code System?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tr-TR" sz="2800" b="1" dirty="0">
                <a:latin typeface="Poppins" panose="00000500000000000000" pitchFamily="2" charset="-94"/>
                <a:cs typeface="Poppins" panose="00000500000000000000" pitchFamily="2" charset="-94"/>
              </a:rPr>
              <a:t>Designing </a:t>
            </a:r>
            <a:r>
              <a:rPr lang="tr-TR" sz="2800" dirty="0">
                <a:latin typeface="Poppins" panose="00000500000000000000" pitchFamily="2" charset="-94"/>
                <a:cs typeface="Poppins" panose="00000500000000000000" pitchFamily="2" charset="-94"/>
              </a:rPr>
              <a:t>a Low Code System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tr-TR" sz="2800" b="1" dirty="0">
                <a:latin typeface="Poppins" panose="00000500000000000000" pitchFamily="2" charset="-94"/>
                <a:cs typeface="Poppins" panose="00000500000000000000" pitchFamily="2" charset="-94"/>
              </a:rPr>
              <a:t>Implementing </a:t>
            </a:r>
            <a:r>
              <a:rPr lang="tr-TR" sz="2800" dirty="0">
                <a:latin typeface="Poppins" panose="00000500000000000000" pitchFamily="2" charset="-94"/>
                <a:cs typeface="Poppins" panose="00000500000000000000" pitchFamily="2" charset="-94"/>
              </a:rPr>
              <a:t>Data Layer with </a:t>
            </a:r>
            <a:r>
              <a:rPr lang="tr-TR" sz="2800" b="1" dirty="0">
                <a:latin typeface="Poppins" panose="00000500000000000000" pitchFamily="2" charset="-94"/>
                <a:cs typeface="Poppins" panose="00000500000000000000" pitchFamily="2" charset="-94"/>
              </a:rPr>
              <a:t>Entity Framework Core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tr-TR" sz="2800" dirty="0">
                <a:latin typeface="Poppins" panose="00000500000000000000" pitchFamily="2" charset="-94"/>
                <a:cs typeface="Poppins" panose="00000500000000000000" pitchFamily="2" charset="-94"/>
              </a:rPr>
              <a:t>Dealing with </a:t>
            </a:r>
            <a:r>
              <a:rPr lang="tr-TR" sz="2800" b="1" dirty="0">
                <a:latin typeface="Poppins" panose="00000500000000000000" pitchFamily="2" charset="-94"/>
                <a:cs typeface="Poppins" panose="00000500000000000000" pitchFamily="2" charset="-94"/>
              </a:rPr>
              <a:t>Runtime Model Changes</a:t>
            </a:r>
            <a:endParaRPr lang="en-US" sz="2800" b="1" dirty="0">
              <a:latin typeface="Poppins" panose="00000500000000000000" pitchFamily="2" charset="-94"/>
              <a:cs typeface="Poppins" panose="00000500000000000000" pitchFamily="2" charset="-94"/>
            </a:endParaRPr>
          </a:p>
          <a:p>
            <a:pPr>
              <a:spcBef>
                <a:spcPts val="500"/>
              </a:spcBef>
              <a:spcAft>
                <a:spcPts val="500"/>
              </a:spcAft>
              <a:buClr>
                <a:srgbClr val="196B24"/>
              </a:buClr>
            </a:pPr>
            <a:endParaRPr lang="en-US" sz="2400" dirty="0">
              <a:solidFill>
                <a:srgbClr val="5C6571"/>
              </a:solidFill>
              <a:latin typeface="Poppins" panose="00000500000000000000" pitchFamily="2" charset="-94"/>
              <a:ea typeface="Poppins"/>
              <a:cs typeface="Poppins" panose="00000500000000000000" pitchFamily="2" charset="-94"/>
              <a:sym typeface="Poppins"/>
            </a:endParaRPr>
          </a:p>
        </p:txBody>
      </p:sp>
    </p:spTree>
    <p:extLst>
      <p:ext uri="{BB962C8B-B14F-4D97-AF65-F5344CB8AC3E}">
        <p14:creationId xmlns:p14="http://schemas.microsoft.com/office/powerpoint/2010/main" val="1847737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956E0A0-4779-8D6A-2106-A813E11F1E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89DBE882-AD22-0542-42FB-BA361B188627}"/>
              </a:ext>
            </a:extLst>
          </p:cNvPr>
          <p:cNvSpPr txBox="1">
            <a:spLocks/>
          </p:cNvSpPr>
          <p:nvPr/>
        </p:nvSpPr>
        <p:spPr>
          <a:xfrm>
            <a:off x="455849" y="2655736"/>
            <a:ext cx="11239965" cy="1127645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normAutofit lnSpcReduction="1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40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Introduction to Low Code Systems</a:t>
            </a:r>
            <a:br>
              <a:rPr lang="tr-TR" sz="40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</a:br>
            <a:r>
              <a:rPr lang="tr-TR" sz="3200" i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How, Why and When to Use?</a:t>
            </a:r>
            <a:endParaRPr lang="en-US" sz="3200" i="1" dirty="0">
              <a:solidFill>
                <a:srgbClr val="292D33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</p:spTree>
    <p:extLst>
      <p:ext uri="{BB962C8B-B14F-4D97-AF65-F5344CB8AC3E}">
        <p14:creationId xmlns:p14="http://schemas.microsoft.com/office/powerpoint/2010/main" val="27951280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4AAF730-42BE-FEBE-27D1-9C01CB7994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531D28EA-67AF-7E12-F4A3-46B1146778DB}"/>
              </a:ext>
            </a:extLst>
          </p:cNvPr>
          <p:cNvSpPr txBox="1">
            <a:spLocks/>
          </p:cNvSpPr>
          <p:nvPr/>
        </p:nvSpPr>
        <p:spPr>
          <a:xfrm>
            <a:off x="455849" y="407657"/>
            <a:ext cx="11239965" cy="70876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How (What is it really?)</a:t>
            </a:r>
          </a:p>
        </p:txBody>
      </p:sp>
      <p:sp>
        <p:nvSpPr>
          <p:cNvPr id="2" name="Metin kutusu 13">
            <a:extLst>
              <a:ext uri="{FF2B5EF4-FFF2-40B4-BE49-F238E27FC236}">
                <a16:creationId xmlns:a16="http://schemas.microsoft.com/office/drawing/2014/main" id="{1E48F340-D754-2692-99F2-EE7139E56C3C}"/>
              </a:ext>
            </a:extLst>
          </p:cNvPr>
          <p:cNvSpPr txBox="1"/>
          <p:nvPr/>
        </p:nvSpPr>
        <p:spPr>
          <a:xfrm>
            <a:off x="455846" y="1250909"/>
            <a:ext cx="11239964" cy="474613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r>
              <a:rPr lang="en-US" sz="2800" dirty="0">
                <a:latin typeface="Poppins" panose="00000500000000000000" pitchFamily="2" charset="-94"/>
                <a:cs typeface="Poppins" panose="00000500000000000000" pitchFamily="2" charset="-94"/>
              </a:rPr>
              <a:t>Creating application </a:t>
            </a:r>
            <a:r>
              <a:rPr lang="en-US" sz="2800" b="1" dirty="0">
                <a:latin typeface="Poppins" panose="00000500000000000000" pitchFamily="2" charset="-94"/>
                <a:cs typeface="Poppins" panose="00000500000000000000" pitchFamily="2" charset="-94"/>
              </a:rPr>
              <a:t>behavior from a model at runtime</a:t>
            </a:r>
            <a:endParaRPr lang="tr-TR" sz="2800" b="1" dirty="0">
              <a:latin typeface="Poppins" panose="00000500000000000000" pitchFamily="2" charset="-94"/>
              <a:cs typeface="Poppins" panose="00000500000000000000" pitchFamily="2" charset="-94"/>
            </a:endParaRPr>
          </a:p>
          <a:p>
            <a:endParaRPr lang="en-US" sz="2800" dirty="0">
              <a:latin typeface="Poppins" panose="00000500000000000000" pitchFamily="2" charset="-94"/>
              <a:cs typeface="Poppins" panose="00000500000000000000" pitchFamily="2" charset="-94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dirty="0">
                <a:latin typeface="Poppins" panose="00000500000000000000" pitchFamily="2" charset="-94"/>
                <a:cs typeface="Poppins" panose="00000500000000000000" pitchFamily="2" charset="-94"/>
              </a:rPr>
              <a:t>Define entities, logic and UI </a:t>
            </a:r>
            <a:r>
              <a:rPr lang="en-US" sz="2800" b="1" dirty="0">
                <a:latin typeface="Poppins" panose="00000500000000000000" pitchFamily="2" charset="-94"/>
                <a:cs typeface="Poppins" panose="00000500000000000000" pitchFamily="2" charset="-94"/>
              </a:rPr>
              <a:t>as data (model)</a:t>
            </a:r>
            <a:r>
              <a:rPr lang="en-US" sz="2800" dirty="0">
                <a:latin typeface="Poppins" panose="00000500000000000000" pitchFamily="2" charset="-94"/>
                <a:cs typeface="Poppins" panose="00000500000000000000" pitchFamily="2" charset="-94"/>
              </a:rPr>
              <a:t> </a:t>
            </a:r>
            <a:endParaRPr lang="tr-TR" sz="2800" dirty="0">
              <a:latin typeface="Poppins" panose="00000500000000000000" pitchFamily="2" charset="-94"/>
              <a:cs typeface="Poppins" panose="00000500000000000000" pitchFamily="2" charset="-94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dirty="0">
                <a:latin typeface="Poppins" panose="00000500000000000000" pitchFamily="2" charset="-94"/>
                <a:cs typeface="Poppins" panose="00000500000000000000" pitchFamily="2" charset="-94"/>
              </a:rPr>
              <a:t>Runtime interprets the model and executes it </a:t>
            </a:r>
            <a:endParaRPr lang="tr-TR" sz="2800" dirty="0">
              <a:latin typeface="Poppins" panose="00000500000000000000" pitchFamily="2" charset="-94"/>
              <a:cs typeface="Poppins" panose="00000500000000000000" pitchFamily="2" charset="-94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dirty="0">
                <a:latin typeface="Poppins" panose="00000500000000000000" pitchFamily="2" charset="-94"/>
                <a:cs typeface="Poppins" panose="00000500000000000000" pitchFamily="2" charset="-94"/>
              </a:rPr>
              <a:t>No compilation / no redeploy</a:t>
            </a:r>
          </a:p>
          <a:p>
            <a:pPr>
              <a:spcBef>
                <a:spcPts val="500"/>
              </a:spcBef>
              <a:spcAft>
                <a:spcPts val="500"/>
              </a:spcAft>
              <a:buClr>
                <a:srgbClr val="196B24"/>
              </a:buClr>
            </a:pPr>
            <a:endParaRPr lang="en-US" sz="2400" dirty="0">
              <a:solidFill>
                <a:srgbClr val="5C6571"/>
              </a:solidFill>
              <a:latin typeface="Poppins" panose="00000500000000000000" pitchFamily="2" charset="-94"/>
              <a:ea typeface="Poppins"/>
              <a:cs typeface="Poppins" panose="00000500000000000000" pitchFamily="2" charset="-94"/>
              <a:sym typeface="Poppins"/>
            </a:endParaRPr>
          </a:p>
        </p:txBody>
      </p:sp>
    </p:spTree>
    <p:extLst>
      <p:ext uri="{BB962C8B-B14F-4D97-AF65-F5344CB8AC3E}">
        <p14:creationId xmlns:p14="http://schemas.microsoft.com/office/powerpoint/2010/main" val="1311527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7A9604A-785D-9A6B-1BD5-EA5B9AA6F0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4F18A122-A645-0CD7-DA98-27F90A1EFE89}"/>
              </a:ext>
            </a:extLst>
          </p:cNvPr>
          <p:cNvSpPr txBox="1">
            <a:spLocks/>
          </p:cNvSpPr>
          <p:nvPr/>
        </p:nvSpPr>
        <p:spPr>
          <a:xfrm>
            <a:off x="455849" y="407657"/>
            <a:ext cx="11239965" cy="70876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Why (Why does it exist?)</a:t>
            </a:r>
          </a:p>
        </p:txBody>
      </p:sp>
      <p:sp>
        <p:nvSpPr>
          <p:cNvPr id="2" name="Metin kutusu 13">
            <a:extLst>
              <a:ext uri="{FF2B5EF4-FFF2-40B4-BE49-F238E27FC236}">
                <a16:creationId xmlns:a16="http://schemas.microsoft.com/office/drawing/2014/main" id="{ACEB4ECB-BC0E-D5D2-5141-E98C00EC1FF1}"/>
              </a:ext>
            </a:extLst>
          </p:cNvPr>
          <p:cNvSpPr txBox="1"/>
          <p:nvPr/>
        </p:nvSpPr>
        <p:spPr>
          <a:xfrm>
            <a:off x="455846" y="1250909"/>
            <a:ext cx="11239964" cy="474613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342900" indent="-342900">
              <a:spcBef>
                <a:spcPts val="500"/>
              </a:spcBef>
              <a:spcAft>
                <a:spcPts val="500"/>
              </a:spcAft>
              <a:buClr>
                <a:srgbClr val="196B24"/>
              </a:buClr>
              <a:buFont typeface="Arial" panose="020B0604020202020204" pitchFamily="34" charset="0"/>
              <a:buChar char="•"/>
            </a:pPr>
            <a:r>
              <a:rPr lang="en-US" sz="2800" b="1" dirty="0"/>
              <a:t>Faster</a:t>
            </a:r>
            <a:r>
              <a:rPr lang="en-US" sz="2800" dirty="0"/>
              <a:t> delivery</a:t>
            </a:r>
            <a:endParaRPr lang="tr-TR" sz="2800" dirty="0"/>
          </a:p>
          <a:p>
            <a:pPr marL="342900" indent="-342900">
              <a:spcBef>
                <a:spcPts val="500"/>
              </a:spcBef>
              <a:spcAft>
                <a:spcPts val="500"/>
              </a:spcAft>
              <a:buClr>
                <a:srgbClr val="196B24"/>
              </a:buClr>
              <a:buFont typeface="Arial" panose="020B0604020202020204" pitchFamily="34" charset="0"/>
              <a:buChar char="•"/>
            </a:pPr>
            <a:r>
              <a:rPr lang="en-US" sz="2800" dirty="0"/>
              <a:t>Reduce </a:t>
            </a:r>
            <a:r>
              <a:rPr lang="en-US" sz="2800" b="1" dirty="0"/>
              <a:t>developer dependency</a:t>
            </a:r>
            <a:endParaRPr lang="tr-TR" sz="2800" b="1" dirty="0"/>
          </a:p>
          <a:p>
            <a:pPr marL="342900" indent="-342900">
              <a:spcBef>
                <a:spcPts val="500"/>
              </a:spcBef>
              <a:spcAft>
                <a:spcPts val="500"/>
              </a:spcAft>
              <a:buClr>
                <a:srgbClr val="196B24"/>
              </a:buClr>
              <a:buFont typeface="Arial" panose="020B0604020202020204" pitchFamily="34" charset="0"/>
              <a:buChar char="•"/>
            </a:pPr>
            <a:r>
              <a:rPr lang="en-US" sz="2800" dirty="0"/>
              <a:t>Runtime </a:t>
            </a:r>
            <a:r>
              <a:rPr lang="en-US" sz="2800" b="1" dirty="0"/>
              <a:t>flexibility</a:t>
            </a:r>
            <a:r>
              <a:rPr lang="en-US" sz="2800" dirty="0"/>
              <a:t> (change without deploy)</a:t>
            </a:r>
            <a:endParaRPr lang="tr-TR" sz="2800" dirty="0"/>
          </a:p>
          <a:p>
            <a:pPr marL="342900" indent="-342900">
              <a:spcBef>
                <a:spcPts val="500"/>
              </a:spcBef>
              <a:spcAft>
                <a:spcPts val="500"/>
              </a:spcAft>
              <a:buClr>
                <a:srgbClr val="196B24"/>
              </a:buClr>
              <a:buFont typeface="Arial" panose="020B0604020202020204" pitchFamily="34" charset="0"/>
              <a:buChar char="•"/>
            </a:pPr>
            <a:r>
              <a:rPr lang="en-US" sz="2800" dirty="0"/>
              <a:t>Empower </a:t>
            </a:r>
            <a:r>
              <a:rPr lang="en-US" sz="2800" b="1" dirty="0"/>
              <a:t>domain experts </a:t>
            </a:r>
            <a:r>
              <a:rPr lang="en-US" sz="2800" dirty="0"/>
              <a:t>(not just developers)</a:t>
            </a:r>
            <a:endParaRPr lang="en-US" sz="2400" dirty="0">
              <a:solidFill>
                <a:srgbClr val="5C657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  <p:extLst>
      <p:ext uri="{BB962C8B-B14F-4D97-AF65-F5344CB8AC3E}">
        <p14:creationId xmlns:p14="http://schemas.microsoft.com/office/powerpoint/2010/main" val="27711643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71E760-A331-EA45-57AE-A9031BECC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E74D18AA-4D1F-1AE3-0080-974E699C7B25}"/>
              </a:ext>
            </a:extLst>
          </p:cNvPr>
          <p:cNvSpPr txBox="1">
            <a:spLocks/>
          </p:cNvSpPr>
          <p:nvPr/>
        </p:nvSpPr>
        <p:spPr>
          <a:xfrm>
            <a:off x="455849" y="407657"/>
            <a:ext cx="11239965" cy="70876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When (When should you use it?)</a:t>
            </a:r>
          </a:p>
        </p:txBody>
      </p:sp>
      <p:sp>
        <p:nvSpPr>
          <p:cNvPr id="2" name="Metin kutusu 13">
            <a:extLst>
              <a:ext uri="{FF2B5EF4-FFF2-40B4-BE49-F238E27FC236}">
                <a16:creationId xmlns:a16="http://schemas.microsoft.com/office/drawing/2014/main" id="{D0611528-304F-2F5E-8C14-7BE158A8B96A}"/>
              </a:ext>
            </a:extLst>
          </p:cNvPr>
          <p:cNvSpPr txBox="1"/>
          <p:nvPr/>
        </p:nvSpPr>
        <p:spPr>
          <a:xfrm>
            <a:off x="455846" y="1250909"/>
            <a:ext cx="11239964" cy="474613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342900" indent="-342900">
              <a:spcBef>
                <a:spcPts val="500"/>
              </a:spcBef>
              <a:spcAft>
                <a:spcPts val="500"/>
              </a:spcAft>
              <a:buClr>
                <a:srgbClr val="196B24"/>
              </a:buClr>
              <a:buFont typeface="Arial" panose="020B0604020202020204" pitchFamily="34" charset="0"/>
              <a:buChar char="•"/>
            </a:pPr>
            <a:r>
              <a:rPr lang="en-US" sz="2800" b="1" dirty="0"/>
              <a:t>Data-driven</a:t>
            </a:r>
            <a:r>
              <a:rPr lang="en-US" sz="2800" dirty="0"/>
              <a:t> applications</a:t>
            </a:r>
            <a:endParaRPr lang="tr-TR" sz="2800" dirty="0"/>
          </a:p>
          <a:p>
            <a:pPr marL="342900" indent="-342900">
              <a:spcBef>
                <a:spcPts val="500"/>
              </a:spcBef>
              <a:spcAft>
                <a:spcPts val="500"/>
              </a:spcAft>
              <a:buClr>
                <a:srgbClr val="196B24"/>
              </a:buClr>
              <a:buFont typeface="Arial" panose="020B0604020202020204" pitchFamily="34" charset="0"/>
              <a:buChar char="•"/>
            </a:pPr>
            <a:r>
              <a:rPr lang="en-US" sz="2800" b="1" dirty="0"/>
              <a:t>Internal</a:t>
            </a:r>
            <a:r>
              <a:rPr lang="en-US" sz="2800" dirty="0"/>
              <a:t> / business tools</a:t>
            </a:r>
            <a:endParaRPr lang="tr-TR" sz="2800" dirty="0"/>
          </a:p>
          <a:p>
            <a:pPr marL="342900" indent="-342900">
              <a:spcBef>
                <a:spcPts val="500"/>
              </a:spcBef>
              <a:spcAft>
                <a:spcPts val="500"/>
              </a:spcAft>
              <a:buClr>
                <a:srgbClr val="196B24"/>
              </a:buClr>
              <a:buFont typeface="Arial" panose="020B0604020202020204" pitchFamily="34" charset="0"/>
              <a:buChar char="•"/>
            </a:pPr>
            <a:r>
              <a:rPr lang="en-US" sz="2800" dirty="0"/>
              <a:t>Rapidly </a:t>
            </a:r>
            <a:r>
              <a:rPr lang="en-US" sz="2800" b="1" dirty="0"/>
              <a:t>evolving</a:t>
            </a:r>
            <a:r>
              <a:rPr lang="en-US" sz="2800" dirty="0"/>
              <a:t> requirements</a:t>
            </a:r>
            <a:endParaRPr lang="tr-TR" sz="2800" dirty="0"/>
          </a:p>
          <a:p>
            <a:pPr marL="342900" indent="-342900">
              <a:spcBef>
                <a:spcPts val="500"/>
              </a:spcBef>
              <a:spcAft>
                <a:spcPts val="500"/>
              </a:spcAft>
              <a:buClr>
                <a:srgbClr val="196B24"/>
              </a:buClr>
              <a:buFont typeface="Arial" panose="020B0604020202020204" pitchFamily="34" charset="0"/>
              <a:buChar char="•"/>
            </a:pPr>
            <a:r>
              <a:rPr lang="en-US" sz="2800" b="1" dirty="0"/>
              <a:t>NOT for highly complex domain logic / performance-critical systems</a:t>
            </a:r>
            <a:endParaRPr lang="en-US" sz="2400" dirty="0">
              <a:solidFill>
                <a:srgbClr val="5C657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  <p:extLst>
      <p:ext uri="{BB962C8B-B14F-4D97-AF65-F5344CB8AC3E}">
        <p14:creationId xmlns:p14="http://schemas.microsoft.com/office/powerpoint/2010/main" val="14886559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E23D3B4-5795-10C4-09F1-558F70AD92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5190C413-9DB9-BCCC-7327-9FC6CC4DD5F7}"/>
              </a:ext>
            </a:extLst>
          </p:cNvPr>
          <p:cNvSpPr txBox="1">
            <a:spLocks/>
          </p:cNvSpPr>
          <p:nvPr/>
        </p:nvSpPr>
        <p:spPr>
          <a:xfrm>
            <a:off x="455849" y="2655736"/>
            <a:ext cx="11239965" cy="1127645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normAutofit lnSpcReduction="1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40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Designing Low Code Systems</a:t>
            </a:r>
            <a:br>
              <a:rPr lang="tr-TR" sz="40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</a:br>
            <a:r>
              <a:rPr lang="tr-TR" sz="3200" i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Data Models &amp; Approaches</a:t>
            </a:r>
            <a:endParaRPr lang="en-US" sz="3200" i="1" dirty="0">
              <a:solidFill>
                <a:srgbClr val="292D33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</p:spTree>
    <p:extLst>
      <p:ext uri="{BB962C8B-B14F-4D97-AF65-F5344CB8AC3E}">
        <p14:creationId xmlns:p14="http://schemas.microsoft.com/office/powerpoint/2010/main" val="23563115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3AE5056-AD39-8BF8-99FF-2B5A0C0D74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49CB83DD-EC1E-3CEE-2613-014547D923CE}"/>
              </a:ext>
            </a:extLst>
          </p:cNvPr>
          <p:cNvSpPr txBox="1">
            <a:spLocks/>
          </p:cNvSpPr>
          <p:nvPr/>
        </p:nvSpPr>
        <p:spPr>
          <a:xfrm>
            <a:off x="455849" y="407657"/>
            <a:ext cx="11239965" cy="70876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32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The Big Picture</a:t>
            </a:r>
            <a:endParaRPr lang="en-US" sz="3200" b="1" dirty="0">
              <a:solidFill>
                <a:srgbClr val="292D33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FBF716B-38FD-FEA5-690E-028C73B8B1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852" y="1033440"/>
            <a:ext cx="9266548" cy="56023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83931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1A9BCDA-B01E-2A54-031A-189C1A7927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F4B17D5B-7606-3A65-BDAD-3E2EFA7B93EC}"/>
              </a:ext>
            </a:extLst>
          </p:cNvPr>
          <p:cNvSpPr txBox="1">
            <a:spLocks/>
          </p:cNvSpPr>
          <p:nvPr/>
        </p:nvSpPr>
        <p:spPr>
          <a:xfrm>
            <a:off x="455849" y="407657"/>
            <a:ext cx="11239965" cy="70876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32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Model vs Data: Where Do We Store?</a:t>
            </a:r>
            <a:endParaRPr lang="en-US" sz="3200" b="1" dirty="0">
              <a:solidFill>
                <a:srgbClr val="292D33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6158206-19D1-8650-2506-EC2E6C9115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509" y="1116420"/>
            <a:ext cx="11057642" cy="4868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85065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549FB36-2305-DB04-06F7-F5909983FD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FF883362-61C3-E1D0-F8D2-D7EB77131531}"/>
              </a:ext>
            </a:extLst>
          </p:cNvPr>
          <p:cNvSpPr txBox="1">
            <a:spLocks/>
          </p:cNvSpPr>
          <p:nvPr/>
        </p:nvSpPr>
        <p:spPr>
          <a:xfrm>
            <a:off x="455849" y="407657"/>
            <a:ext cx="11239965" cy="70876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32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JSON-Based Dynamic Model</a:t>
            </a:r>
            <a:endParaRPr lang="en-US" sz="3200" b="1" dirty="0">
              <a:solidFill>
                <a:srgbClr val="292D33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284DC02-86AB-F9ED-E435-D1DAFBBA1C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157" y="945037"/>
            <a:ext cx="5936338" cy="5617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28384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8CE7D7-96E2-A09D-4A99-0150E01F79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4A1A45BB-3381-EDBB-FD44-423C519E1330}"/>
              </a:ext>
            </a:extLst>
          </p:cNvPr>
          <p:cNvSpPr txBox="1">
            <a:spLocks/>
          </p:cNvSpPr>
          <p:nvPr/>
        </p:nvSpPr>
        <p:spPr>
          <a:xfrm>
            <a:off x="455849" y="407657"/>
            <a:ext cx="11239965" cy="70876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32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The Database Layer</a:t>
            </a:r>
            <a:endParaRPr lang="en-US" sz="3200" b="1" dirty="0">
              <a:solidFill>
                <a:srgbClr val="292D33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314DBF1-7886-31B9-BADA-414FF7A589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4966" y="1116420"/>
            <a:ext cx="8062067" cy="48695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3555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53B1502-1599-892C-32C3-460F60FE6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F20C6F03-0A30-4EE8-4E2D-88CCC77BE971}"/>
              </a:ext>
            </a:extLst>
          </p:cNvPr>
          <p:cNvSpPr txBox="1">
            <a:spLocks/>
          </p:cNvSpPr>
          <p:nvPr/>
        </p:nvSpPr>
        <p:spPr>
          <a:xfrm>
            <a:off x="455849" y="407657"/>
            <a:ext cx="11239965" cy="70876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32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DB Schema: EAV (Entities-Attributes-Values)</a:t>
            </a:r>
            <a:endParaRPr lang="en-US" sz="3200" b="1" dirty="0">
              <a:solidFill>
                <a:srgbClr val="292D33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6214F1C-AAA2-CDC4-509E-67C92286DF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4639" y="1116420"/>
            <a:ext cx="8342722" cy="334398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5F44FFC-65F9-483A-DAAA-9CCB76C88C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3489" y="4560293"/>
            <a:ext cx="9785022" cy="1370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55317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BB8639F-378E-9191-FD53-E57E1FF1F5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5809FB1A-3BB9-C089-3E02-202B55BEBC7B}"/>
              </a:ext>
            </a:extLst>
          </p:cNvPr>
          <p:cNvSpPr txBox="1">
            <a:spLocks/>
          </p:cNvSpPr>
          <p:nvPr/>
        </p:nvSpPr>
        <p:spPr>
          <a:xfrm>
            <a:off x="455849" y="407657"/>
            <a:ext cx="11239965" cy="70876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lvl="0"/>
            <a:r>
              <a:rPr lang="tr-TR" sz="32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DB Schema: Hybrid Approach</a:t>
            </a:r>
            <a:endParaRPr lang="en-US" sz="3200" b="1" dirty="0">
              <a:solidFill>
                <a:srgbClr val="292D33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2" name="Metin kutusu 13">
            <a:extLst>
              <a:ext uri="{FF2B5EF4-FFF2-40B4-BE49-F238E27FC236}">
                <a16:creationId xmlns:a16="http://schemas.microsoft.com/office/drawing/2014/main" id="{1B077790-6B58-B654-FBF1-4B36AF6EA8D0}"/>
              </a:ext>
            </a:extLst>
          </p:cNvPr>
          <p:cNvSpPr txBox="1"/>
          <p:nvPr/>
        </p:nvSpPr>
        <p:spPr>
          <a:xfrm>
            <a:off x="455846" y="1250909"/>
            <a:ext cx="11239964" cy="4746130"/>
          </a:xfrm>
          <a:prstGeom prst="rect">
            <a:avLst/>
          </a:prstGeom>
          <a:noFill/>
        </p:spPr>
        <p:txBody>
          <a:bodyPr wrap="square" rtlCol="0">
            <a:normAutofit lnSpcReduction="10000"/>
          </a:bodyPr>
          <a:lstStyle/>
          <a:p>
            <a:pPr marL="342900" indent="-342900">
              <a:spcBef>
                <a:spcPts val="500"/>
              </a:spcBef>
              <a:spcAft>
                <a:spcPts val="500"/>
              </a:spcAft>
              <a:buClr>
                <a:srgbClr val="196B24"/>
              </a:buClr>
              <a:buFont typeface="Arial" panose="020B0604020202020204" pitchFamily="34" charset="0"/>
              <a:buChar char="•"/>
            </a:pPr>
            <a:r>
              <a:rPr lang="tr-TR" sz="2200" b="1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Table per Entity</a:t>
            </a:r>
          </a:p>
          <a:p>
            <a:pPr marL="342900" indent="-342900">
              <a:spcBef>
                <a:spcPts val="500"/>
              </a:spcBef>
              <a:spcAft>
                <a:spcPts val="500"/>
              </a:spcAft>
              <a:buClr>
                <a:srgbClr val="196B24"/>
              </a:buClr>
              <a:buFont typeface="Arial" panose="020B0604020202020204" pitchFamily="34" charset="0"/>
              <a:buChar char="•"/>
            </a:pPr>
            <a:r>
              <a:rPr lang="tr-TR" sz="2200" b="1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Standard Fields </a:t>
            </a:r>
            <a:r>
              <a:rPr lang="tr-TR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for all tables: Id, CreationTime, IsDeleted, ConcurrencyStamp... etc.</a:t>
            </a:r>
          </a:p>
          <a:p>
            <a:pPr marL="342900" indent="-342900">
              <a:spcBef>
                <a:spcPts val="500"/>
              </a:spcBef>
              <a:spcAft>
                <a:spcPts val="500"/>
              </a:spcAft>
              <a:buClr>
                <a:srgbClr val="196B24"/>
              </a:buClr>
              <a:buFont typeface="Arial" panose="020B0604020202020204" pitchFamily="34" charset="0"/>
              <a:buChar char="•"/>
            </a:pPr>
            <a:r>
              <a:rPr lang="tr-TR" sz="2200" b="1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DB Field Mapping </a:t>
            </a:r>
            <a:r>
              <a:rPr lang="tr-TR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for requested properties</a:t>
            </a:r>
          </a:p>
          <a:p>
            <a:pPr marL="342900" indent="-342900">
              <a:spcBef>
                <a:spcPts val="500"/>
              </a:spcBef>
              <a:spcAft>
                <a:spcPts val="500"/>
              </a:spcAft>
              <a:buClr>
                <a:srgbClr val="196B24"/>
              </a:buClr>
              <a:buFont typeface="Arial" panose="020B0604020202020204" pitchFamily="34" charset="0"/>
              <a:buChar char="•"/>
            </a:pPr>
            <a:r>
              <a:rPr lang="tr-TR" sz="2200" b="1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JSON-Data </a:t>
            </a:r>
            <a:r>
              <a:rPr lang="tr-TR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for rest of the properties</a:t>
            </a:r>
          </a:p>
          <a:p>
            <a:pPr marL="342900" indent="-342900">
              <a:spcBef>
                <a:spcPts val="500"/>
              </a:spcBef>
              <a:spcAft>
                <a:spcPts val="500"/>
              </a:spcAft>
              <a:buClr>
                <a:srgbClr val="196B24"/>
              </a:buClr>
              <a:buFont typeface="Arial" panose="020B0604020202020204" pitchFamily="34" charset="0"/>
              <a:buChar char="•"/>
            </a:pPr>
            <a:endParaRPr lang="tr-TR" sz="2200" dirty="0">
              <a:solidFill>
                <a:srgbClr val="5C657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>
              <a:spcBef>
                <a:spcPts val="500"/>
              </a:spcBef>
              <a:spcAft>
                <a:spcPts val="500"/>
              </a:spcAft>
              <a:buClr>
                <a:srgbClr val="196B24"/>
              </a:buClr>
            </a:pPr>
            <a:r>
              <a:rPr lang="tr-TR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All Dynamic Properties Are;</a:t>
            </a:r>
          </a:p>
          <a:p>
            <a:pPr marL="342900" indent="-342900">
              <a:spcBef>
                <a:spcPts val="500"/>
              </a:spcBef>
              <a:spcAft>
                <a:spcPts val="500"/>
              </a:spcAft>
              <a:buClr>
                <a:srgbClr val="196B24"/>
              </a:buClr>
              <a:buFont typeface="Arial" panose="020B0604020202020204" pitchFamily="34" charset="0"/>
              <a:buChar char="•"/>
            </a:pPr>
            <a:r>
              <a:rPr lang="tr-TR" sz="2200" b="1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Filterable</a:t>
            </a:r>
          </a:p>
          <a:p>
            <a:pPr marL="342900" indent="-342900">
              <a:spcBef>
                <a:spcPts val="500"/>
              </a:spcBef>
              <a:spcAft>
                <a:spcPts val="500"/>
              </a:spcAft>
              <a:buClr>
                <a:srgbClr val="196B24"/>
              </a:buClr>
              <a:buFont typeface="Arial" panose="020B0604020202020204" pitchFamily="34" charset="0"/>
              <a:buChar char="•"/>
            </a:pPr>
            <a:r>
              <a:rPr lang="tr-TR" sz="2200" b="1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Orderable</a:t>
            </a:r>
          </a:p>
          <a:p>
            <a:pPr marL="342900" indent="-342900">
              <a:spcBef>
                <a:spcPts val="500"/>
              </a:spcBef>
              <a:spcAft>
                <a:spcPts val="500"/>
              </a:spcAft>
              <a:buClr>
                <a:srgbClr val="196B24"/>
              </a:buClr>
              <a:buFont typeface="Arial" panose="020B0604020202020204" pitchFamily="34" charset="0"/>
              <a:buChar char="•"/>
            </a:pPr>
            <a:r>
              <a:rPr lang="tr-TR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Possible to perform any kind of DB-level </a:t>
            </a:r>
            <a:r>
              <a:rPr lang="tr-TR" sz="2200" b="1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JOIN</a:t>
            </a:r>
          </a:p>
          <a:p>
            <a:pPr marL="342900" indent="-342900">
              <a:spcBef>
                <a:spcPts val="500"/>
              </a:spcBef>
              <a:spcAft>
                <a:spcPts val="500"/>
              </a:spcAft>
              <a:buClr>
                <a:srgbClr val="196B24"/>
              </a:buClr>
              <a:buFont typeface="Arial" panose="020B0604020202020204" pitchFamily="34" charset="0"/>
              <a:buChar char="•"/>
            </a:pPr>
            <a:r>
              <a:rPr lang="tr-TR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DB-Level </a:t>
            </a:r>
            <a:r>
              <a:rPr lang="tr-TR" sz="2200" b="1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Indexable</a:t>
            </a:r>
            <a:endParaRPr lang="tr-TR" sz="2200" dirty="0">
              <a:solidFill>
                <a:srgbClr val="5C657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  <p:extLst>
      <p:ext uri="{BB962C8B-B14F-4D97-AF65-F5344CB8AC3E}">
        <p14:creationId xmlns:p14="http://schemas.microsoft.com/office/powerpoint/2010/main" val="986078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1AD6FCF-F606-FD0F-862E-8D4A0C6F8B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0D9F1BE8-5FC4-1A96-B502-8FF06D268461}"/>
              </a:ext>
            </a:extLst>
          </p:cNvPr>
          <p:cNvSpPr txBox="1">
            <a:spLocks/>
          </p:cNvSpPr>
          <p:nvPr/>
        </p:nvSpPr>
        <p:spPr>
          <a:xfrm>
            <a:off x="455849" y="407657"/>
            <a:ext cx="11239965" cy="70876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lvl="0"/>
            <a:r>
              <a:rPr lang="tr-TR" sz="32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DB Schema: Example Hybrid Mapping</a:t>
            </a:r>
            <a:endParaRPr lang="en-US" sz="3200" b="1" dirty="0">
              <a:solidFill>
                <a:srgbClr val="292D33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223AAAF-B8BC-063B-9B6C-AA3CA97A46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849" y="1027021"/>
            <a:ext cx="3336338" cy="535904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23CC87C4-6045-9E02-5C6E-74BE5C28C6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8289" y="1228975"/>
            <a:ext cx="6867525" cy="1133475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8324E575-D3EB-414F-75FA-C669B9D87315}"/>
              </a:ext>
            </a:extLst>
          </p:cNvPr>
          <p:cNvSpPr txBox="1"/>
          <p:nvPr/>
        </p:nvSpPr>
        <p:spPr>
          <a:xfrm>
            <a:off x="4920792" y="2799761"/>
            <a:ext cx="659962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b="1" dirty="0"/>
              <a:t>Standard Fields</a:t>
            </a:r>
            <a:r>
              <a:rPr lang="tr-TR" dirty="0"/>
              <a:t>: Id, CreatorId, CreationTime, IsDeleted... etc.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b="1" dirty="0"/>
              <a:t>DB-Mapped Fields</a:t>
            </a:r>
            <a:r>
              <a:rPr lang="tr-TR" dirty="0"/>
              <a:t>: Name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b="1" dirty="0"/>
              <a:t>JSON Data Fields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81D00B1B-A258-E43B-C674-924D7B77DDB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70030" y="3674383"/>
            <a:ext cx="6599628" cy="2268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7157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69A0F3B-46AE-854F-3FCD-70A4B38E4D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29D8B019-636D-5B57-BFEF-AE32F73C9F9B}"/>
              </a:ext>
            </a:extLst>
          </p:cNvPr>
          <p:cNvSpPr txBox="1">
            <a:spLocks/>
          </p:cNvSpPr>
          <p:nvPr/>
        </p:nvSpPr>
        <p:spPr>
          <a:xfrm>
            <a:off x="455849" y="2655736"/>
            <a:ext cx="11239965" cy="1127645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normAutofit fontScale="92500" lnSpcReduction="1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43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Entity Framework Core</a:t>
            </a:r>
            <a:br>
              <a:rPr lang="tr-TR" sz="43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</a:br>
            <a:r>
              <a:rPr lang="tr-TR" sz="3500" i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Dynamic Model Configuration</a:t>
            </a:r>
            <a:endParaRPr lang="en-US" sz="3200" i="1" dirty="0">
              <a:solidFill>
                <a:srgbClr val="292D33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</p:spTree>
    <p:extLst>
      <p:ext uri="{BB962C8B-B14F-4D97-AF65-F5344CB8AC3E}">
        <p14:creationId xmlns:p14="http://schemas.microsoft.com/office/powerpoint/2010/main" val="34978944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FEB56F-6A6E-CDE3-46C9-D37CD01B2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FDF85AA1-8AD9-A927-B6CF-0807D4762A5F}"/>
              </a:ext>
            </a:extLst>
          </p:cNvPr>
          <p:cNvSpPr txBox="1">
            <a:spLocks/>
          </p:cNvSpPr>
          <p:nvPr/>
        </p:nvSpPr>
        <p:spPr>
          <a:xfrm>
            <a:off x="455849" y="407657"/>
            <a:ext cx="11239965" cy="70876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32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EF Core: Shared Type Entities</a:t>
            </a:r>
            <a:endParaRPr lang="en-US" sz="3200" b="1" dirty="0">
              <a:solidFill>
                <a:srgbClr val="292D33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14" name="Metin kutusu 13">
            <a:extLst>
              <a:ext uri="{FF2B5EF4-FFF2-40B4-BE49-F238E27FC236}">
                <a16:creationId xmlns:a16="http://schemas.microsoft.com/office/drawing/2014/main" id="{9E68AE78-0DC6-55E3-D23B-0DDA53B29FF4}"/>
              </a:ext>
            </a:extLst>
          </p:cNvPr>
          <p:cNvSpPr txBox="1"/>
          <p:nvPr/>
        </p:nvSpPr>
        <p:spPr>
          <a:xfrm>
            <a:off x="5784575" y="1651000"/>
            <a:ext cx="5842000" cy="4572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indent="0">
              <a:spcBef>
                <a:spcPts val="0"/>
              </a:spcBef>
              <a:spcAft>
                <a:spcPts val="900"/>
              </a:spcAft>
              <a:buNone/>
            </a:pPr>
            <a:r>
              <a:rPr lang="en-US" sz="1800" i="1" dirty="0">
                <a:solidFill>
                  <a:srgbClr val="156082"/>
                </a:solidFill>
                <a:latin typeface="Poppins"/>
                <a:ea typeface="Poppins"/>
                <a:cs typeface="Poppins"/>
                <a:sym typeface="Poppins"/>
              </a:rPr>
              <a:t>EF Core feature: </a:t>
            </a:r>
            <a:r>
              <a:rPr lang="en-US" sz="1800" b="1" i="1" dirty="0" err="1">
                <a:solidFill>
                  <a:srgbClr val="156082"/>
                </a:solidFill>
                <a:latin typeface="Poppins"/>
                <a:ea typeface="Poppins"/>
                <a:cs typeface="Poppins"/>
                <a:sym typeface="Poppins"/>
              </a:rPr>
              <a:t>SharedTypeEntity</a:t>
            </a:r>
            <a:r>
              <a:rPr lang="tr-TR" b="1" i="1" dirty="0">
                <a:solidFill>
                  <a:srgbClr val="156082"/>
                </a:solidFill>
                <a:latin typeface="Poppins"/>
                <a:ea typeface="Poppins"/>
                <a:cs typeface="Poppins"/>
                <a:sym typeface="Poppins"/>
              </a:rPr>
              <a:t>:</a:t>
            </a:r>
            <a:r>
              <a:rPr lang="en-US" sz="1800" i="1" dirty="0">
                <a:solidFill>
                  <a:srgbClr val="156082"/>
                </a:solidFill>
                <a:latin typeface="Poppins"/>
                <a:ea typeface="Poppins"/>
                <a:cs typeface="Poppins"/>
                <a:sym typeface="Poppins"/>
              </a:rPr>
              <a:t> reuse one CLR type across many tables.</a:t>
            </a:r>
          </a:p>
          <a:p>
            <a:pPr marL="285750" indent="-285750">
              <a:spcBef>
                <a:spcPts val="500"/>
              </a:spcBef>
              <a:spcAft>
                <a:spcPts val="500"/>
              </a:spcAft>
              <a:buFont typeface="Arial"/>
              <a:buChar char="•"/>
            </a:pP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Table name = runtime entity name</a:t>
            </a:r>
          </a:p>
          <a:p>
            <a:pPr marL="285750" indent="-285750">
              <a:spcBef>
                <a:spcPts val="500"/>
              </a:spcBef>
              <a:spcAft>
                <a:spcPts val="500"/>
              </a:spcAft>
              <a:buFont typeface="Arial"/>
              <a:buChar char="•"/>
            </a:pP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Normal IQueryable per logical entity</a:t>
            </a:r>
          </a:p>
          <a:p>
            <a:pPr marL="285750" indent="-285750">
              <a:spcBef>
                <a:spcPts val="500"/>
              </a:spcBef>
              <a:spcAft>
                <a:spcPts val="500"/>
              </a:spcAft>
              <a:buFont typeface="Arial"/>
              <a:buChar char="•"/>
            </a:pP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No code-gen, no hundreds of empty classes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3BF6789-E43C-4177-968E-1A0F75F916A6}"/>
              </a:ext>
            </a:extLst>
          </p:cNvPr>
          <p:cNvSpPr/>
          <p:nvPr/>
        </p:nvSpPr>
        <p:spPr>
          <a:xfrm>
            <a:off x="455849" y="2794000"/>
            <a:ext cx="2540000" cy="1143000"/>
          </a:xfrm>
          <a:prstGeom prst="roundRect">
            <a:avLst/>
          </a:prstGeom>
          <a:solidFill>
            <a:srgbClr val="0E2841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b="1">
                <a:solidFill>
                  <a:srgbClr val="FFFFFF"/>
                </a:solidFill>
                <a:latin typeface="Consolas"/>
              </a:rPr>
              <a:t>DynamicEntity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DDD6BF9-1771-4EC5-83AD-B9F81602ED03}"/>
              </a:ext>
            </a:extLst>
          </p:cNvPr>
          <p:cNvSpPr/>
          <p:nvPr/>
        </p:nvSpPr>
        <p:spPr>
          <a:xfrm>
            <a:off x="3884849" y="1651000"/>
            <a:ext cx="1397000" cy="63500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  <a:latin typeface="Consolas"/>
              </a:rPr>
              <a:t>Product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8A618B3-107B-4C23-97EA-679B46E03C06}"/>
              </a:ext>
            </a:extLst>
          </p:cNvPr>
          <p:cNvSpPr/>
          <p:nvPr/>
        </p:nvSpPr>
        <p:spPr>
          <a:xfrm>
            <a:off x="3884849" y="2667000"/>
            <a:ext cx="1397000" cy="635000"/>
          </a:xfrm>
          <a:prstGeom prst="rect">
            <a:avLst/>
          </a:prstGeom>
          <a:solidFill>
            <a:srgbClr val="E9713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  <a:latin typeface="Consolas"/>
              </a:rPr>
              <a:t>Customer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B5567A6-2605-46E7-B02C-4DC8F645CBBA}"/>
              </a:ext>
            </a:extLst>
          </p:cNvPr>
          <p:cNvSpPr/>
          <p:nvPr/>
        </p:nvSpPr>
        <p:spPr>
          <a:xfrm>
            <a:off x="3884849" y="3683000"/>
            <a:ext cx="1397000" cy="635000"/>
          </a:xfrm>
          <a:prstGeom prst="rect">
            <a:avLst/>
          </a:prstGeom>
          <a:solidFill>
            <a:srgbClr val="196B24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  <a:latin typeface="Consolas"/>
              </a:rPr>
              <a:t>Order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7F4F0BC-90AE-42F4-9B5A-EF47A567F4F3}"/>
              </a:ext>
            </a:extLst>
          </p:cNvPr>
          <p:cNvSpPr/>
          <p:nvPr/>
        </p:nvSpPr>
        <p:spPr>
          <a:xfrm>
            <a:off x="3884849" y="4699000"/>
            <a:ext cx="1397000" cy="635000"/>
          </a:xfrm>
          <a:prstGeom prst="rect">
            <a:avLst/>
          </a:prstGeom>
          <a:solidFill>
            <a:srgbClr val="8AB6C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  <a:latin typeface="Consolas"/>
              </a:rPr>
              <a:t>Invoice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742A0E0-E38B-43B1-A96D-7582122B34F2}"/>
              </a:ext>
            </a:extLst>
          </p:cNvPr>
          <p:cNvSpPr/>
          <p:nvPr/>
        </p:nvSpPr>
        <p:spPr>
          <a:xfrm rot="-3451728">
            <a:off x="2612410" y="2651125"/>
            <a:ext cx="1655877" cy="31750"/>
          </a:xfrm>
          <a:prstGeom prst="rect">
            <a:avLst/>
          </a:prstGeom>
          <a:solidFill>
            <a:srgbClr val="5C6571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8AED5F6-CD60-4477-AE11-7B8494447D14}"/>
              </a:ext>
            </a:extLst>
          </p:cNvPr>
          <p:cNvSpPr/>
          <p:nvPr/>
        </p:nvSpPr>
        <p:spPr>
          <a:xfrm rot="-1391915">
            <a:off x="2956747" y="3159125"/>
            <a:ext cx="967203" cy="31750"/>
          </a:xfrm>
          <a:prstGeom prst="rect">
            <a:avLst/>
          </a:prstGeom>
          <a:solidFill>
            <a:srgbClr val="5C6571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74C037F-DCCE-4707-8844-44B19FA6EA57}"/>
              </a:ext>
            </a:extLst>
          </p:cNvPr>
          <p:cNvSpPr/>
          <p:nvPr/>
        </p:nvSpPr>
        <p:spPr>
          <a:xfrm rot="2132261">
            <a:off x="2894101" y="3667125"/>
            <a:ext cx="1092495" cy="31750"/>
          </a:xfrm>
          <a:prstGeom prst="rect">
            <a:avLst/>
          </a:prstGeom>
          <a:solidFill>
            <a:srgbClr val="5C6571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96A933-A4C9-4E35-BDEE-19D7A156C9FB}"/>
              </a:ext>
            </a:extLst>
          </p:cNvPr>
          <p:cNvSpPr/>
          <p:nvPr/>
        </p:nvSpPr>
        <p:spPr>
          <a:xfrm rot="3701955">
            <a:off x="2502782" y="4175125"/>
            <a:ext cx="1875132" cy="31750"/>
          </a:xfrm>
          <a:prstGeom prst="rect">
            <a:avLst/>
          </a:prstGeom>
          <a:solidFill>
            <a:srgbClr val="5C6571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08637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2" grpId="0" animBg="1"/>
      <p:bldP spid="3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FEB56F-6A6E-CDE3-46C9-D37CD01B2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FDF85AA1-8AD9-A927-B6CF-0807D4762A5F}"/>
              </a:ext>
            </a:extLst>
          </p:cNvPr>
          <p:cNvSpPr txBox="1">
            <a:spLocks/>
          </p:cNvSpPr>
          <p:nvPr/>
        </p:nvSpPr>
        <p:spPr>
          <a:xfrm>
            <a:off x="455849" y="407657"/>
            <a:ext cx="11239965" cy="70876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lvl="0"/>
            <a:r>
              <a:rPr lang="tr-TR" sz="32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EF Core: Shared Type Entities | Example</a:t>
            </a:r>
            <a:endParaRPr lang="en-US" sz="3200" b="1" dirty="0">
              <a:solidFill>
                <a:srgbClr val="292D33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688E082-79C3-208A-68AE-A2477AE5D4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850" y="1116421"/>
            <a:ext cx="6124059" cy="312422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48AE6DD-0907-2B54-C75C-60CD4DD6E2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5850" y="4314341"/>
            <a:ext cx="6680242" cy="2136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01883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8C68A8F-00FC-ED92-9778-2060911C99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38E07940-E82C-D530-74FC-009E2096ED7D}"/>
              </a:ext>
            </a:extLst>
          </p:cNvPr>
          <p:cNvSpPr txBox="1">
            <a:spLocks/>
          </p:cNvSpPr>
          <p:nvPr/>
        </p:nvSpPr>
        <p:spPr>
          <a:xfrm>
            <a:off x="455849" y="407657"/>
            <a:ext cx="11239965" cy="70876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lvl="0"/>
            <a:r>
              <a:rPr lang="tr-TR" sz="32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EF Core: Shared Type Entities | Example</a:t>
            </a:r>
            <a:endParaRPr lang="en-US" sz="3200" b="1" dirty="0">
              <a:solidFill>
                <a:srgbClr val="292D33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D62C784-C588-EB7A-7725-F1DBEAD224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225" y="2617596"/>
            <a:ext cx="11097212" cy="264454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D18C93E-089B-C959-4B04-33F4F69931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5849" y="1443145"/>
            <a:ext cx="9334500" cy="847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40515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F3A5B66-4AD9-359F-693D-7545D69B57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454DDA82-032A-AA61-8FE3-31313B75A922}"/>
              </a:ext>
            </a:extLst>
          </p:cNvPr>
          <p:cNvSpPr txBox="1">
            <a:spLocks/>
          </p:cNvSpPr>
          <p:nvPr/>
        </p:nvSpPr>
        <p:spPr>
          <a:xfrm>
            <a:off x="455849" y="407657"/>
            <a:ext cx="11239965" cy="70876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lvl="0"/>
            <a:r>
              <a:rPr lang="tr-TR" sz="32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EF Core: Indexer Properties</a:t>
            </a:r>
            <a:endParaRPr lang="en-US" sz="3200" b="1" dirty="0">
              <a:solidFill>
                <a:srgbClr val="292D33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23914B-2B8B-EF3D-E38B-68796A52BC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848" y="2956681"/>
            <a:ext cx="7010400" cy="10477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C3730DD-7D24-F255-05DA-DD015663281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5848" y="4513158"/>
            <a:ext cx="10887075" cy="67627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47962AC-6BA8-F137-E5C4-7618BEA79D61}"/>
              </a:ext>
            </a:extLst>
          </p:cNvPr>
          <p:cNvSpPr txBox="1"/>
          <p:nvPr/>
        </p:nvSpPr>
        <p:spPr>
          <a:xfrm>
            <a:off x="455848" y="1268144"/>
            <a:ext cx="9578697" cy="11798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Bef>
                <a:spcPts val="500"/>
              </a:spcBef>
              <a:spcAft>
                <a:spcPts val="500"/>
              </a:spcAft>
              <a:buFont typeface="Arial"/>
              <a:buChar char="•"/>
            </a:pPr>
            <a:r>
              <a:rPr lang="tr-TR" sz="1800" b="1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No Property </a:t>
            </a:r>
            <a:r>
              <a:rPr lang="tr-TR" sz="18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on the Entity Type </a:t>
            </a:r>
            <a:r>
              <a:rPr lang="tr-TR" sz="18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Wingdings" panose="05000000000000000000" pitchFamily="2" charset="2"/>
              </a:rPr>
              <a:t> </a:t>
            </a:r>
            <a:r>
              <a:rPr lang="tr-TR" sz="1800" b="1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Wingdings" panose="05000000000000000000" pitchFamily="2" charset="2"/>
              </a:rPr>
              <a:t>Maps to a Field </a:t>
            </a:r>
            <a:r>
              <a:rPr lang="tr-TR" sz="18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Wingdings" panose="05000000000000000000" pitchFamily="2" charset="2"/>
              </a:rPr>
              <a:t>in the Database Table</a:t>
            </a:r>
            <a:endParaRPr lang="tr-TR" sz="1800" dirty="0">
              <a:solidFill>
                <a:srgbClr val="5C657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285750" indent="-285750">
              <a:spcBef>
                <a:spcPts val="500"/>
              </a:spcBef>
              <a:spcAft>
                <a:spcPts val="500"/>
              </a:spcAft>
              <a:buFont typeface="Arial"/>
              <a:buChar char="•"/>
            </a:pPr>
            <a:r>
              <a:rPr lang="en-US" sz="18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Cheaper WHERE / ORDER BY — native SQL paths</a:t>
            </a:r>
          </a:p>
          <a:p>
            <a:pPr marL="285750" indent="-285750">
              <a:spcBef>
                <a:spcPts val="500"/>
              </a:spcBef>
              <a:spcAft>
                <a:spcPts val="500"/>
              </a:spcAft>
              <a:buFont typeface="Arial"/>
              <a:buChar char="•"/>
            </a:pPr>
            <a:r>
              <a:rPr lang="en-US" sz="18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Indexable, type-checked, query-translatable</a:t>
            </a:r>
          </a:p>
        </p:txBody>
      </p:sp>
    </p:spTree>
    <p:extLst>
      <p:ext uri="{BB962C8B-B14F-4D97-AF65-F5344CB8AC3E}">
        <p14:creationId xmlns:p14="http://schemas.microsoft.com/office/powerpoint/2010/main" val="39850506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FEB56F-6A6E-CDE3-46C9-D37CD01B2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FDF85AA1-8AD9-A927-B6CF-0807D4762A5F}"/>
              </a:ext>
            </a:extLst>
          </p:cNvPr>
          <p:cNvSpPr txBox="1">
            <a:spLocks/>
          </p:cNvSpPr>
          <p:nvPr/>
        </p:nvSpPr>
        <p:spPr>
          <a:xfrm>
            <a:off x="455849" y="407657"/>
            <a:ext cx="11239965" cy="70876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32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EF Core: Map to JSON Column</a:t>
            </a:r>
            <a:endParaRPr lang="en-US" sz="3200" b="1" dirty="0">
              <a:solidFill>
                <a:srgbClr val="292D33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14" name="Metin kutusu 13">
            <a:extLst>
              <a:ext uri="{FF2B5EF4-FFF2-40B4-BE49-F238E27FC236}">
                <a16:creationId xmlns:a16="http://schemas.microsoft.com/office/drawing/2014/main" id="{9E68AE78-0DC6-55E3-D23B-0DDA53B29FF4}"/>
              </a:ext>
            </a:extLst>
          </p:cNvPr>
          <p:cNvSpPr txBox="1"/>
          <p:nvPr/>
        </p:nvSpPr>
        <p:spPr>
          <a:xfrm>
            <a:off x="455846" y="1250909"/>
            <a:ext cx="11239964" cy="1094726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285750" indent="-285750">
              <a:spcBef>
                <a:spcPts val="500"/>
              </a:spcBef>
              <a:spcAft>
                <a:spcPts val="500"/>
              </a:spcAft>
              <a:buFont typeface="Arial"/>
              <a:buChar char="•"/>
            </a:pP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Mapped via owned/JSON entity configuration</a:t>
            </a:r>
          </a:p>
          <a:p>
            <a:pPr marL="285750" indent="-285750">
              <a:spcBef>
                <a:spcPts val="500"/>
              </a:spcBef>
              <a:spcAft>
                <a:spcPts val="500"/>
              </a:spcAft>
              <a:buFont typeface="Arial"/>
              <a:buChar char="•"/>
            </a:pP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No schema migration when users add a field</a:t>
            </a:r>
          </a:p>
        </p:txBody>
      </p:sp>
      <p:pic>
        <p:nvPicPr>
          <p:cNvPr id="15" name="Graphic 15" descr="JSON storage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49000" y="457200"/>
            <a:ext cx="533400" cy="5334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C56CA95-F62F-A506-CB1B-1477AF1228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190" y="2345635"/>
            <a:ext cx="9285010" cy="36551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14175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70DBF85-668F-ABAB-4455-BE71CC302A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0379E9FE-EE3A-6484-41AA-15D33B589FD4}"/>
              </a:ext>
            </a:extLst>
          </p:cNvPr>
          <p:cNvSpPr txBox="1">
            <a:spLocks/>
          </p:cNvSpPr>
          <p:nvPr/>
        </p:nvSpPr>
        <p:spPr>
          <a:xfrm>
            <a:off x="455849" y="2655736"/>
            <a:ext cx="11239965" cy="1127645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normAutofit fontScale="92500" lnSpcReduction="1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43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Entity Framework Core</a:t>
            </a:r>
            <a:br>
              <a:rPr lang="tr-TR" sz="43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</a:br>
            <a:r>
              <a:rPr lang="tr-TR" sz="3500" i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Runtime Model Changes</a:t>
            </a:r>
            <a:endParaRPr lang="en-US" sz="3200" i="1" dirty="0">
              <a:solidFill>
                <a:srgbClr val="292D33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</p:spTree>
    <p:extLst>
      <p:ext uri="{BB962C8B-B14F-4D97-AF65-F5344CB8AC3E}">
        <p14:creationId xmlns:p14="http://schemas.microsoft.com/office/powerpoint/2010/main" val="260631748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FEB56F-6A6E-CDE3-46C9-D37CD01B2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FDF85AA1-8AD9-A927-B6CF-0807D4762A5F}"/>
              </a:ext>
            </a:extLst>
          </p:cNvPr>
          <p:cNvSpPr txBox="1">
            <a:spLocks/>
          </p:cNvSpPr>
          <p:nvPr/>
        </p:nvSpPr>
        <p:spPr>
          <a:xfrm>
            <a:off x="455850" y="407657"/>
            <a:ext cx="11239960" cy="70876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32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EF Core: Invalidating the DbContext Model Cache</a:t>
            </a:r>
            <a:endParaRPr lang="en-US" sz="3200" b="1" dirty="0">
              <a:solidFill>
                <a:srgbClr val="292D33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2" name="Metin kutusu 13">
            <a:extLst>
              <a:ext uri="{FF2B5EF4-FFF2-40B4-BE49-F238E27FC236}">
                <a16:creationId xmlns:a16="http://schemas.microsoft.com/office/drawing/2014/main" id="{3A7DE853-0D18-2508-BA08-5ADF22509FD2}"/>
              </a:ext>
            </a:extLst>
          </p:cNvPr>
          <p:cNvSpPr txBox="1"/>
          <p:nvPr/>
        </p:nvSpPr>
        <p:spPr>
          <a:xfrm>
            <a:off x="455846" y="1250909"/>
            <a:ext cx="11239964" cy="1070872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>
              <a:spcBef>
                <a:spcPts val="500"/>
              </a:spcBef>
              <a:spcAft>
                <a:spcPts val="500"/>
              </a:spcAft>
              <a:buClr>
                <a:srgbClr val="196B24"/>
              </a:buClr>
            </a:pPr>
            <a:r>
              <a:rPr lang="tr-TR" sz="2800" b="1" dirty="0"/>
              <a:t>EF Core Caches the DbContext Model</a:t>
            </a:r>
            <a:br>
              <a:rPr lang="tr-TR" sz="2800" b="1" dirty="0"/>
            </a:br>
            <a:r>
              <a:rPr lang="tr-TR" sz="2800" b="1" dirty="0"/>
              <a:t>&gt; </a:t>
            </a:r>
            <a:r>
              <a:rPr lang="en-US" sz="2400" b="1" dirty="0" err="1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OnModelCreating</a:t>
            </a:r>
            <a:r>
              <a:rPr lang="tr-TR" sz="24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 method runs only once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D751E64-9A3E-15BA-C585-54BDFFB099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846" y="2743200"/>
            <a:ext cx="11201054" cy="2534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51327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68AEC28-2ABD-1522-B72D-61D751D86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25092F09-B220-4E76-5D2C-D99543D79574}"/>
              </a:ext>
            </a:extLst>
          </p:cNvPr>
          <p:cNvSpPr txBox="1">
            <a:spLocks/>
          </p:cNvSpPr>
          <p:nvPr/>
        </p:nvSpPr>
        <p:spPr>
          <a:xfrm>
            <a:off x="455850" y="407657"/>
            <a:ext cx="11239960" cy="70876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32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EF Core: Migrating the DB Schema</a:t>
            </a:r>
            <a:endParaRPr lang="en-US" sz="3200" b="1" dirty="0">
              <a:solidFill>
                <a:srgbClr val="292D33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2" name="Metin kutusu 13">
            <a:extLst>
              <a:ext uri="{FF2B5EF4-FFF2-40B4-BE49-F238E27FC236}">
                <a16:creationId xmlns:a16="http://schemas.microsoft.com/office/drawing/2014/main" id="{468B08FE-2EE1-CE0C-33F4-90EE7D7BD4A0}"/>
              </a:ext>
            </a:extLst>
          </p:cNvPr>
          <p:cNvSpPr txBox="1"/>
          <p:nvPr/>
        </p:nvSpPr>
        <p:spPr>
          <a:xfrm>
            <a:off x="476018" y="2893564"/>
            <a:ext cx="11239964" cy="1070872"/>
          </a:xfrm>
          <a:prstGeom prst="rect">
            <a:avLst/>
          </a:prstGeom>
          <a:noFill/>
        </p:spPr>
        <p:txBody>
          <a:bodyPr wrap="square" rtlCol="0">
            <a:normAutofit fontScale="92500" lnSpcReduction="10000"/>
          </a:bodyPr>
          <a:lstStyle/>
          <a:p>
            <a:pPr algn="ctr">
              <a:spcBef>
                <a:spcPts val="500"/>
              </a:spcBef>
              <a:spcAft>
                <a:spcPts val="500"/>
              </a:spcAft>
              <a:buClr>
                <a:srgbClr val="196B24"/>
              </a:buClr>
            </a:pPr>
            <a:r>
              <a:rPr lang="tr-TR" sz="3600" b="1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Creating </a:t>
            </a:r>
            <a:r>
              <a:rPr lang="tr-TR" sz="36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Tables, Fields...</a:t>
            </a:r>
            <a:br>
              <a:rPr lang="tr-TR" sz="36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</a:br>
            <a:r>
              <a:rPr lang="tr-TR" sz="3600" b="1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On runtime</a:t>
            </a:r>
            <a:r>
              <a:rPr lang="tr-TR" sz="36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, not design time!</a:t>
            </a:r>
          </a:p>
        </p:txBody>
      </p:sp>
    </p:spTree>
    <p:extLst>
      <p:ext uri="{BB962C8B-B14F-4D97-AF65-F5344CB8AC3E}">
        <p14:creationId xmlns:p14="http://schemas.microsoft.com/office/powerpoint/2010/main" val="402777114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FEB56F-6A6E-CDE3-46C9-D37CD01B2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FDF85AA1-8AD9-A927-B6CF-0807D4762A5F}"/>
              </a:ext>
            </a:extLst>
          </p:cNvPr>
          <p:cNvSpPr txBox="1">
            <a:spLocks/>
          </p:cNvSpPr>
          <p:nvPr/>
        </p:nvSpPr>
        <p:spPr>
          <a:xfrm>
            <a:off x="455849" y="407657"/>
            <a:ext cx="11239965" cy="70876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32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Dynamic Model: Layering</a:t>
            </a:r>
            <a:endParaRPr lang="en-US" sz="3200" b="1" dirty="0">
              <a:solidFill>
                <a:srgbClr val="292D33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14" name="Metin kutusu 13">
            <a:extLst>
              <a:ext uri="{FF2B5EF4-FFF2-40B4-BE49-F238E27FC236}">
                <a16:creationId xmlns:a16="http://schemas.microsoft.com/office/drawing/2014/main" id="{9E68AE78-0DC6-55E3-D23B-0DDA53B29FF4}"/>
              </a:ext>
            </a:extLst>
          </p:cNvPr>
          <p:cNvSpPr txBox="1"/>
          <p:nvPr/>
        </p:nvSpPr>
        <p:spPr>
          <a:xfrm>
            <a:off x="457200" y="1397000"/>
            <a:ext cx="5842000" cy="4572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285750" indent="-285750">
              <a:spcBef>
                <a:spcPts val="500"/>
              </a:spcBef>
              <a:spcAft>
                <a:spcPts val="500"/>
              </a:spcAft>
              <a:buFont typeface="Arial"/>
              <a:buChar char="•"/>
            </a:pPr>
            <a:r>
              <a:rPr lang="en-US" sz="2200" b="1" dirty="0">
                <a:solidFill>
                  <a:srgbClr val="156082"/>
                </a:solidFill>
                <a:latin typeface="Poppins"/>
                <a:ea typeface="Poppins"/>
                <a:cs typeface="Poppins"/>
                <a:sym typeface="Poppins"/>
              </a:rPr>
              <a:t>Runtime DB</a:t>
            </a: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 — highest priority — user-defined entities</a:t>
            </a:r>
          </a:p>
          <a:p>
            <a:pPr marL="285750" indent="-285750">
              <a:spcBef>
                <a:spcPts val="500"/>
              </a:spcBef>
              <a:spcAft>
                <a:spcPts val="500"/>
              </a:spcAft>
              <a:buFont typeface="Arial"/>
              <a:buChar char="•"/>
            </a:pPr>
            <a:r>
              <a:rPr lang="en-US" sz="2200" b="1" dirty="0">
                <a:solidFill>
                  <a:srgbClr val="156082"/>
                </a:solidFill>
                <a:latin typeface="Poppins"/>
                <a:ea typeface="Poppins"/>
                <a:cs typeface="Poppins"/>
                <a:sym typeface="Poppins"/>
              </a:rPr>
              <a:t>File / fluent</a:t>
            </a: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 — ops or code-shipped configuration</a:t>
            </a:r>
          </a:p>
          <a:p>
            <a:pPr marL="285750" indent="-285750">
              <a:spcBef>
                <a:spcPts val="500"/>
              </a:spcBef>
              <a:spcAft>
                <a:spcPts val="500"/>
              </a:spcAft>
              <a:buFont typeface="Arial"/>
              <a:buChar char="•"/>
            </a:pPr>
            <a:r>
              <a:rPr lang="en-US" sz="2200" b="1" dirty="0">
                <a:solidFill>
                  <a:srgbClr val="156082"/>
                </a:solidFill>
                <a:latin typeface="Poppins"/>
                <a:ea typeface="Poppins"/>
                <a:cs typeface="Poppins"/>
                <a:sym typeface="Poppins"/>
              </a:rPr>
              <a:t>Compile-time code</a:t>
            </a: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 — baseline shape and defaults</a:t>
            </a:r>
          </a:p>
          <a:p>
            <a:pPr marL="0" indent="0">
              <a:spcBef>
                <a:spcPts val="90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rgbClr val="E97132"/>
                </a:solidFill>
                <a:latin typeface="Poppins"/>
                <a:ea typeface="Poppins"/>
                <a:cs typeface="Poppins"/>
                <a:sym typeface="Poppins"/>
              </a:rPr>
              <a:t>Same graph → EF model + API + UI.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F8AEC91-17EC-4809-9CB3-1956356E77A6}"/>
              </a:ext>
            </a:extLst>
          </p:cNvPr>
          <p:cNvSpPr/>
          <p:nvPr/>
        </p:nvSpPr>
        <p:spPr>
          <a:xfrm>
            <a:off x="6731000" y="1651000"/>
            <a:ext cx="4826000" cy="1016000"/>
          </a:xfrm>
          <a:prstGeom prst="rect">
            <a:avLst/>
          </a:prstGeom>
          <a:solidFill>
            <a:srgbClr val="0E2841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Lexend"/>
                <a:ea typeface="Lexend"/>
                <a:cs typeface="Lexend"/>
                <a:sym typeface="Lexend"/>
              </a:rPr>
              <a:t>Runtime DB  (highest)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442EA8F-C6D2-4467-8ED4-B97BF0311146}"/>
              </a:ext>
            </a:extLst>
          </p:cNvPr>
          <p:cNvSpPr/>
          <p:nvPr/>
        </p:nvSpPr>
        <p:spPr>
          <a:xfrm>
            <a:off x="6731000" y="2794000"/>
            <a:ext cx="4826000" cy="101600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Lexend"/>
                <a:ea typeface="Lexend"/>
                <a:cs typeface="Lexend"/>
                <a:sym typeface="Lexend"/>
              </a:rPr>
              <a:t>File / fluent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8120E38-6FDF-4D5F-A158-5C5E25682226}"/>
              </a:ext>
            </a:extLst>
          </p:cNvPr>
          <p:cNvSpPr/>
          <p:nvPr/>
        </p:nvSpPr>
        <p:spPr>
          <a:xfrm>
            <a:off x="6731000" y="3937000"/>
            <a:ext cx="4826000" cy="1016000"/>
          </a:xfrm>
          <a:prstGeom prst="rect">
            <a:avLst/>
          </a:prstGeom>
          <a:solidFill>
            <a:srgbClr val="4A8FB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Lexend"/>
                <a:ea typeface="Lexend"/>
                <a:cs typeface="Lexend"/>
                <a:sym typeface="Lexend"/>
              </a:rPr>
              <a:t>Compile-time code</a:t>
            </a:r>
          </a:p>
        </p:txBody>
      </p:sp>
      <p:sp>
        <p:nvSpPr>
          <p:cNvPr id="7" name="Arrow: Down 6">
            <a:extLst>
              <a:ext uri="{FF2B5EF4-FFF2-40B4-BE49-F238E27FC236}">
                <a16:creationId xmlns:a16="http://schemas.microsoft.com/office/drawing/2014/main" id="{B8A39F51-3B7C-480D-A085-3DBA78EABA7B}"/>
              </a:ext>
            </a:extLst>
          </p:cNvPr>
          <p:cNvSpPr/>
          <p:nvPr/>
        </p:nvSpPr>
        <p:spPr>
          <a:xfrm>
            <a:off x="6350000" y="1905000"/>
            <a:ext cx="279400" cy="2794000"/>
          </a:xfrm>
          <a:prstGeom prst="downArrow">
            <a:avLst/>
          </a:prstGeom>
          <a:solidFill>
            <a:srgbClr val="E9713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8EDC88-3B07-4B27-A953-CFA355CDDC9A}"/>
              </a:ext>
            </a:extLst>
          </p:cNvPr>
          <p:cNvSpPr txBox="1"/>
          <p:nvPr/>
        </p:nvSpPr>
        <p:spPr>
          <a:xfrm rot="16200000">
            <a:off x="5588000" y="2984500"/>
            <a:ext cx="1524000" cy="304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 i="1">
                <a:solidFill>
                  <a:srgbClr val="E97132"/>
                </a:solidFill>
                <a:latin typeface="Poppins"/>
                <a:cs typeface="Poppins"/>
              </a:rPr>
              <a:t>overrides</a:t>
            </a:r>
          </a:p>
        </p:txBody>
      </p:sp>
    </p:spTree>
    <p:extLst>
      <p:ext uri="{BB962C8B-B14F-4D97-AF65-F5344CB8AC3E}">
        <p14:creationId xmlns:p14="http://schemas.microsoft.com/office/powerpoint/2010/main" val="275108023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5147AC4-962E-96F5-7B9D-7E8090CC37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8801562B-DF55-F118-00C6-0707E787E9B8}"/>
              </a:ext>
            </a:extLst>
          </p:cNvPr>
          <p:cNvSpPr txBox="1">
            <a:spLocks/>
          </p:cNvSpPr>
          <p:nvPr/>
        </p:nvSpPr>
        <p:spPr>
          <a:xfrm>
            <a:off x="455850" y="407657"/>
            <a:ext cx="11239960" cy="70876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32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Example: C# Dynamic Entity Class</a:t>
            </a:r>
            <a:endParaRPr lang="en-US" sz="3200" b="1" dirty="0">
              <a:solidFill>
                <a:srgbClr val="292D33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619FED0-885B-4DD3-A2A7-5AF44E6963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850" y="1116420"/>
            <a:ext cx="9391692" cy="5378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525047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8FC72F8-29F0-9368-263A-73C8D10E57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F6DCFA31-545C-FCFF-3D67-7B5C9FB6CB74}"/>
              </a:ext>
            </a:extLst>
          </p:cNvPr>
          <p:cNvSpPr txBox="1">
            <a:spLocks/>
          </p:cNvSpPr>
          <p:nvPr/>
        </p:nvSpPr>
        <p:spPr>
          <a:xfrm>
            <a:off x="455849" y="407657"/>
            <a:ext cx="11239965" cy="70876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32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Key EF Core Structures</a:t>
            </a:r>
            <a:endParaRPr lang="en-US" sz="3200" b="1" dirty="0">
              <a:solidFill>
                <a:srgbClr val="292D33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2" name="Metin kutusu 13">
            <a:extLst>
              <a:ext uri="{FF2B5EF4-FFF2-40B4-BE49-F238E27FC236}">
                <a16:creationId xmlns:a16="http://schemas.microsoft.com/office/drawing/2014/main" id="{8A14B78F-82C3-40F9-7EAC-22E7C5665354}"/>
              </a:ext>
            </a:extLst>
          </p:cNvPr>
          <p:cNvSpPr txBox="1"/>
          <p:nvPr/>
        </p:nvSpPr>
        <p:spPr>
          <a:xfrm>
            <a:off x="455846" y="1264257"/>
            <a:ext cx="11239964" cy="4708929"/>
          </a:xfrm>
          <a:prstGeom prst="rect">
            <a:avLst/>
          </a:prstGeom>
          <a:noFill/>
        </p:spPr>
        <p:txBody>
          <a:bodyPr wrap="square" rtlCol="0">
            <a:normAutofit fontScale="92500" lnSpcReduction="20000"/>
          </a:bodyPr>
          <a:lstStyle/>
          <a:p>
            <a:pPr marL="342900" indent="-342900">
              <a:spcBef>
                <a:spcPts val="500"/>
              </a:spcBef>
              <a:spcAft>
                <a:spcPts val="500"/>
              </a:spcAft>
              <a:buClr>
                <a:srgbClr val="196B24"/>
              </a:buClr>
              <a:buFont typeface="Arial" panose="020B0604020202020204" pitchFamily="34" charset="0"/>
              <a:buChar char="•"/>
            </a:pPr>
            <a:r>
              <a:rPr lang="en-US" sz="2400" b="1" dirty="0" err="1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SharedTypeEntity</a:t>
            </a:r>
            <a:r>
              <a:rPr lang="en-US" sz="2400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 -&gt; </a:t>
            </a:r>
            <a:r>
              <a:rPr lang="tr-TR" sz="2400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Map single C# class to multiple database tables</a:t>
            </a:r>
            <a:br>
              <a:rPr lang="tr-TR" sz="2400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</a:br>
            <a:r>
              <a:rPr lang="tr-TR" sz="2400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Get DbSet -&gt; </a:t>
            </a:r>
            <a:r>
              <a:rPr lang="en-US" sz="2400" dirty="0" err="1">
                <a:solidFill>
                  <a:srgbClr val="5C6571"/>
                </a:solidFill>
                <a:latin typeface="Courier New" panose="02070309020205020404" pitchFamily="49" charset="0"/>
                <a:ea typeface="Poppins"/>
                <a:cs typeface="Courier New" panose="02070309020205020404" pitchFamily="49" charset="0"/>
                <a:sym typeface="Poppins"/>
              </a:rPr>
              <a:t>DbContext.Set</a:t>
            </a:r>
            <a:r>
              <a:rPr lang="en-US" sz="2400" dirty="0">
                <a:solidFill>
                  <a:srgbClr val="5C6571"/>
                </a:solidFill>
                <a:latin typeface="Courier New" panose="02070309020205020404" pitchFamily="49" charset="0"/>
                <a:ea typeface="Poppins"/>
                <a:cs typeface="Courier New" panose="02070309020205020404" pitchFamily="49" charset="0"/>
                <a:sym typeface="Poppins"/>
              </a:rPr>
              <a:t>&lt;</a:t>
            </a:r>
            <a:r>
              <a:rPr lang="en-US" sz="2400" dirty="0" err="1">
                <a:solidFill>
                  <a:srgbClr val="5C6571"/>
                </a:solidFill>
                <a:latin typeface="Courier New" panose="02070309020205020404" pitchFamily="49" charset="0"/>
                <a:ea typeface="Poppins"/>
                <a:cs typeface="Courier New" panose="02070309020205020404" pitchFamily="49" charset="0"/>
                <a:sym typeface="Poppins"/>
              </a:rPr>
              <a:t>DynamicEntity</a:t>
            </a:r>
            <a:r>
              <a:rPr lang="en-US" sz="2400" dirty="0">
                <a:solidFill>
                  <a:srgbClr val="5C6571"/>
                </a:solidFill>
                <a:latin typeface="Courier New" panose="02070309020205020404" pitchFamily="49" charset="0"/>
                <a:ea typeface="Poppins"/>
                <a:cs typeface="Courier New" panose="02070309020205020404" pitchFamily="49" charset="0"/>
                <a:sym typeface="Poppins"/>
              </a:rPr>
              <a:t>&gt;("</a:t>
            </a:r>
            <a:r>
              <a:rPr lang="tr-TR" sz="2400" dirty="0">
                <a:solidFill>
                  <a:srgbClr val="5C6571"/>
                </a:solidFill>
                <a:latin typeface="Courier New" panose="02070309020205020404" pitchFamily="49" charset="0"/>
                <a:ea typeface="Poppins"/>
                <a:cs typeface="Courier New" panose="02070309020205020404" pitchFamily="49" charset="0"/>
                <a:sym typeface="Poppins"/>
              </a:rPr>
              <a:t>EntityName</a:t>
            </a:r>
            <a:r>
              <a:rPr lang="en-US" sz="2400" dirty="0">
                <a:solidFill>
                  <a:srgbClr val="5C6571"/>
                </a:solidFill>
                <a:latin typeface="Courier New" panose="02070309020205020404" pitchFamily="49" charset="0"/>
                <a:ea typeface="Poppins"/>
                <a:cs typeface="Courier New" panose="02070309020205020404" pitchFamily="49" charset="0"/>
                <a:sym typeface="Poppins"/>
              </a:rPr>
              <a:t>")</a:t>
            </a:r>
            <a:endParaRPr lang="tr-TR" sz="2400" dirty="0">
              <a:solidFill>
                <a:srgbClr val="5C6571"/>
              </a:solidFill>
              <a:latin typeface="Courier New" panose="02070309020205020404" pitchFamily="49" charset="0"/>
              <a:ea typeface="Poppins"/>
              <a:cs typeface="Courier New" panose="02070309020205020404" pitchFamily="49" charset="0"/>
              <a:sym typeface="Poppins"/>
            </a:endParaRPr>
          </a:p>
          <a:p>
            <a:pPr marL="342900" indent="-342900">
              <a:spcBef>
                <a:spcPts val="500"/>
              </a:spcBef>
              <a:spcAft>
                <a:spcPts val="500"/>
              </a:spcAft>
              <a:buClr>
                <a:srgbClr val="196B24"/>
              </a:buClr>
              <a:buFont typeface="Arial" panose="020B0604020202020204" pitchFamily="34" charset="0"/>
              <a:buChar char="•"/>
            </a:pPr>
            <a:endParaRPr lang="tr-TR" sz="2400" b="1" dirty="0">
              <a:solidFill>
                <a:srgbClr val="5C6571"/>
              </a:solidFill>
              <a:latin typeface="Poppins" panose="00000500000000000000" pitchFamily="2" charset="-94"/>
              <a:ea typeface="Poppins"/>
              <a:cs typeface="Poppins" panose="00000500000000000000" pitchFamily="2" charset="-94"/>
              <a:sym typeface="Poppins"/>
            </a:endParaRPr>
          </a:p>
          <a:p>
            <a:pPr marL="342900" indent="-342900">
              <a:spcBef>
                <a:spcPts val="500"/>
              </a:spcBef>
              <a:spcAft>
                <a:spcPts val="500"/>
              </a:spcAft>
              <a:buClr>
                <a:srgbClr val="196B24"/>
              </a:buClr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Indexer Properties</a:t>
            </a:r>
            <a:r>
              <a:rPr lang="en-US" sz="2400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 -&gt; Map a dynamic property to a static DB table field</a:t>
            </a:r>
            <a:endParaRPr lang="tr-TR" sz="2400" dirty="0">
              <a:solidFill>
                <a:srgbClr val="5C6571"/>
              </a:solidFill>
              <a:latin typeface="Poppins" panose="00000500000000000000" pitchFamily="2" charset="-94"/>
              <a:ea typeface="Poppins"/>
              <a:cs typeface="Poppins" panose="00000500000000000000" pitchFamily="2" charset="-94"/>
              <a:sym typeface="Poppins"/>
            </a:endParaRPr>
          </a:p>
          <a:p>
            <a:pPr marL="342900" indent="-342900">
              <a:spcBef>
                <a:spcPts val="500"/>
              </a:spcBef>
              <a:spcAft>
                <a:spcPts val="500"/>
              </a:spcAft>
              <a:buClr>
                <a:srgbClr val="196B24"/>
              </a:buClr>
              <a:buFont typeface="Arial" panose="020B0604020202020204" pitchFamily="34" charset="0"/>
              <a:buChar char="•"/>
            </a:pPr>
            <a:endParaRPr lang="tr-TR" sz="2400" b="1" dirty="0">
              <a:solidFill>
                <a:srgbClr val="5C6571"/>
              </a:solidFill>
              <a:latin typeface="Poppins" panose="00000500000000000000" pitchFamily="2" charset="-94"/>
              <a:ea typeface="Poppins"/>
              <a:cs typeface="Poppins" panose="00000500000000000000" pitchFamily="2" charset="-94"/>
              <a:sym typeface="Poppins"/>
            </a:endParaRPr>
          </a:p>
          <a:p>
            <a:pPr marL="342900" indent="-342900">
              <a:spcBef>
                <a:spcPts val="500"/>
              </a:spcBef>
              <a:spcAft>
                <a:spcPts val="500"/>
              </a:spcAft>
              <a:buClr>
                <a:srgbClr val="196B24"/>
              </a:buClr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JSON Column </a:t>
            </a:r>
            <a:r>
              <a:rPr lang="en-US" sz="2400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-&gt; Map multiple dynamic properties to a single JSON field in the database</a:t>
            </a:r>
            <a:endParaRPr lang="tr-TR" sz="2400" dirty="0">
              <a:solidFill>
                <a:srgbClr val="5C6571"/>
              </a:solidFill>
              <a:latin typeface="Poppins" panose="00000500000000000000" pitchFamily="2" charset="-94"/>
              <a:ea typeface="Poppins"/>
              <a:cs typeface="Poppins" panose="00000500000000000000" pitchFamily="2" charset="-94"/>
              <a:sym typeface="Poppins"/>
            </a:endParaRPr>
          </a:p>
          <a:p>
            <a:pPr marL="342900" indent="-342900">
              <a:spcBef>
                <a:spcPts val="500"/>
              </a:spcBef>
              <a:spcAft>
                <a:spcPts val="500"/>
              </a:spcAft>
              <a:buClr>
                <a:srgbClr val="196B24"/>
              </a:buClr>
              <a:buFont typeface="Arial" panose="020B0604020202020204" pitchFamily="34" charset="0"/>
              <a:buChar char="•"/>
            </a:pPr>
            <a:endParaRPr lang="tr-TR" sz="2400" dirty="0">
              <a:solidFill>
                <a:srgbClr val="5C6571"/>
              </a:solidFill>
              <a:latin typeface="Poppins" panose="00000500000000000000" pitchFamily="2" charset="-94"/>
              <a:ea typeface="Poppins"/>
              <a:cs typeface="Poppins" panose="00000500000000000000" pitchFamily="2" charset="-94"/>
              <a:sym typeface="Poppins"/>
            </a:endParaRPr>
          </a:p>
          <a:p>
            <a:pPr marL="342900" indent="-342900">
              <a:spcBef>
                <a:spcPts val="500"/>
              </a:spcBef>
              <a:spcAft>
                <a:spcPts val="500"/>
              </a:spcAft>
              <a:buClr>
                <a:srgbClr val="196B24"/>
              </a:buClr>
              <a:buFont typeface="Arial" panose="020B0604020202020204" pitchFamily="34" charset="0"/>
              <a:buChar char="•"/>
            </a:pPr>
            <a:r>
              <a:rPr lang="tr-TR" sz="2400" b="1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ModelCacheKeyFactory </a:t>
            </a:r>
            <a:r>
              <a:rPr lang="tr-TR" sz="2400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-&gt; Apply runtime schema changes to EF Core model</a:t>
            </a:r>
          </a:p>
          <a:p>
            <a:pPr marL="342900" indent="-342900">
              <a:spcBef>
                <a:spcPts val="500"/>
              </a:spcBef>
              <a:spcAft>
                <a:spcPts val="500"/>
              </a:spcAft>
              <a:buClr>
                <a:srgbClr val="196B24"/>
              </a:buClr>
              <a:buFont typeface="Arial" panose="020B0604020202020204" pitchFamily="34" charset="0"/>
              <a:buChar char="•"/>
            </a:pPr>
            <a:endParaRPr lang="tr-TR" sz="2400" b="1" dirty="0">
              <a:solidFill>
                <a:srgbClr val="5C6571"/>
              </a:solidFill>
              <a:latin typeface="Poppins" panose="00000500000000000000" pitchFamily="2" charset="-94"/>
              <a:ea typeface="Poppins"/>
              <a:cs typeface="Poppins" panose="00000500000000000000" pitchFamily="2" charset="-94"/>
              <a:sym typeface="Poppins"/>
            </a:endParaRPr>
          </a:p>
          <a:p>
            <a:pPr marL="342900" indent="-342900">
              <a:spcBef>
                <a:spcPts val="500"/>
              </a:spcBef>
              <a:spcAft>
                <a:spcPts val="500"/>
              </a:spcAft>
              <a:buClr>
                <a:srgbClr val="196B24"/>
              </a:buClr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Dynamic LINQ</a:t>
            </a:r>
            <a:r>
              <a:rPr lang="en-US" sz="2400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 --&gt;</a:t>
            </a:r>
            <a:r>
              <a:rPr lang="tr-TR" sz="2400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 </a:t>
            </a:r>
            <a:r>
              <a:rPr lang="tr-TR" sz="2400" dirty="0">
                <a:solidFill>
                  <a:srgbClr val="5C6571"/>
                </a:solidFill>
                <a:latin typeface="Courier New" panose="02070309020205020404" pitchFamily="49" charset="0"/>
                <a:ea typeface="Poppins"/>
                <a:cs typeface="Courier New" panose="02070309020205020404" pitchFamily="49" charset="0"/>
                <a:sym typeface="Poppins"/>
              </a:rPr>
              <a:t>System.Linq.Dynamic.Core</a:t>
            </a:r>
            <a:r>
              <a:rPr lang="tr-TR" sz="2400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 &amp; </a:t>
            </a:r>
            <a:r>
              <a:rPr lang="tr-TR" sz="2400" dirty="0">
                <a:solidFill>
                  <a:srgbClr val="5C6571"/>
                </a:solidFill>
                <a:latin typeface="Courier New" panose="02070309020205020404" pitchFamily="49" charset="0"/>
                <a:ea typeface="Poppins"/>
                <a:cs typeface="Courier New" panose="02070309020205020404" pitchFamily="49" charset="0"/>
                <a:sym typeface="Poppins"/>
              </a:rPr>
              <a:t>LinqKit.Core </a:t>
            </a:r>
            <a:r>
              <a:rPr lang="tr-TR" sz="2400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libraries</a:t>
            </a:r>
            <a:endParaRPr lang="en-US" sz="2400" dirty="0">
              <a:solidFill>
                <a:srgbClr val="5C6571"/>
              </a:solidFill>
              <a:latin typeface="Poppins" panose="00000500000000000000" pitchFamily="2" charset="-94"/>
              <a:ea typeface="Poppins"/>
              <a:cs typeface="Poppins" panose="00000500000000000000" pitchFamily="2" charset="-94"/>
              <a:sym typeface="Poppins"/>
            </a:endParaRPr>
          </a:p>
        </p:txBody>
      </p:sp>
    </p:spTree>
    <p:extLst>
      <p:ext uri="{BB962C8B-B14F-4D97-AF65-F5344CB8AC3E}">
        <p14:creationId xmlns:p14="http://schemas.microsoft.com/office/powerpoint/2010/main" val="22936926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C17BB97-BCC9-574E-59F2-851978B4FE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Metin kutusu 7">
            <a:extLst>
              <a:ext uri="{FF2B5EF4-FFF2-40B4-BE49-F238E27FC236}">
                <a16:creationId xmlns:a16="http://schemas.microsoft.com/office/drawing/2014/main" id="{3551E258-AE4B-89EC-1439-33807E9C38DB}"/>
              </a:ext>
            </a:extLst>
          </p:cNvPr>
          <p:cNvSpPr txBox="1">
            <a:spLocks/>
          </p:cNvSpPr>
          <p:nvPr/>
        </p:nvSpPr>
        <p:spPr>
          <a:xfrm>
            <a:off x="709617" y="1333647"/>
            <a:ext cx="6856282" cy="15012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4500" b="1" dirty="0">
                <a:solidFill>
                  <a:srgbClr val="292D32"/>
                </a:solidFill>
                <a:latin typeface="Lexend" pitchFamily="2" charset="0"/>
                <a:ea typeface="Lexend"/>
                <a:cs typeface="Lexend"/>
                <a:sym typeface="Lexend"/>
              </a:rPr>
              <a:t>THANKS FOR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4500" b="1" dirty="0">
                <a:solidFill>
                  <a:srgbClr val="292D32"/>
                </a:solidFill>
                <a:latin typeface="Lexend" pitchFamily="2" charset="0"/>
                <a:ea typeface="Lexend"/>
                <a:cs typeface="Lexend"/>
                <a:sym typeface="Lexend"/>
              </a:rPr>
              <a:t>LISTENING</a:t>
            </a:r>
          </a:p>
        </p:txBody>
      </p:sp>
      <p:pic>
        <p:nvPicPr>
          <p:cNvPr id="4" name="Resim 3">
            <a:extLst>
              <a:ext uri="{FF2B5EF4-FFF2-40B4-BE49-F238E27FC236}">
                <a16:creationId xmlns:a16="http://schemas.microsoft.com/office/drawing/2014/main" id="{5241CB78-F4AE-D9B0-2F94-3CA2B8716B3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13791" y="3041729"/>
            <a:ext cx="1039470" cy="1039470"/>
          </a:xfrm>
          <a:prstGeom prst="rect">
            <a:avLst/>
          </a:prstGeom>
        </p:spPr>
      </p:pic>
      <p:sp>
        <p:nvSpPr>
          <p:cNvPr id="5" name="Google Shape;56;p1">
            <a:extLst>
              <a:ext uri="{FF2B5EF4-FFF2-40B4-BE49-F238E27FC236}">
                <a16:creationId xmlns:a16="http://schemas.microsoft.com/office/drawing/2014/main" id="{C917CDC9-7A11-0492-6A84-23B930AE7B27}"/>
              </a:ext>
            </a:extLst>
          </p:cNvPr>
          <p:cNvSpPr txBox="1"/>
          <p:nvPr/>
        </p:nvSpPr>
        <p:spPr>
          <a:xfrm>
            <a:off x="2085311" y="3107272"/>
            <a:ext cx="6497100" cy="50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 algn="l">
              <a:buNone/>
            </a:pPr>
            <a:r>
              <a:rPr lang="en-US" sz="2800" dirty="0">
                <a:solidFill>
                  <a:srgbClr val="292D33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Halil İbrahim Kalkan</a:t>
            </a:r>
          </a:p>
        </p:txBody>
      </p:sp>
      <p:sp>
        <p:nvSpPr>
          <p:cNvPr id="6" name="Google Shape;57;p1">
            <a:extLst>
              <a:ext uri="{FF2B5EF4-FFF2-40B4-BE49-F238E27FC236}">
                <a16:creationId xmlns:a16="http://schemas.microsoft.com/office/drawing/2014/main" id="{87C3FEE7-4E8E-3396-98EA-3E5B75E74E3C}"/>
              </a:ext>
            </a:extLst>
          </p:cNvPr>
          <p:cNvSpPr txBox="1"/>
          <p:nvPr/>
        </p:nvSpPr>
        <p:spPr>
          <a:xfrm>
            <a:off x="2085311" y="3627199"/>
            <a:ext cx="64971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lvl="0"/>
            <a:r>
              <a:rPr lang="en-US">
                <a:solidFill>
                  <a:srgbClr val="4E5258"/>
                </a:solidFill>
                <a:latin typeface="Poppins"/>
                <a:ea typeface="Poppins"/>
                <a:cs typeface="Poppins"/>
                <a:sym typeface="Poppins"/>
              </a:rPr>
              <a:t>Co-founder, </a:t>
            </a:r>
            <a:r>
              <a:rPr lang="tr-TR">
                <a:solidFill>
                  <a:srgbClr val="4E5258"/>
                </a:solidFill>
                <a:latin typeface="Poppins"/>
                <a:ea typeface="Poppins"/>
                <a:cs typeface="Poppins"/>
                <a:sym typeface="Poppins"/>
              </a:rPr>
              <a:t>V</a:t>
            </a:r>
            <a:r>
              <a:rPr lang="en-US">
                <a:solidFill>
                  <a:srgbClr val="4E5258"/>
                </a:solidFill>
                <a:latin typeface="Poppins"/>
                <a:ea typeface="Poppins"/>
                <a:cs typeface="Poppins"/>
                <a:sym typeface="Poppins"/>
              </a:rPr>
              <a:t>olosoft</a:t>
            </a:r>
            <a:endParaRPr lang="en-US" dirty="0">
              <a:solidFill>
                <a:srgbClr val="4E5258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9" name="Google Shape;59;p1">
            <a:extLst>
              <a:ext uri="{FF2B5EF4-FFF2-40B4-BE49-F238E27FC236}">
                <a16:creationId xmlns:a16="http://schemas.microsoft.com/office/drawing/2014/main" id="{D216A13A-0DE8-0F81-D058-C43F2067416B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71666" y="4516942"/>
            <a:ext cx="318353" cy="318353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Google Shape;60;p1">
            <a:extLst>
              <a:ext uri="{FF2B5EF4-FFF2-40B4-BE49-F238E27FC236}">
                <a16:creationId xmlns:a16="http://schemas.microsoft.com/office/drawing/2014/main" id="{5C65CC4D-AAFE-B812-2756-CBA85A3A23ED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71666" y="4982969"/>
            <a:ext cx="318352" cy="318352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61;p1">
            <a:extLst>
              <a:ext uri="{FF2B5EF4-FFF2-40B4-BE49-F238E27FC236}">
                <a16:creationId xmlns:a16="http://schemas.microsoft.com/office/drawing/2014/main" id="{3C0670F1-6E7F-BFCD-F6CA-876DE9462511}"/>
              </a:ext>
            </a:extLst>
          </p:cNvPr>
          <p:cNvSpPr txBox="1"/>
          <p:nvPr/>
        </p:nvSpPr>
        <p:spPr>
          <a:xfrm>
            <a:off x="1278663" y="4459936"/>
            <a:ext cx="523793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 algn="l">
              <a:buNone/>
            </a:pPr>
            <a:r>
              <a:rPr lang="en-US" sz="1500" dirty="0" err="1">
                <a:solidFill>
                  <a:srgbClr val="292D33"/>
                </a:solidFill>
                <a:latin typeface="Poppins"/>
                <a:ea typeface="Poppins"/>
                <a:cs typeface="Poppins"/>
                <a:sym typeface="Poppins"/>
              </a:rPr>
              <a:t>hibrahimkalkan</a:t>
            </a:r>
            <a:endParaRPr lang="en-US" sz="1500" dirty="0">
              <a:solidFill>
                <a:srgbClr val="292D33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" name="Google Shape;62;p1">
            <a:extLst>
              <a:ext uri="{FF2B5EF4-FFF2-40B4-BE49-F238E27FC236}">
                <a16:creationId xmlns:a16="http://schemas.microsoft.com/office/drawing/2014/main" id="{53AF912A-87AB-7552-8EF1-622C7EC021A0}"/>
              </a:ext>
            </a:extLst>
          </p:cNvPr>
          <p:cNvSpPr txBox="1"/>
          <p:nvPr/>
        </p:nvSpPr>
        <p:spPr>
          <a:xfrm>
            <a:off x="1278663" y="4918080"/>
            <a:ext cx="523793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 algn="l">
              <a:buNone/>
            </a:pPr>
            <a:r>
              <a:rPr lang="tr-TR" sz="1500" dirty="0">
                <a:solidFill>
                  <a:srgbClr val="292D33"/>
                </a:solidFill>
                <a:latin typeface="Poppins"/>
                <a:ea typeface="Poppins"/>
                <a:cs typeface="Poppins"/>
                <a:sym typeface="Poppins"/>
              </a:rPr>
              <a:t>hikalkan</a:t>
            </a:r>
            <a:endParaRPr lang="en-US" sz="1500" dirty="0">
              <a:solidFill>
                <a:srgbClr val="292D33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" name="Google Shape;57;p1">
            <a:extLst>
              <a:ext uri="{FF2B5EF4-FFF2-40B4-BE49-F238E27FC236}">
                <a16:creationId xmlns:a16="http://schemas.microsoft.com/office/drawing/2014/main" id="{CB32F8B9-9CE1-2A1F-4D97-D1285A614611}"/>
              </a:ext>
            </a:extLst>
          </p:cNvPr>
          <p:cNvSpPr txBox="1"/>
          <p:nvPr/>
        </p:nvSpPr>
        <p:spPr>
          <a:xfrm>
            <a:off x="8699242" y="2961090"/>
            <a:ext cx="29577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400" dirty="0">
                <a:solidFill>
                  <a:srgbClr val="292D32"/>
                </a:solidFill>
                <a:latin typeface="Poppins"/>
                <a:ea typeface="Poppins"/>
                <a:cs typeface="Poppins"/>
                <a:sym typeface="Poppins"/>
              </a:rPr>
              <a:t>Download the Presentation</a:t>
            </a:r>
            <a:endParaRPr lang="en-US" sz="1400" dirty="0">
              <a:solidFill>
                <a:srgbClr val="292D32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3" name="Google Shape;82;p3">
            <a:extLst>
              <a:ext uri="{FF2B5EF4-FFF2-40B4-BE49-F238E27FC236}">
                <a16:creationId xmlns:a16="http://schemas.microsoft.com/office/drawing/2014/main" id="{BFAF4943-B80D-EB63-D22C-2DDE52712616}"/>
              </a:ext>
            </a:extLst>
          </p:cNvPr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8699242" y="3361290"/>
            <a:ext cx="2957700" cy="2957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10B44D8-4983-D9B6-904C-2826734FA3D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66528" y="3523785"/>
            <a:ext cx="2634906" cy="2634906"/>
          </a:xfrm>
          <a:prstGeom prst="roundRect">
            <a:avLst>
              <a:gd name="adj" fmla="val 9472"/>
            </a:avLst>
          </a:prstGeom>
        </p:spPr>
      </p:pic>
    </p:spTree>
    <p:extLst>
      <p:ext uri="{BB962C8B-B14F-4D97-AF65-F5344CB8AC3E}">
        <p14:creationId xmlns:p14="http://schemas.microsoft.com/office/powerpoint/2010/main" val="32437230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5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B9CF5372-7508-4E65-80BC-2D1DDEFFAEF3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12dfdd31-6be7-4eef-bd1f-fd8298d68ff7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927</TotalTime>
  <Words>590</Words>
  <Application>Microsoft Office PowerPoint</Application>
  <PresentationFormat>Widescreen</PresentationFormat>
  <Paragraphs>102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6" baseType="lpstr">
      <vt:lpstr>Aptos</vt:lpstr>
      <vt:lpstr>Aptos Display</vt:lpstr>
      <vt:lpstr>Arial</vt:lpstr>
      <vt:lpstr>Consolas</vt:lpstr>
      <vt:lpstr>Courier New</vt:lpstr>
      <vt:lpstr>Lexend</vt:lpstr>
      <vt:lpstr>Poppins</vt:lpstr>
      <vt:lpstr>Poppins Medium</vt:lpstr>
      <vt:lpstr>Office Teması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Volosoft Bilisim</dc:creator>
  <cp:lastModifiedBy>Halil Kalkan</cp:lastModifiedBy>
  <cp:revision>117</cp:revision>
  <dcterms:created xsi:type="dcterms:W3CDTF">2024-10-07T11:11:00Z</dcterms:created>
  <dcterms:modified xsi:type="dcterms:W3CDTF">2026-05-03T10:51:05Z</dcterms:modified>
</cp:coreProperties>
</file>