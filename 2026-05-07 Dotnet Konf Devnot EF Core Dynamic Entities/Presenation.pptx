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94" r:id="rId2"/>
    <p:sldId id="354" r:id="rId3"/>
    <p:sldId id="349" r:id="rId4"/>
    <p:sldId id="358" r:id="rId5"/>
    <p:sldId id="355" r:id="rId6"/>
    <p:sldId id="356" r:id="rId7"/>
    <p:sldId id="357" r:id="rId8"/>
    <p:sldId id="348" r:id="rId9"/>
    <p:sldId id="347" r:id="rId10"/>
    <p:sldId id="350" r:id="rId11"/>
    <p:sldId id="351" r:id="rId12"/>
    <p:sldId id="346" r:id="rId13"/>
    <p:sldId id="353" r:id="rId14"/>
    <p:sldId id="352" r:id="rId15"/>
    <p:sldId id="359" r:id="rId16"/>
    <p:sldId id="317" r:id="rId17"/>
    <p:sldId id="326" r:id="rId18"/>
    <p:sldId id="360" r:id="rId19"/>
    <p:sldId id="361" r:id="rId20"/>
    <p:sldId id="339" r:id="rId21"/>
    <p:sldId id="362" r:id="rId22"/>
    <p:sldId id="345" r:id="rId23"/>
    <p:sldId id="363" r:id="rId24"/>
    <p:sldId id="334" r:id="rId25"/>
    <p:sldId id="364" r:id="rId26"/>
    <p:sldId id="332" r:id="rId2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94"/>
    <p:restoredTop sz="94658"/>
  </p:normalViewPr>
  <p:slideViewPr>
    <p:cSldViewPr snapToGrid="0">
      <p:cViewPr varScale="1">
        <p:scale>
          <a:sx n="120" d="100"/>
          <a:sy n="120" d="100"/>
        </p:scale>
        <p:origin x="3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26.04.2026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9"/>
            <a:ext cx="10345109" cy="21023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ENTITIES IN .NET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Building Low-Code Systems on Top of Entity Framework Core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4447589D-5148-04AF-37BB-FE7C25B87E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19721" y="3572172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EC1F3BFE-4173-36BA-E273-4D216E4C760B}"/>
              </a:ext>
            </a:extLst>
          </p:cNvPr>
          <p:cNvSpPr txBox="1"/>
          <p:nvPr/>
        </p:nvSpPr>
        <p:spPr>
          <a:xfrm>
            <a:off x="1991241" y="3637715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5B74307E-E9BB-1484-179C-F2D391547F94}"/>
              </a:ext>
            </a:extLst>
          </p:cNvPr>
          <p:cNvSpPr txBox="1"/>
          <p:nvPr/>
        </p:nvSpPr>
        <p:spPr>
          <a:xfrm>
            <a:off x="1991241" y="4157642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 sz="1600" dirty="0" err="1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sz="1600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846EB880-027A-B440-595A-7ACCA7B47A9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7596" y="5047385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C2874D93-BCD8-4318-4BC4-E08A83EF49B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596" y="5513412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581AB1EE-B2BC-B41F-4751-8F68C7C3F015}"/>
              </a:ext>
            </a:extLst>
          </p:cNvPr>
          <p:cNvSpPr txBox="1"/>
          <p:nvPr/>
        </p:nvSpPr>
        <p:spPr>
          <a:xfrm>
            <a:off x="1184593" y="4990379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9F8CAA3-EA35-AA7C-4946-2DCFEC622153}"/>
              </a:ext>
            </a:extLst>
          </p:cNvPr>
          <p:cNvSpPr txBox="1"/>
          <p:nvPr/>
        </p:nvSpPr>
        <p:spPr>
          <a:xfrm>
            <a:off x="1184593" y="5448523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57;p1">
            <a:extLst>
              <a:ext uri="{FF2B5EF4-FFF2-40B4-BE49-F238E27FC236}">
                <a16:creationId xmlns:a16="http://schemas.microsoft.com/office/drawing/2014/main" id="{BACCE9D7-3649-BE68-FD9B-9B24E52A5046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98EB1C-EAAC-5D57-ACE6-444706B155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145896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E41AC7-7DE6-4F49-D2A4-87CF772C1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647AA5FA-1518-D7B5-A5F3-1CF27B22BCA6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Agenda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016D13D2-7E02-DC27-57C6-30144026DF4F}"/>
              </a:ext>
            </a:extLst>
          </p:cNvPr>
          <p:cNvSpPr txBox="1"/>
          <p:nvPr/>
        </p:nvSpPr>
        <p:spPr>
          <a:xfrm>
            <a:off x="455846" y="2345635"/>
            <a:ext cx="11239964" cy="36514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What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is a Low Code System?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Designing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a Low Code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Implementing </a:t>
            </a: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Data Layer with </a:t>
            </a: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Entity Framework Core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tr-TR" sz="2800" dirty="0">
                <a:latin typeface="Poppins" panose="00000500000000000000" pitchFamily="2" charset="-94"/>
                <a:cs typeface="Poppins" panose="00000500000000000000" pitchFamily="2" charset="-94"/>
              </a:rPr>
              <a:t>Dealing with </a:t>
            </a:r>
            <a:r>
              <a:rPr lang="tr-TR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Runtime Model Changes</a:t>
            </a:r>
            <a:endParaRPr lang="en-US" sz="28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8477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6E0A0-4779-8D6A-2106-A813E11F1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9DBE882-AD22-0542-42FB-BA361B188627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Introduction to Low Code Systems</a:t>
            </a:r>
            <a:b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2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How, Why and When to Use?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795128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AAF730-42BE-FEBE-27D1-9C01CB799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31D28EA-67AF-7E12-F4A3-46B1146778D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How (What is it really?)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E48F340-D754-2692-99F2-EE7139E56C3C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Creating application </a:t>
            </a:r>
            <a:r>
              <a:rPr lang="en-US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behavior from a model at runtime</a:t>
            </a:r>
            <a:endParaRPr lang="tr-TR" sz="28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endParaRPr lang="en-US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Define entities, logic and UI </a:t>
            </a:r>
            <a:r>
              <a:rPr lang="en-US" sz="2800" b="1" dirty="0">
                <a:latin typeface="Poppins" panose="00000500000000000000" pitchFamily="2" charset="-94"/>
                <a:cs typeface="Poppins" panose="00000500000000000000" pitchFamily="2" charset="-94"/>
              </a:rPr>
              <a:t>as data (model)</a:t>
            </a: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  <a:endParaRPr lang="tr-TR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Runtime interprets the model and executes it </a:t>
            </a:r>
            <a:endParaRPr lang="tr-TR" sz="28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Poppins" panose="00000500000000000000" pitchFamily="2" charset="-94"/>
                <a:cs typeface="Poppins" panose="00000500000000000000" pitchFamily="2" charset="-94"/>
              </a:rPr>
              <a:t>No compilation / no redeploy</a:t>
            </a: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endParaRPr lang="en-US" sz="24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31152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A9604A-785D-9A6B-1BD5-EA5B9AA6F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F18A122-A645-0CD7-DA98-27F90A1EFE8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Why (Why does it exist?)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ACEB4ECB-BC0E-D5D2-5141-E98C00EC1FF1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Faster</a:t>
            </a:r>
            <a:r>
              <a:rPr lang="en-US" sz="2800" dirty="0"/>
              <a:t> delivery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Reduce </a:t>
            </a:r>
            <a:r>
              <a:rPr lang="en-US" sz="2800" b="1" dirty="0"/>
              <a:t>developer dependency</a:t>
            </a:r>
            <a:endParaRPr lang="tr-TR" sz="2800" b="1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Runtime </a:t>
            </a:r>
            <a:r>
              <a:rPr lang="en-US" sz="2800" b="1" dirty="0"/>
              <a:t>flexibility</a:t>
            </a:r>
            <a:r>
              <a:rPr lang="en-US" sz="2800" dirty="0"/>
              <a:t> (change without deploy)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Empower </a:t>
            </a:r>
            <a:r>
              <a:rPr lang="en-US" sz="2800" b="1" dirty="0"/>
              <a:t>domain experts </a:t>
            </a:r>
            <a:r>
              <a:rPr lang="en-US" sz="2800" dirty="0"/>
              <a:t>(not just developers)</a:t>
            </a:r>
            <a:endParaRPr lang="en-US" sz="24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71164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71E760-A331-EA45-57AE-A9031BECC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E74D18AA-4D1F-1AE3-0080-974E699C7B25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When (When should you use it?)</a:t>
            </a: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D0611528-304F-2F5E-8C14-7BE158A8B96A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Data-driven</a:t>
            </a:r>
            <a:r>
              <a:rPr lang="en-US" sz="2800" dirty="0"/>
              <a:t> applications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Internal</a:t>
            </a:r>
            <a:r>
              <a:rPr lang="en-US" sz="2800" dirty="0"/>
              <a:t> / business tools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dirty="0"/>
              <a:t>Rapidly </a:t>
            </a:r>
            <a:r>
              <a:rPr lang="en-US" sz="2800" b="1" dirty="0"/>
              <a:t>evolving</a:t>
            </a:r>
            <a:r>
              <a:rPr lang="en-US" sz="2800" dirty="0"/>
              <a:t> requirements</a:t>
            </a:r>
            <a:endParaRPr lang="tr-TR" sz="2800" dirty="0"/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en-US" sz="2800" b="1" dirty="0"/>
              <a:t>NOT for highly complex domain logic / performance-critical systems</a:t>
            </a:r>
            <a:endParaRPr lang="en-US" sz="24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48865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23D3B4-5795-10C4-09F1-558F70AD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190C413-9DB9-BCCC-7327-9FC6CC4DD5F7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Designing Low Code Systems</a:t>
            </a:r>
            <a:br>
              <a:rPr lang="tr-TR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2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Data Models &amp; Approaches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356311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E5056-AD39-8BF8-99FF-2B5A0C0D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9CB83DD-EC1E-3CEE-2613-014547D923CE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Big Picture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BF716B-38FD-FEA5-690E-028C73B8B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52" y="1033440"/>
            <a:ext cx="9266548" cy="5602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393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9BCDA-B01E-2A54-031A-189C1A79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4B17D5B-7606-3A65-BDAD-3E2EFA7B93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Model vs Data: Where Do We Store?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158206-19D1-8650-2506-EC2E6C911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09" y="1116420"/>
            <a:ext cx="11057642" cy="486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506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9FB36-2305-DB04-06F7-F5909983F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F883362-61C3-E1D0-F8D2-D7EB7713153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JSON-Based Dynamic Model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DC02-86AB-F9ED-E435-D1DAFBBA1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157" y="945037"/>
            <a:ext cx="5936338" cy="561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838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8CE7D7-96E2-A09D-4A99-0150E01F7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A1A45BB-3381-EDBB-FD44-423C519E133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The Database Layer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14DBF1-7886-31B9-BADA-414FF7A58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4966" y="1116420"/>
            <a:ext cx="8062067" cy="486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5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3B1502-1599-892C-32C3-460F60FE6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0C6F03-0A30-4EE8-4E2D-88CCC77BE97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EAV (Entities-Attributes-Values)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214F1C-AAA2-CDC4-509E-67C92286D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639" y="1116420"/>
            <a:ext cx="8342722" cy="33439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F44FFC-65F9-483A-DAAA-9CCB76C88C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489" y="4560293"/>
            <a:ext cx="9785022" cy="137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8639F-378E-9191-FD53-E57E1FF1F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5809FB1A-3BB9-C089-3E02-202B55BEBC7B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Hybrid Approach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1B077790-6B58-B654-FBF1-4B36AF6EA8D0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per Entity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Standard Fields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all tables: Id, CreationTime, IsDeleted, ConcurrencyStamp... etc.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 Field Mapping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requested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JSON-Data </a:t>
            </a: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for rest of the properties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All Dynamic Properties Are;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Filterable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Orderable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Possible to perform any kind of DB-level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JOIN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 panose="020B0604020202020204" pitchFamily="34" charset="0"/>
              <a:buChar char="•"/>
            </a:pPr>
            <a:r>
              <a:rPr lang="tr-TR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DB-Level </a:t>
            </a:r>
            <a:r>
              <a:rPr lang="tr-TR" sz="22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</a:t>
            </a:r>
            <a:endParaRPr lang="tr-TR" sz="22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98607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AD6FCF-F606-FD0F-862E-8D4A0C6F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D9F1BE8-5FC4-1A96-B502-8FF06D268461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DB Schema: Example Hybrid Mapping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23AAAF-B8BC-063B-9B6C-AA3CA97A4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9" y="1027021"/>
            <a:ext cx="3336338" cy="53590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CC87C4-6045-9E02-5C6E-74BE5C28C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289" y="1228975"/>
            <a:ext cx="6867525" cy="11334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24E575-D3EB-414F-75FA-C669B9D87315}"/>
              </a:ext>
            </a:extLst>
          </p:cNvPr>
          <p:cNvSpPr txBox="1"/>
          <p:nvPr/>
        </p:nvSpPr>
        <p:spPr>
          <a:xfrm>
            <a:off x="4920792" y="2799761"/>
            <a:ext cx="65996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Standard Fields</a:t>
            </a:r>
            <a:r>
              <a:rPr lang="tr-TR" dirty="0"/>
              <a:t>: Id, CreatorId, CreationTime, IsDeleted...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DB-Mapped Fields</a:t>
            </a:r>
            <a:r>
              <a:rPr lang="tr-TR" dirty="0"/>
              <a:t>: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b="1" dirty="0"/>
              <a:t>JSON Data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1D00B1B-A258-E43B-C674-924D7B77D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0030" y="3674383"/>
            <a:ext cx="6599628" cy="226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15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A0F3B-46AE-854F-3FCD-70A4B38E4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9D8B019-636D-5B57-BFEF-AE32F73C9F9B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Entity Framework Core</a:t>
            </a:r>
            <a:b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5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Model Configuration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34978944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EF Core feature: SharedTypeEntity — reuse one CLR type across many tables.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name = runtime entity name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Normal IQueryable per logical entity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code-gen, no hundreds of empty classes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3BF6789-E43C-4177-968E-1A0F75F916A6}"/>
              </a:ext>
            </a:extLst>
          </p:cNvPr>
          <p:cNvSpPr/>
          <p:nvPr/>
        </p:nvSpPr>
        <p:spPr>
          <a:xfrm>
            <a:off x="6731000" y="2794000"/>
            <a:ext cx="2540000" cy="1143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Consolas"/>
              </a:rPr>
              <a:t>DynamicEntity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DD6BF9-1771-4EC5-83AD-B9F81602ED03}"/>
              </a:ext>
            </a:extLst>
          </p:cNvPr>
          <p:cNvSpPr/>
          <p:nvPr/>
        </p:nvSpPr>
        <p:spPr>
          <a:xfrm>
            <a:off x="10160000" y="1651000"/>
            <a:ext cx="1397000" cy="635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Product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A618B3-107B-4C23-97EA-679B46E03C06}"/>
              </a:ext>
            </a:extLst>
          </p:cNvPr>
          <p:cNvSpPr/>
          <p:nvPr/>
        </p:nvSpPr>
        <p:spPr>
          <a:xfrm>
            <a:off x="10160000" y="2667000"/>
            <a:ext cx="1397000" cy="635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Customer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5567A6-2605-46E7-B02C-4DC8F645CBBA}"/>
              </a:ext>
            </a:extLst>
          </p:cNvPr>
          <p:cNvSpPr/>
          <p:nvPr/>
        </p:nvSpPr>
        <p:spPr>
          <a:xfrm>
            <a:off x="10160000" y="3683000"/>
            <a:ext cx="1397000" cy="635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Order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F4F0BC-90AE-42F4-9B5A-EF47A567F4F3}"/>
              </a:ext>
            </a:extLst>
          </p:cNvPr>
          <p:cNvSpPr/>
          <p:nvPr/>
        </p:nvSpPr>
        <p:spPr>
          <a:xfrm>
            <a:off x="10160000" y="4699000"/>
            <a:ext cx="1397000" cy="635000"/>
          </a:xfrm>
          <a:prstGeom prst="rect">
            <a:avLst/>
          </a:prstGeom>
          <a:solidFill>
            <a:srgbClr val="8AB6C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Invoice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2A0E0-E38B-43B1-A96D-7582122B34F2}"/>
              </a:ext>
            </a:extLst>
          </p:cNvPr>
          <p:cNvSpPr/>
          <p:nvPr/>
        </p:nvSpPr>
        <p:spPr>
          <a:xfrm rot="-3451728">
            <a:off x="8887561" y="2651125"/>
            <a:ext cx="1655877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ED5F6-CD60-4477-AE11-7B8494447D14}"/>
              </a:ext>
            </a:extLst>
          </p:cNvPr>
          <p:cNvSpPr/>
          <p:nvPr/>
        </p:nvSpPr>
        <p:spPr>
          <a:xfrm rot="-1391915">
            <a:off x="9231898" y="3159125"/>
            <a:ext cx="967203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C037F-DCCE-4707-8844-44B19FA6EA57}"/>
              </a:ext>
            </a:extLst>
          </p:cNvPr>
          <p:cNvSpPr/>
          <p:nvPr/>
        </p:nvSpPr>
        <p:spPr>
          <a:xfrm rot="2132261">
            <a:off x="9169252" y="3667125"/>
            <a:ext cx="1092495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6A933-A4C9-4E35-BDEE-19D7A156C9FB}"/>
              </a:ext>
            </a:extLst>
          </p:cNvPr>
          <p:cNvSpPr/>
          <p:nvPr/>
        </p:nvSpPr>
        <p:spPr>
          <a:xfrm rot="3701955">
            <a:off x="8777933" y="4175125"/>
            <a:ext cx="1875132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63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 | Example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88E082-79C3-208A-68AE-A2477AE5D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50" y="1116421"/>
            <a:ext cx="6124059" cy="31242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8AE6DD-0907-2B54-C75C-60CD4DD6E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50" y="4314341"/>
            <a:ext cx="6680242" cy="213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8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68A8F-00FC-ED92-9778-2060911C9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38E07940-E82C-D530-74FC-009E2096ED7D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Shared Type Entities | Example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2C784-C588-EB7A-7725-F1DBEAD22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25" y="2617596"/>
            <a:ext cx="11097212" cy="2644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18C93E-089B-C959-4B04-33F4F6993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9" y="1443145"/>
            <a:ext cx="9334500" cy="84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51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3A5B66-4AD9-359F-693D-7545D69B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454DDA82-032A-AA61-8FE3-31313B75A922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Indexer Properties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23914B-2B8B-EF3D-E38B-68796A52B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8" y="2956681"/>
            <a:ext cx="7010400" cy="1047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3730DD-7D24-F255-05DA-DD0156632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848" y="4513158"/>
            <a:ext cx="10887075" cy="6762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7962AC-6BA8-F137-E5C4-7618BEA79D61}"/>
              </a:ext>
            </a:extLst>
          </p:cNvPr>
          <p:cNvSpPr txBox="1"/>
          <p:nvPr/>
        </p:nvSpPr>
        <p:spPr>
          <a:xfrm>
            <a:off x="455848" y="1268144"/>
            <a:ext cx="9578697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tr-TR" sz="18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Property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 the Entity Type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 </a:t>
            </a:r>
            <a:r>
              <a:rPr lang="tr-TR" sz="18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Maps to a Field </a:t>
            </a:r>
            <a:r>
              <a:rPr lang="tr-TR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Wingdings" panose="05000000000000000000" pitchFamily="2" charset="2"/>
              </a:rPr>
              <a:t>in the Database Table</a:t>
            </a:r>
            <a:endParaRPr lang="tr-TR" sz="1800" dirty="0">
              <a:solidFill>
                <a:srgbClr val="5C657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Cheaper WHERE / ORDER BY — native SQL paths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18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Indexable, type-checked, query-translatable</a:t>
            </a:r>
          </a:p>
        </p:txBody>
      </p:sp>
    </p:spTree>
    <p:extLst>
      <p:ext uri="{BB962C8B-B14F-4D97-AF65-F5344CB8AC3E}">
        <p14:creationId xmlns:p14="http://schemas.microsoft.com/office/powerpoint/2010/main" val="39850506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Map to JSON Column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1094726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Mapped via owned/JSON entity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schema migration when users add a field</a:t>
            </a:r>
          </a:p>
        </p:txBody>
      </p:sp>
      <p:pic>
        <p:nvPicPr>
          <p:cNvPr id="15" name="Graphic 15" descr="JSON stor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56CA95-F62F-A506-CB1B-1477AF1228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90" y="2345635"/>
            <a:ext cx="9285010" cy="365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41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0DBF85-668F-ABAB-4455-BE71CC302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0379E9FE-EE3A-6484-41AA-15D33B589FD4}"/>
              </a:ext>
            </a:extLst>
          </p:cNvPr>
          <p:cNvSpPr txBox="1">
            <a:spLocks/>
          </p:cNvSpPr>
          <p:nvPr/>
        </p:nvSpPr>
        <p:spPr>
          <a:xfrm>
            <a:off x="455849" y="2655736"/>
            <a:ext cx="11239965" cy="112764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Entity Framework Core</a:t>
            </a:r>
            <a:br>
              <a:rPr lang="tr-TR" sz="43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3500" i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 Model Changes</a:t>
            </a:r>
            <a:endParaRPr lang="en-US" sz="3200" i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</p:spTree>
    <p:extLst>
      <p:ext uri="{BB962C8B-B14F-4D97-AF65-F5344CB8AC3E}">
        <p14:creationId xmlns:p14="http://schemas.microsoft.com/office/powerpoint/2010/main" val="2606317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Invalidating the DbContext Model Cache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3A7DE853-0D18-2508-BA08-5ADF22509FD2}"/>
              </a:ext>
            </a:extLst>
          </p:cNvPr>
          <p:cNvSpPr txBox="1"/>
          <p:nvPr/>
        </p:nvSpPr>
        <p:spPr>
          <a:xfrm>
            <a:off x="455846" y="1250909"/>
            <a:ext cx="11239964" cy="107087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2800" b="1" dirty="0"/>
              <a:t>EF Core Caches the DbContext Model</a:t>
            </a:r>
            <a:br>
              <a:rPr lang="tr-TR" sz="2800" b="1" dirty="0"/>
            </a:br>
            <a:r>
              <a:rPr lang="tr-TR" sz="2800" b="1" dirty="0"/>
              <a:t>&gt; </a:t>
            </a:r>
            <a:r>
              <a:rPr lang="en-US" sz="2400" b="1" dirty="0" err="1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OnModelCreating</a:t>
            </a:r>
            <a:r>
              <a:rPr lang="tr-TR" sz="24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method runs only once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751E64-9A3E-15BA-C585-54BDFFB09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46" y="2743200"/>
            <a:ext cx="11201054" cy="253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1327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8AEC28-2ABD-1522-B72D-61D751D86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5092F09-B220-4E76-5D2C-D99543D79574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Core: Migrating the DB Schema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Metin kutusu 13">
            <a:extLst>
              <a:ext uri="{FF2B5EF4-FFF2-40B4-BE49-F238E27FC236}">
                <a16:creationId xmlns:a16="http://schemas.microsoft.com/office/drawing/2014/main" id="{468B08FE-2EE1-CE0C-33F4-90EE7D7BD4A0}"/>
              </a:ext>
            </a:extLst>
          </p:cNvPr>
          <p:cNvSpPr txBox="1"/>
          <p:nvPr/>
        </p:nvSpPr>
        <p:spPr>
          <a:xfrm>
            <a:off x="476018" y="2893564"/>
            <a:ext cx="11239964" cy="1070872"/>
          </a:xfrm>
          <a:prstGeom prst="rect">
            <a:avLst/>
          </a:prstGeom>
          <a:noFill/>
        </p:spPr>
        <p:txBody>
          <a:bodyPr wrap="square" rtlCol="0">
            <a:normAutofit fontScale="92500" lnSpcReduction="10000"/>
          </a:bodyPr>
          <a:lstStyle/>
          <a:p>
            <a:pPr algn="ctr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</a:pPr>
            <a:r>
              <a:rPr lang="tr-TR" sz="36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Creating </a:t>
            </a:r>
            <a: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Tables, Fields...</a:t>
            </a:r>
            <a:b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tr-TR" sz="3600" b="1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On runtime</a:t>
            </a:r>
            <a:r>
              <a:rPr lang="tr-TR" sz="36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, not design time!</a:t>
            </a:r>
          </a:p>
        </p:txBody>
      </p:sp>
    </p:spTree>
    <p:extLst>
      <p:ext uri="{BB962C8B-B14F-4D97-AF65-F5344CB8AC3E}">
        <p14:creationId xmlns:p14="http://schemas.microsoft.com/office/powerpoint/2010/main" val="4027771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Model: Layering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highest priority — user-defined entities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File / fluent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ops or code-shipped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Compile-time code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baseline shape and defaults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Same graph → EF model + API + UI.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8AEC91-17EC-4809-9CB3-1956356E77A6}"/>
              </a:ext>
            </a:extLst>
          </p:cNvPr>
          <p:cNvSpPr/>
          <p:nvPr/>
        </p:nvSpPr>
        <p:spPr>
          <a:xfrm>
            <a:off x="6731000" y="1651000"/>
            <a:ext cx="4826000" cy="1016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Runtime DB  (highest)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42EA8F-C6D2-4467-8ED4-B97BF0311146}"/>
              </a:ext>
            </a:extLst>
          </p:cNvPr>
          <p:cNvSpPr/>
          <p:nvPr/>
        </p:nvSpPr>
        <p:spPr>
          <a:xfrm>
            <a:off x="6731000" y="2794000"/>
            <a:ext cx="4826000" cy="1016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File / fluent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20E38-6FDF-4D5F-A158-5C5E25682226}"/>
              </a:ext>
            </a:extLst>
          </p:cNvPr>
          <p:cNvSpPr/>
          <p:nvPr/>
        </p:nvSpPr>
        <p:spPr>
          <a:xfrm>
            <a:off x="6731000" y="3937000"/>
            <a:ext cx="4826000" cy="1016000"/>
          </a:xfrm>
          <a:prstGeom prst="rect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Compile-time code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8A39F51-3B7C-480D-A085-3DBA78EABA7B}"/>
              </a:ext>
            </a:extLst>
          </p:cNvPr>
          <p:cNvSpPr/>
          <p:nvPr/>
        </p:nvSpPr>
        <p:spPr>
          <a:xfrm>
            <a:off x="6350000" y="1905000"/>
            <a:ext cx="279400" cy="2794000"/>
          </a:xfrm>
          <a:prstGeom prst="downArrow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EDC88-3B07-4B27-A953-CFA355CDDC9A}"/>
              </a:ext>
            </a:extLst>
          </p:cNvPr>
          <p:cNvSpPr txBox="1"/>
          <p:nvPr/>
        </p:nvSpPr>
        <p:spPr>
          <a:xfrm rot="16200000">
            <a:off x="5588000" y="29845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E97132"/>
                </a:solidFill>
                <a:latin typeface="Poppins"/>
                <a:cs typeface="Poppins"/>
              </a:rPr>
              <a:t>overrides</a:t>
            </a:r>
          </a:p>
        </p:txBody>
      </p:sp>
    </p:spTree>
    <p:extLst>
      <p:ext uri="{BB962C8B-B14F-4D97-AF65-F5344CB8AC3E}">
        <p14:creationId xmlns:p14="http://schemas.microsoft.com/office/powerpoint/2010/main" val="27510802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47AC4-962E-96F5-7B9D-7E8090CC3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801562B-DF55-F118-00C6-0707E787E9B8}"/>
              </a:ext>
            </a:extLst>
          </p:cNvPr>
          <p:cNvSpPr txBox="1">
            <a:spLocks/>
          </p:cNvSpPr>
          <p:nvPr/>
        </p:nvSpPr>
        <p:spPr>
          <a:xfrm>
            <a:off x="455850" y="407657"/>
            <a:ext cx="11239960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Example: C# Dynamic Entity Class</a:t>
            </a:r>
            <a:endParaRPr lang="en-US" sz="3200" b="1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19FED0-885B-4DD3-A2A7-5AF44E696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850" y="1116420"/>
            <a:ext cx="9391692" cy="537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504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17BB97-BCC9-574E-59F2-851978B4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3551E258-AE4B-89EC-1439-33807E9C38DB}"/>
              </a:ext>
            </a:extLst>
          </p:cNvPr>
          <p:cNvSpPr txBox="1">
            <a:spLocks/>
          </p:cNvSpPr>
          <p:nvPr/>
        </p:nvSpPr>
        <p:spPr>
          <a:xfrm>
            <a:off x="709617" y="1333647"/>
            <a:ext cx="6856282" cy="15012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THANKS FOR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LISTENING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5241CB78-F4AE-D9B0-2F94-3CA2B871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3791" y="3041729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C917CDC9-7A11-0492-6A84-23B930AE7B27}"/>
              </a:ext>
            </a:extLst>
          </p:cNvPr>
          <p:cNvSpPr txBox="1"/>
          <p:nvPr/>
        </p:nvSpPr>
        <p:spPr>
          <a:xfrm>
            <a:off x="2085311" y="3107272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87C3FEE7-4E8E-3396-98EA-3E5B75E74E3C}"/>
              </a:ext>
            </a:extLst>
          </p:cNvPr>
          <p:cNvSpPr txBox="1"/>
          <p:nvPr/>
        </p:nvSpPr>
        <p:spPr>
          <a:xfrm>
            <a:off x="2085311" y="3627199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lvl="0"/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</a:t>
            </a:r>
            <a:r>
              <a:rPr lang="tr-TR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V</a:t>
            </a:r>
            <a:r>
              <a:rPr lang="en-US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olosoft</a:t>
            </a:r>
            <a:endParaRPr lang="en-US" dirty="0">
              <a:solidFill>
                <a:srgbClr val="4E525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D216A13A-0DE8-0F81-D058-C43F2067416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1666" y="4516942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5C65CC4D-AAFE-B812-2756-CBA85A3A23E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1666" y="4982969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3C0670F1-6E7F-BFCD-F6CA-876DE9462511}"/>
              </a:ext>
            </a:extLst>
          </p:cNvPr>
          <p:cNvSpPr txBox="1"/>
          <p:nvPr/>
        </p:nvSpPr>
        <p:spPr>
          <a:xfrm>
            <a:off x="1278663" y="4459936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3AF912A-87AB-7552-8EF1-622C7EC021A0}"/>
              </a:ext>
            </a:extLst>
          </p:cNvPr>
          <p:cNvSpPr txBox="1"/>
          <p:nvPr/>
        </p:nvSpPr>
        <p:spPr>
          <a:xfrm>
            <a:off x="1278663" y="4918080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Google Shape;57;p1">
            <a:extLst>
              <a:ext uri="{FF2B5EF4-FFF2-40B4-BE49-F238E27FC236}">
                <a16:creationId xmlns:a16="http://schemas.microsoft.com/office/drawing/2014/main" id="{CB32F8B9-9CE1-2A1F-4D97-D1285A614611}"/>
              </a:ext>
            </a:extLst>
          </p:cNvPr>
          <p:cNvSpPr txBox="1"/>
          <p:nvPr/>
        </p:nvSpPr>
        <p:spPr>
          <a:xfrm>
            <a:off x="8699242" y="2961090"/>
            <a:ext cx="295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Download the Presentation</a:t>
            </a:r>
            <a:endParaRPr lang="en-US" sz="1400" dirty="0">
              <a:solidFill>
                <a:srgbClr val="292D3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" name="Google Shape;82;p3">
            <a:extLst>
              <a:ext uri="{FF2B5EF4-FFF2-40B4-BE49-F238E27FC236}">
                <a16:creationId xmlns:a16="http://schemas.microsoft.com/office/drawing/2014/main" id="{BFAF4943-B80D-EB63-D22C-2DDE5271261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0B44D8-4983-D9B6-904C-2826734FA3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6528" y="3523785"/>
            <a:ext cx="2634906" cy="2634906"/>
          </a:xfrm>
          <a:prstGeom prst="roundRect">
            <a:avLst>
              <a:gd name="adj" fmla="val 9472"/>
            </a:avLst>
          </a:prstGeom>
        </p:spPr>
      </p:pic>
    </p:spTree>
    <p:extLst>
      <p:ext uri="{BB962C8B-B14F-4D97-AF65-F5344CB8AC3E}">
        <p14:creationId xmlns:p14="http://schemas.microsoft.com/office/powerpoint/2010/main" val="324372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CF5372-7508-4E65-80BC-2D1DDEFFAEF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2dfdd31-6be7-4eef-bd1f-fd8298d68ff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881</TotalTime>
  <Words>510</Words>
  <Application>Microsoft Office PowerPoint</Application>
  <PresentationFormat>Widescreen</PresentationFormat>
  <Paragraphs>92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Consolas</vt:lpstr>
      <vt:lpstr>Lexend</vt:lpstr>
      <vt:lpstr>Poppins</vt:lpstr>
      <vt:lpstr>Poppins Medium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112</cp:revision>
  <dcterms:created xsi:type="dcterms:W3CDTF">2024-10-07T11:11:00Z</dcterms:created>
  <dcterms:modified xsi:type="dcterms:W3CDTF">2026-04-26T16:03:48Z</dcterms:modified>
</cp:coreProperties>
</file>