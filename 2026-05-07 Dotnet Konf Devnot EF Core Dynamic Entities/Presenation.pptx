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94" r:id="rId2"/>
    <p:sldId id="354" r:id="rId3"/>
    <p:sldId id="349" r:id="rId4"/>
    <p:sldId id="358" r:id="rId5"/>
    <p:sldId id="355" r:id="rId6"/>
    <p:sldId id="356" r:id="rId7"/>
    <p:sldId id="357" r:id="rId8"/>
    <p:sldId id="348" r:id="rId9"/>
    <p:sldId id="347" r:id="rId10"/>
    <p:sldId id="350" r:id="rId11"/>
    <p:sldId id="351" r:id="rId12"/>
    <p:sldId id="346" r:id="rId13"/>
    <p:sldId id="353" r:id="rId14"/>
    <p:sldId id="352" r:id="rId15"/>
    <p:sldId id="359" r:id="rId16"/>
    <p:sldId id="317" r:id="rId17"/>
    <p:sldId id="326" r:id="rId18"/>
    <p:sldId id="360" r:id="rId19"/>
    <p:sldId id="361" r:id="rId20"/>
    <p:sldId id="338" r:id="rId21"/>
    <p:sldId id="339" r:id="rId22"/>
    <p:sldId id="345" r:id="rId23"/>
    <p:sldId id="321" r:id="rId24"/>
    <p:sldId id="322" r:id="rId25"/>
    <p:sldId id="334" r:id="rId26"/>
    <p:sldId id="327" r:id="rId27"/>
    <p:sldId id="328" r:id="rId28"/>
    <p:sldId id="329" r:id="rId29"/>
    <p:sldId id="332" r:id="rId3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D32"/>
    <a:srgbClr val="5C6571"/>
    <a:srgbClr val="B64294"/>
    <a:srgbClr val="05B0F0"/>
    <a:srgbClr val="414548"/>
    <a:srgbClr val="51575B"/>
    <a:srgbClr val="798595"/>
    <a:srgbClr val="545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4"/>
    <p:restoredTop sz="94658"/>
  </p:normalViewPr>
  <p:slideViewPr>
    <p:cSldViewPr snapToGrid="0">
      <p:cViewPr varScale="1">
        <p:scale>
          <a:sx n="120" d="100"/>
          <a:sy n="120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AE268-3FB1-8B49-A7E8-783BB6480738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E9AE9-BB42-C34B-931A-FD2D50803A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373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B71D12-6014-37ED-D724-E7BD21CD1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7F1C411-FDA3-1EBE-717C-6F5734E73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9C50E4-56B1-4284-626D-7F384E9D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0437F4F-2860-0763-71A6-1B3819F21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64079C-7C9B-7B96-FE94-076E2E53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745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97CEE7-B00F-0FD4-58A2-F1924181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0C2F3B-9EDC-6534-3AD8-D31BECE5E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26D53D-822F-01AD-1D89-A7DB3EB1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969F30-DA4B-B063-8F71-A7236814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D32376F-9008-FE54-58BE-4DA32639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319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8A2D08-8FF3-5C08-8F25-993A149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1FDB1B-5903-E2AC-8921-47169E6F9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BE4E1D-C9EA-1658-DF1D-5BDBE8D5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4ACECCC-9712-9788-CDCA-45B45694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9747ED0-3CA1-4B0C-C742-1A79299F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489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796983-B230-5DF0-A663-44957483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F44C255-0943-116D-BB82-2EF438BCC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4D61C3-1234-4838-79EB-35B63C270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5DEDA43-A814-757B-D488-F63358C8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3B7278F-488C-2C45-942E-08F02446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DB51193-6E02-506C-C594-1E0E34ED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85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5A7B51-33A6-3FED-4F48-BE4D8D6C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7EC8560-CE69-5B8E-1C53-6108C4F9E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1643E41-09C9-5896-C3A0-862DA6583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8386D9F-899E-4925-CAEB-5007B35CE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30CB6D5-BF0C-0551-504B-5EBAB6EC9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D7221D1D-127E-F76D-FED3-7505B2A4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48C8362-1F05-C873-442C-91D11AE4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E9B66BB0-02F6-28A3-A18D-FB3633C1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738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64876C-89C6-387F-D823-335418BB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25550B7-1621-87D1-CD9A-1292A8BF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7836EA5-CBDA-5984-3468-34B155DD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6D5C7CF-B164-C79A-E588-63741216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00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289D3F3-1B89-625F-69E6-95F452A9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F8AEC59-1807-31A8-4117-BCF28EBB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4FA6569-4038-FDAB-F07B-0907B107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920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D7E437-D04B-EDB3-1C9A-321CBD025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FB12BD-CA8F-19C5-E07F-6BA3F3AF2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62264D-61E1-5D00-E98B-44E5785A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B0DDEAF-2FC9-DD9C-4D2B-52F78160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230EFF5-ADB4-7418-AB48-AB229A5C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B610274-958B-D7C0-A9B6-A8EE3263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25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83E5F4-AEAC-ABE8-B970-9C55FBA8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23B1470-DF3A-5F71-2075-BD936E41F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C51B652-01AF-77F0-D7DF-EB1883010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CB569E5-C427-D36E-7AC4-03D1DCD0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20E582B-AAE1-FCFB-8E6D-B4CD48DA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3B2003-2979-7E56-757C-F2BFB47E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408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12CF21-7F7D-0A9C-7B6C-CBCB24CE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BA9B703-9B23-37B6-3BD4-4866A1289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E7340DF-04BF-BF18-1B3F-6925C79D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779988-7071-E382-3E05-704D1388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009D9C1-CA76-0E32-C1A9-9F799233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528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BDF4BA0-CCF6-8DC6-C3F2-DBE2D9FAB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AC172A6-9DA9-E8BF-6E31-EF9F70BDF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664C77-1E81-FD93-F8D9-5868AFF5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8C3791-3A2E-6B3B-23C0-82649FAB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72C615E-D35F-AF24-F70A-A9C6FB99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736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0789D7F-49E3-DAE1-DA9C-C245CBCB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412297F-5A4E-97C8-ABAA-3CEDDC70F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A8255C-5E34-C115-62ED-88A41ACA6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F5D94-9F9C-DF48-BC1C-1A1DDC476D4B}" type="datetimeFigureOut">
              <a:rPr lang="tr-TR" smtClean="0"/>
              <a:t>26.04.2026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0CBE843-EB72-4D28-9329-F013C3F4C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2264BE-BB55-7E8B-A051-A95DB3F61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577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grafik, daire, grafik tasarım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48B4DAD3-B83F-1A37-6973-05CCBD934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1" y="810794"/>
            <a:ext cx="2396890" cy="642598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015320E3-0176-22CE-1CDE-E908C6E1585E}"/>
              </a:ext>
            </a:extLst>
          </p:cNvPr>
          <p:cNvSpPr txBox="1">
            <a:spLocks/>
          </p:cNvSpPr>
          <p:nvPr/>
        </p:nvSpPr>
        <p:spPr>
          <a:xfrm>
            <a:off x="690566" y="1621559"/>
            <a:ext cx="10345109" cy="21023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DYNAMIC ENTITIES IN .NET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Low-Code on EF Core — Lessons from ABP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447589D-5148-04AF-37BB-FE7C25B87E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4741" y="4024966"/>
            <a:ext cx="1039470" cy="1039470"/>
          </a:xfrm>
          <a:prstGeom prst="rect">
            <a:avLst/>
          </a:prstGeom>
        </p:spPr>
      </p:pic>
      <p:sp>
        <p:nvSpPr>
          <p:cNvPr id="5" name="Google Shape;56;p1">
            <a:extLst>
              <a:ext uri="{FF2B5EF4-FFF2-40B4-BE49-F238E27FC236}">
                <a16:creationId xmlns:a16="http://schemas.microsoft.com/office/drawing/2014/main" id="{EC1F3BFE-4173-36BA-E273-4D216E4C760B}"/>
              </a:ext>
            </a:extLst>
          </p:cNvPr>
          <p:cNvSpPr txBox="1"/>
          <p:nvPr/>
        </p:nvSpPr>
        <p:spPr>
          <a:xfrm>
            <a:off x="2066261" y="4090509"/>
            <a:ext cx="6497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92D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Halil İbrahim Kalkan</a:t>
            </a:r>
          </a:p>
        </p:txBody>
      </p:sp>
      <p:sp>
        <p:nvSpPr>
          <p:cNvPr id="6" name="Google Shape;57;p1">
            <a:extLst>
              <a:ext uri="{FF2B5EF4-FFF2-40B4-BE49-F238E27FC236}">
                <a16:creationId xmlns:a16="http://schemas.microsoft.com/office/drawing/2014/main" id="{5B74307E-E9BB-1484-179C-F2D391547F94}"/>
              </a:ext>
            </a:extLst>
          </p:cNvPr>
          <p:cNvSpPr txBox="1"/>
          <p:nvPr/>
        </p:nvSpPr>
        <p:spPr>
          <a:xfrm>
            <a:off x="2066261" y="4610436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Co-founder, </a:t>
            </a:r>
            <a:r>
              <a:rPr lang="tr-TR" sz="1600" dirty="0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1600" dirty="0" err="1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olosoft</a:t>
            </a:r>
            <a:endParaRPr lang="en-US" sz="1600" dirty="0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Google Shape;59;p1">
            <a:extLst>
              <a:ext uri="{FF2B5EF4-FFF2-40B4-BE49-F238E27FC236}">
                <a16:creationId xmlns:a16="http://schemas.microsoft.com/office/drawing/2014/main" id="{846EB880-027A-B440-595A-7ACCA7B47A9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2616" y="5500179"/>
            <a:ext cx="318353" cy="31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0;p1">
            <a:extLst>
              <a:ext uri="{FF2B5EF4-FFF2-40B4-BE49-F238E27FC236}">
                <a16:creationId xmlns:a16="http://schemas.microsoft.com/office/drawing/2014/main" id="{C2874D93-BCD8-4318-4BC4-E08A83EF49B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2616" y="5966206"/>
            <a:ext cx="318352" cy="31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61;p1">
            <a:extLst>
              <a:ext uri="{FF2B5EF4-FFF2-40B4-BE49-F238E27FC236}">
                <a16:creationId xmlns:a16="http://schemas.microsoft.com/office/drawing/2014/main" id="{581AB1EE-B2BC-B41F-4751-8F68C7C3F015}"/>
              </a:ext>
            </a:extLst>
          </p:cNvPr>
          <p:cNvSpPr txBox="1"/>
          <p:nvPr/>
        </p:nvSpPr>
        <p:spPr>
          <a:xfrm>
            <a:off x="1259613" y="5443173"/>
            <a:ext cx="523793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292D33"/>
                </a:solidFill>
                <a:latin typeface="Poppins"/>
                <a:ea typeface="Poppins"/>
                <a:cs typeface="Poppins"/>
                <a:sym typeface="Poppins"/>
              </a:rPr>
              <a:t>hibrahimkalkan</a:t>
            </a:r>
            <a:endParaRPr lang="en-US" sz="1500" dirty="0">
              <a:solidFill>
                <a:srgbClr val="292D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62;p1">
            <a:extLst>
              <a:ext uri="{FF2B5EF4-FFF2-40B4-BE49-F238E27FC236}">
                <a16:creationId xmlns:a16="http://schemas.microsoft.com/office/drawing/2014/main" id="{59F8CAA3-EA35-AA7C-4946-2DCFEC622153}"/>
              </a:ext>
            </a:extLst>
          </p:cNvPr>
          <p:cNvSpPr txBox="1"/>
          <p:nvPr/>
        </p:nvSpPr>
        <p:spPr>
          <a:xfrm>
            <a:off x="1259613" y="5901317"/>
            <a:ext cx="523793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292D33"/>
                </a:solidFill>
                <a:latin typeface="Poppins"/>
                <a:ea typeface="Poppins"/>
                <a:cs typeface="Poppins"/>
                <a:sym typeface="Poppins"/>
              </a:rPr>
              <a:t>hikalkan</a:t>
            </a:r>
            <a:endParaRPr lang="en-US" sz="1500" dirty="0">
              <a:solidFill>
                <a:srgbClr val="292D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57;p1">
            <a:extLst>
              <a:ext uri="{FF2B5EF4-FFF2-40B4-BE49-F238E27FC236}">
                <a16:creationId xmlns:a16="http://schemas.microsoft.com/office/drawing/2014/main" id="{BACCE9D7-3649-BE68-FD9B-9B24E52A5046}"/>
              </a:ext>
            </a:extLst>
          </p:cNvPr>
          <p:cNvSpPr txBox="1"/>
          <p:nvPr/>
        </p:nvSpPr>
        <p:spPr>
          <a:xfrm>
            <a:off x="8699242" y="2961090"/>
            <a:ext cx="295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dirty="0">
                <a:solidFill>
                  <a:srgbClr val="292D32"/>
                </a:solidFill>
                <a:latin typeface="Poppins"/>
                <a:ea typeface="Poppins"/>
                <a:cs typeface="Poppins"/>
                <a:sym typeface="Poppins"/>
              </a:rPr>
              <a:t>Download the Presentation</a:t>
            </a:r>
            <a:endParaRPr lang="en-US" sz="1400" dirty="0">
              <a:solidFill>
                <a:srgbClr val="292D3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Google Shape;82;p3">
            <a:extLst>
              <a:ext uri="{FF2B5EF4-FFF2-40B4-BE49-F238E27FC236}">
                <a16:creationId xmlns:a16="http://schemas.microsoft.com/office/drawing/2014/main" id="{B25361F7-0FA7-054C-DCA8-FF866A07E27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99242" y="3361290"/>
            <a:ext cx="2957700" cy="29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98EB1C-EAAC-5D57-ACE6-444706B155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6528" y="3523785"/>
            <a:ext cx="2634906" cy="2634906"/>
          </a:xfrm>
          <a:prstGeom prst="roundRect">
            <a:avLst>
              <a:gd name="adj" fmla="val 9472"/>
            </a:avLst>
          </a:prstGeom>
        </p:spPr>
      </p:pic>
    </p:spTree>
    <p:extLst>
      <p:ext uri="{BB962C8B-B14F-4D97-AF65-F5344CB8AC3E}">
        <p14:creationId xmlns:p14="http://schemas.microsoft.com/office/powerpoint/2010/main" val="145896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41AC7-7DE6-4F49-D2A4-87CF772C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647AA5FA-1518-D7B5-A5F3-1CF27B22BCA6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Agenda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" name="Metin kutusu 13">
            <a:extLst>
              <a:ext uri="{FF2B5EF4-FFF2-40B4-BE49-F238E27FC236}">
                <a16:creationId xmlns:a16="http://schemas.microsoft.com/office/drawing/2014/main" id="{016D13D2-7E02-DC27-57C6-30144026DF4F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600" b="1" dirty="0">
                <a:latin typeface="Poppins" panose="00000500000000000000" pitchFamily="2" charset="-94"/>
                <a:cs typeface="Poppins" panose="00000500000000000000" pitchFamily="2" charset="-94"/>
              </a:rPr>
              <a:t>What </a:t>
            </a:r>
            <a:r>
              <a:rPr lang="tr-TR" sz="3600" dirty="0">
                <a:latin typeface="Poppins" panose="00000500000000000000" pitchFamily="2" charset="-94"/>
                <a:cs typeface="Poppins" panose="00000500000000000000" pitchFamily="2" charset="-94"/>
              </a:rPr>
              <a:t>is a Low Code System?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600" b="1" dirty="0">
                <a:latin typeface="Poppins" panose="00000500000000000000" pitchFamily="2" charset="-94"/>
                <a:cs typeface="Poppins" panose="00000500000000000000" pitchFamily="2" charset="-94"/>
              </a:rPr>
              <a:t>Designing </a:t>
            </a:r>
            <a:r>
              <a:rPr lang="tr-TR" sz="3600" dirty="0">
                <a:latin typeface="Poppins" panose="00000500000000000000" pitchFamily="2" charset="-94"/>
                <a:cs typeface="Poppins" panose="00000500000000000000" pitchFamily="2" charset="-94"/>
              </a:rPr>
              <a:t>a Low Code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3600" b="1" dirty="0">
                <a:latin typeface="Poppins" panose="00000500000000000000" pitchFamily="2" charset="-94"/>
                <a:cs typeface="Poppins" panose="00000500000000000000" pitchFamily="2" charset="-94"/>
              </a:rPr>
              <a:t>Implementing </a:t>
            </a:r>
            <a:r>
              <a:rPr lang="tr-TR" sz="3600" dirty="0">
                <a:latin typeface="Poppins" panose="00000500000000000000" pitchFamily="2" charset="-94"/>
                <a:cs typeface="Poppins" panose="00000500000000000000" pitchFamily="2" charset="-94"/>
              </a:rPr>
              <a:t>Data Layer with </a:t>
            </a:r>
            <a:r>
              <a:rPr lang="tr-TR" sz="3600" b="1" dirty="0">
                <a:latin typeface="Poppins" panose="00000500000000000000" pitchFamily="2" charset="-94"/>
                <a:cs typeface="Poppins" panose="00000500000000000000" pitchFamily="2" charset="-94"/>
              </a:rPr>
              <a:t>Entity Framework Core</a:t>
            </a:r>
            <a:endParaRPr lang="en-US" sz="3600" b="1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</a:pPr>
            <a:endParaRPr lang="en-US" sz="32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4773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6E0A0-4779-8D6A-2106-A813E11F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89DBE882-AD22-0542-42FB-BA361B188627}"/>
              </a:ext>
            </a:extLst>
          </p:cNvPr>
          <p:cNvSpPr txBox="1">
            <a:spLocks/>
          </p:cNvSpPr>
          <p:nvPr/>
        </p:nvSpPr>
        <p:spPr>
          <a:xfrm>
            <a:off x="455849" y="2655736"/>
            <a:ext cx="11239965" cy="11276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Introduction to Low Code Systems</a:t>
            </a:r>
            <a:br>
              <a:rPr lang="tr-TR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tr-TR" sz="3200" i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How, Why and When to Use?</a:t>
            </a:r>
            <a:endParaRPr lang="en-US" sz="3200" i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  <p:extLst>
      <p:ext uri="{BB962C8B-B14F-4D97-AF65-F5344CB8AC3E}">
        <p14:creationId xmlns:p14="http://schemas.microsoft.com/office/powerpoint/2010/main" val="279512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AF730-42BE-FEBE-27D1-9C01CB79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531D28EA-67AF-7E12-F4A3-46B1146778DB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How (What is it really?)</a:t>
            </a:r>
          </a:p>
        </p:txBody>
      </p:sp>
      <p:sp>
        <p:nvSpPr>
          <p:cNvPr id="2" name="Metin kutusu 13">
            <a:extLst>
              <a:ext uri="{FF2B5EF4-FFF2-40B4-BE49-F238E27FC236}">
                <a16:creationId xmlns:a16="http://schemas.microsoft.com/office/drawing/2014/main" id="{1E48F340-D754-2692-99F2-EE7139E56C3C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800" dirty="0">
                <a:latin typeface="Poppins" panose="00000500000000000000" pitchFamily="2" charset="-94"/>
                <a:cs typeface="Poppins" panose="00000500000000000000" pitchFamily="2" charset="-94"/>
              </a:rPr>
              <a:t>Creating application </a:t>
            </a:r>
            <a:r>
              <a:rPr lang="en-US" sz="2800" b="1" dirty="0">
                <a:latin typeface="Poppins" panose="00000500000000000000" pitchFamily="2" charset="-94"/>
                <a:cs typeface="Poppins" panose="00000500000000000000" pitchFamily="2" charset="-94"/>
              </a:rPr>
              <a:t>behavior from a model at runtime</a:t>
            </a:r>
            <a:endParaRPr lang="tr-TR" sz="2800" b="1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endParaRPr lang="en-US" sz="28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-94"/>
                <a:cs typeface="Poppins" panose="00000500000000000000" pitchFamily="2" charset="-94"/>
              </a:rPr>
              <a:t>Define entities, logic and UI </a:t>
            </a:r>
            <a:r>
              <a:rPr lang="en-US" sz="2800" b="1" dirty="0">
                <a:latin typeface="Poppins" panose="00000500000000000000" pitchFamily="2" charset="-94"/>
                <a:cs typeface="Poppins" panose="00000500000000000000" pitchFamily="2" charset="-94"/>
              </a:rPr>
              <a:t>as data (model)</a:t>
            </a:r>
            <a:r>
              <a:rPr lang="en-US" sz="2800" dirty="0">
                <a:latin typeface="Poppins" panose="00000500000000000000" pitchFamily="2" charset="-94"/>
                <a:cs typeface="Poppins" panose="00000500000000000000" pitchFamily="2" charset="-94"/>
              </a:rPr>
              <a:t> </a:t>
            </a:r>
            <a:endParaRPr lang="tr-TR" sz="28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-94"/>
                <a:cs typeface="Poppins" panose="00000500000000000000" pitchFamily="2" charset="-94"/>
              </a:rPr>
              <a:t>Runtime interprets the model and executes it </a:t>
            </a:r>
            <a:endParaRPr lang="tr-TR" sz="2800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Poppins" panose="00000500000000000000" pitchFamily="2" charset="-94"/>
                <a:cs typeface="Poppins" panose="00000500000000000000" pitchFamily="2" charset="-94"/>
              </a:rPr>
              <a:t>No compilation / no redeploy</a:t>
            </a:r>
          </a:p>
          <a:p>
            <a:pPr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</a:pPr>
            <a:endParaRPr lang="en-US" sz="24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11527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9604A-785D-9A6B-1BD5-EA5B9AA6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F18A122-A645-0CD7-DA98-27F90A1EFE89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Why (Why does it exist?)</a:t>
            </a:r>
          </a:p>
        </p:txBody>
      </p:sp>
      <p:sp>
        <p:nvSpPr>
          <p:cNvPr id="2" name="Metin kutusu 13">
            <a:extLst>
              <a:ext uri="{FF2B5EF4-FFF2-40B4-BE49-F238E27FC236}">
                <a16:creationId xmlns:a16="http://schemas.microsoft.com/office/drawing/2014/main" id="{ACEB4ECB-BC0E-D5D2-5141-E98C00EC1FF1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b="1" dirty="0"/>
              <a:t>Faster</a:t>
            </a:r>
            <a:r>
              <a:rPr lang="en-US" sz="2800" dirty="0"/>
              <a:t> delivery</a:t>
            </a:r>
            <a:endParaRPr lang="tr-TR" sz="2800" dirty="0"/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Reduce </a:t>
            </a:r>
            <a:r>
              <a:rPr lang="en-US" sz="2800" b="1" dirty="0"/>
              <a:t>developer dependency</a:t>
            </a:r>
            <a:endParaRPr lang="tr-TR" sz="2800" b="1" dirty="0"/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Runtime </a:t>
            </a:r>
            <a:r>
              <a:rPr lang="en-US" sz="2800" b="1" dirty="0"/>
              <a:t>flexibility</a:t>
            </a:r>
            <a:r>
              <a:rPr lang="en-US" sz="2800" dirty="0"/>
              <a:t> (change without deploy)</a:t>
            </a:r>
            <a:endParaRPr lang="tr-TR" sz="2800" dirty="0"/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Empower </a:t>
            </a:r>
            <a:r>
              <a:rPr lang="en-US" sz="2800" b="1" dirty="0"/>
              <a:t>domain experts </a:t>
            </a:r>
            <a:r>
              <a:rPr lang="en-US" sz="2800" dirty="0"/>
              <a:t>(not just developers)</a:t>
            </a:r>
            <a:endParaRPr lang="en-US" sz="2400" dirty="0">
              <a:solidFill>
                <a:srgbClr val="5C657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7116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1E760-A331-EA45-57AE-A9031BEC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E74D18AA-4D1F-1AE3-0080-974E699C7B25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When (When should you use it?)</a:t>
            </a:r>
          </a:p>
        </p:txBody>
      </p:sp>
      <p:sp>
        <p:nvSpPr>
          <p:cNvPr id="2" name="Metin kutusu 13">
            <a:extLst>
              <a:ext uri="{FF2B5EF4-FFF2-40B4-BE49-F238E27FC236}">
                <a16:creationId xmlns:a16="http://schemas.microsoft.com/office/drawing/2014/main" id="{D0611528-304F-2F5E-8C14-7BE158A8B96A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Data-driven applications</a:t>
            </a:r>
            <a:endParaRPr lang="tr-TR" sz="2800" dirty="0"/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Internal / business tools</a:t>
            </a:r>
            <a:endParaRPr lang="tr-TR" sz="2800" dirty="0"/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Rapidly evolving requirements</a:t>
            </a:r>
            <a:endParaRPr lang="tr-TR" sz="2800" dirty="0"/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en-US" sz="2800" b="1" dirty="0"/>
              <a:t>NOT for highly complex domain logic / performance-critical systems</a:t>
            </a:r>
            <a:endParaRPr lang="en-US" sz="2400" dirty="0">
              <a:solidFill>
                <a:srgbClr val="5C657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8865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3D3B4-5795-10C4-09F1-558F70AD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5190C413-9DB9-BCCC-7327-9FC6CC4DD5F7}"/>
              </a:ext>
            </a:extLst>
          </p:cNvPr>
          <p:cNvSpPr txBox="1">
            <a:spLocks/>
          </p:cNvSpPr>
          <p:nvPr/>
        </p:nvSpPr>
        <p:spPr>
          <a:xfrm>
            <a:off x="455849" y="2655736"/>
            <a:ext cx="11239965" cy="11276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Designing Low Code Systems</a:t>
            </a:r>
            <a:br>
              <a:rPr lang="tr-TR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tr-TR" sz="3200" i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Data Models &amp; Approaches</a:t>
            </a:r>
            <a:endParaRPr lang="en-US" sz="3200" i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  <p:extLst>
      <p:ext uri="{BB962C8B-B14F-4D97-AF65-F5344CB8AC3E}">
        <p14:creationId xmlns:p14="http://schemas.microsoft.com/office/powerpoint/2010/main" val="235631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E5056-AD39-8BF8-99FF-2B5A0C0D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9CB83DD-EC1E-3CEE-2613-014547D923CE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The Big Picture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F716B-38FD-FEA5-690E-028C73B8B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52" y="1033440"/>
            <a:ext cx="9266548" cy="560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9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9BCDA-B01E-2A54-031A-189C1A79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4B17D5B-7606-3A65-BDAD-3E2EFA7B93EC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Model vs Data: Where Do We Store?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158206-19D1-8650-2506-EC2E6C911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09" y="1116420"/>
            <a:ext cx="11057642" cy="486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0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9FB36-2305-DB04-06F7-F5909983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F883362-61C3-E1D0-F8D2-D7EB77131531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JSON-Based Dynamic Model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4DC02-86AB-F9ED-E435-D1DAFBBA1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57" y="945037"/>
            <a:ext cx="5936338" cy="561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3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CE7D7-96E2-A09D-4A99-0150E01F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A1A45BB-3381-EDBB-FD44-423C519E1330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The Database Layer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14DBF1-7886-31B9-BADA-414FF7A5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966" y="1116420"/>
            <a:ext cx="8062067" cy="486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B1502-1599-892C-32C3-460F60FE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20C6F03-0A30-4EE8-4E2D-88CCC77BE971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DB Schema: EAV (Entities-Attributes-Values)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214F1C-AAA2-CDC4-509E-67C92286D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639" y="1116420"/>
            <a:ext cx="8342722" cy="33439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F44FFC-65F9-483A-DAAA-9CCB76C88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489" y="4560293"/>
            <a:ext cx="9785022" cy="137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3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8639F-378E-9191-FD53-E57E1FF1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5809FB1A-3BB9-C089-3E02-202B55BEBC7B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DB Schema: Hybrid Approach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" name="Metin kutusu 13">
            <a:extLst>
              <a:ext uri="{FF2B5EF4-FFF2-40B4-BE49-F238E27FC236}">
                <a16:creationId xmlns:a16="http://schemas.microsoft.com/office/drawing/2014/main" id="{1B077790-6B58-B654-FBF1-4B36AF6EA8D0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Table per Entity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Standard Fields </a:t>
            </a:r>
            <a:r>
              <a:rPr lang="tr-TR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for all tables: Id, CreationTime, IsDeleted, ConcurrencyStamp... etc.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DB Field Mapping </a:t>
            </a:r>
            <a:r>
              <a:rPr lang="tr-TR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for requested properties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JSON-Data </a:t>
            </a:r>
            <a:r>
              <a:rPr lang="tr-TR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for rest of the properties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endParaRPr lang="tr-TR" sz="2200" dirty="0">
              <a:solidFill>
                <a:srgbClr val="5C657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</a:pPr>
            <a:r>
              <a:rPr lang="tr-TR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All Dynamic Properties Are;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Filterable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Orderable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Possible to perform any kind of DB-level </a:t>
            </a: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JOIN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Clr>
                <a:srgbClr val="196B24"/>
              </a:buClr>
              <a:buFont typeface="Arial" panose="020B0604020202020204" pitchFamily="34" charset="0"/>
              <a:buChar char="•"/>
            </a:pPr>
            <a:r>
              <a:rPr lang="tr-TR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DB-Level </a:t>
            </a:r>
            <a:r>
              <a:rPr lang="tr-TR" sz="2200" b="1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Indexable</a:t>
            </a:r>
            <a:endParaRPr lang="tr-TR" sz="2200" dirty="0">
              <a:solidFill>
                <a:srgbClr val="5C657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860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D6FCF-F606-FD0F-862E-8D4A0C6F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0D9F1BE8-5FC4-1A96-B502-8FF06D268461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DB Schema: Example Hybrid Mapping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23AAAF-B8BC-063B-9B6C-AA3CA97A4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49" y="1027021"/>
            <a:ext cx="3336338" cy="53590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CC87C4-6045-9E02-5C6E-74BE5C28C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289" y="1228975"/>
            <a:ext cx="6867525" cy="1133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24E575-D3EB-414F-75FA-C669B9D87315}"/>
              </a:ext>
            </a:extLst>
          </p:cNvPr>
          <p:cNvSpPr txBox="1"/>
          <p:nvPr/>
        </p:nvSpPr>
        <p:spPr>
          <a:xfrm>
            <a:off x="4920792" y="2799761"/>
            <a:ext cx="65996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Standard Fields</a:t>
            </a:r>
            <a:r>
              <a:rPr lang="tr-TR" dirty="0"/>
              <a:t>: Id, CreatorId, CreationTime, IsDeleted...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DB-Mapped Fields</a:t>
            </a:r>
            <a:r>
              <a:rPr lang="tr-TR" dirty="0"/>
              <a:t>: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JSON Data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D00B1B-A258-E43B-C674-924D7B77D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030" y="3674383"/>
            <a:ext cx="6599628" cy="226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15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A0F3B-46AE-854F-3FCD-70A4B38E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9D8B019-636D-5B57-BFEF-AE32F73C9F9B}"/>
              </a:ext>
            </a:extLst>
          </p:cNvPr>
          <p:cNvSpPr txBox="1">
            <a:spLocks/>
          </p:cNvSpPr>
          <p:nvPr/>
        </p:nvSpPr>
        <p:spPr>
          <a:xfrm>
            <a:off x="455849" y="2655736"/>
            <a:ext cx="11239965" cy="11276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Designing Low Code Systems</a:t>
            </a:r>
            <a:br>
              <a:rPr lang="tr-TR" sz="40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tr-TR" sz="3200" i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Data Models &amp; Approaches</a:t>
            </a:r>
            <a:endParaRPr lang="en-US" sz="3200" i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  <p:extLst>
      <p:ext uri="{BB962C8B-B14F-4D97-AF65-F5344CB8AC3E}">
        <p14:creationId xmlns:p14="http://schemas.microsoft.com/office/powerpoint/2010/main" val="3497894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EF Core: Shared Type Entities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7200" y="1397000"/>
            <a:ext cx="5842000" cy="4572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EF Core feature: SharedTypeEntity — reuse one CLR type across many tables.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Table name = runtime entity name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Normal IQueryable per logical entity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No code-gen, no hundreds of empty classes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BF6789-E43C-4177-968E-1A0F75F916A6}"/>
              </a:ext>
            </a:extLst>
          </p:cNvPr>
          <p:cNvSpPr/>
          <p:nvPr/>
        </p:nvSpPr>
        <p:spPr>
          <a:xfrm>
            <a:off x="6731000" y="2794000"/>
            <a:ext cx="2540000" cy="1143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Consolas"/>
              </a:rPr>
              <a:t>DynamicEntity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DD6BF9-1771-4EC5-83AD-B9F81602ED03}"/>
              </a:ext>
            </a:extLst>
          </p:cNvPr>
          <p:cNvSpPr/>
          <p:nvPr/>
        </p:nvSpPr>
        <p:spPr>
          <a:xfrm>
            <a:off x="10160000" y="1651000"/>
            <a:ext cx="1397000" cy="63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onsolas"/>
              </a:rPr>
              <a:t>Product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618B3-107B-4C23-97EA-679B46E03C06}"/>
              </a:ext>
            </a:extLst>
          </p:cNvPr>
          <p:cNvSpPr/>
          <p:nvPr/>
        </p:nvSpPr>
        <p:spPr>
          <a:xfrm>
            <a:off x="10160000" y="2667000"/>
            <a:ext cx="1397000" cy="635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onsolas"/>
              </a:rPr>
              <a:t>Customer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567A6-2605-46E7-B02C-4DC8F645CBBA}"/>
              </a:ext>
            </a:extLst>
          </p:cNvPr>
          <p:cNvSpPr/>
          <p:nvPr/>
        </p:nvSpPr>
        <p:spPr>
          <a:xfrm>
            <a:off x="10160000" y="3683000"/>
            <a:ext cx="1397000" cy="635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onsolas"/>
              </a:rPr>
              <a:t>Order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4F0BC-90AE-42F4-9B5A-EF47A567F4F3}"/>
              </a:ext>
            </a:extLst>
          </p:cNvPr>
          <p:cNvSpPr/>
          <p:nvPr/>
        </p:nvSpPr>
        <p:spPr>
          <a:xfrm>
            <a:off x="10160000" y="4699000"/>
            <a:ext cx="1397000" cy="635000"/>
          </a:xfrm>
          <a:prstGeom prst="rect">
            <a:avLst/>
          </a:prstGeom>
          <a:solidFill>
            <a:srgbClr val="8AB6C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onsolas"/>
              </a:rPr>
              <a:t>Invoice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2A0E0-E38B-43B1-A96D-7582122B34F2}"/>
              </a:ext>
            </a:extLst>
          </p:cNvPr>
          <p:cNvSpPr/>
          <p:nvPr/>
        </p:nvSpPr>
        <p:spPr>
          <a:xfrm rot="-3451728">
            <a:off x="8887561" y="2651125"/>
            <a:ext cx="1655877" cy="31750"/>
          </a:xfrm>
          <a:prstGeom prst="rect">
            <a:avLst/>
          </a:prstGeom>
          <a:solidFill>
            <a:srgbClr val="5C65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AED5F6-CD60-4477-AE11-7B8494447D14}"/>
              </a:ext>
            </a:extLst>
          </p:cNvPr>
          <p:cNvSpPr/>
          <p:nvPr/>
        </p:nvSpPr>
        <p:spPr>
          <a:xfrm rot="-1391915">
            <a:off x="9231898" y="3159125"/>
            <a:ext cx="967203" cy="31750"/>
          </a:xfrm>
          <a:prstGeom prst="rect">
            <a:avLst/>
          </a:prstGeom>
          <a:solidFill>
            <a:srgbClr val="5C65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4C037F-DCCE-4707-8844-44B19FA6EA57}"/>
              </a:ext>
            </a:extLst>
          </p:cNvPr>
          <p:cNvSpPr/>
          <p:nvPr/>
        </p:nvSpPr>
        <p:spPr>
          <a:xfrm rot="2132261">
            <a:off x="9169252" y="3667125"/>
            <a:ext cx="1092495" cy="31750"/>
          </a:xfrm>
          <a:prstGeom prst="rect">
            <a:avLst/>
          </a:prstGeom>
          <a:solidFill>
            <a:srgbClr val="5C65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6A933-A4C9-4E35-BDEE-19D7A156C9FB}"/>
              </a:ext>
            </a:extLst>
          </p:cNvPr>
          <p:cNvSpPr/>
          <p:nvPr/>
        </p:nvSpPr>
        <p:spPr>
          <a:xfrm rot="3701955">
            <a:off x="8777933" y="4175125"/>
            <a:ext cx="1875132" cy="31750"/>
          </a:xfrm>
          <a:prstGeom prst="rect">
            <a:avLst/>
          </a:prstGeom>
          <a:solidFill>
            <a:srgbClr val="5C65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63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EF Core: Shared Type Entities | Example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88E082-79C3-208A-68AE-A2477AE5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50" y="1116421"/>
            <a:ext cx="6124059" cy="3124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8AE6DD-0907-2B54-C75C-60CD4DD6E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50" y="4314341"/>
            <a:ext cx="6680242" cy="21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88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68A8F-00FC-ED92-9778-2060911C9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8E07940-E82C-D530-74FC-009E2096ED7D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EF Core: Shared Type Entities | Example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2C784-C588-EB7A-7725-F1DBEAD22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94" y="2106726"/>
            <a:ext cx="11097212" cy="26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51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A5B66-4AD9-359F-693D-7545D69B5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4DDA82-032A-AA61-8FE3-31313B75A922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EF Core: Indexer Properties</a:t>
            </a:r>
            <a:endParaRPr lang="en-US" sz="3200" b="1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  <p:extLst>
      <p:ext uri="{BB962C8B-B14F-4D97-AF65-F5344CB8AC3E}">
        <p14:creationId xmlns:p14="http://schemas.microsoft.com/office/powerpoint/2010/main" val="3985050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PROMOTE HOT FIELDS TO REAL COLUMNS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IndexerProperty bridges runtime descriptors to real EF columns.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Cheaper WHERE / ORDER BY — native SQL paths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Defaults and nullability matter on existing rows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Indexable, type-checked, query-translatable</a:t>
            </a:r>
          </a:p>
          <a:p>
            <a:pPr marL="0" indent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2841"/>
                </a:solidFill>
                <a:latin typeface="Consolas"/>
                <a:ea typeface="Consolas"/>
                <a:cs typeface="Consolas"/>
                <a:sym typeface="Consolas"/>
              </a:rPr>
              <a:t>entity.IndexerProperty&lt;decimal&gt;("Price")</a:t>
            </a:r>
          </a:p>
        </p:txBody>
      </p:sp>
      <p:pic>
        <p:nvPicPr>
          <p:cNvPr id="15" name="Graphic 15" descr="Promo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4572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29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JSON FOR THE LONG TAIL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JSON Data column — plus columns, not instead.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Mapped via owned/JSON entity configuration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Rarely-filtered fields stay here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No schema migration when users add a field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Promote later — when usage proves it</a:t>
            </a:r>
          </a:p>
        </p:txBody>
      </p:sp>
      <p:pic>
        <p:nvPicPr>
          <p:cNvPr id="15" name="Graphic 15" descr="JSON stor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4572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17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EF CORE CACHES THE MODEL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If runtime descriptors change but the cached model does not — confusing bugs.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Default cache key ≈ DbContext type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Add a model version to invalidate on change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Implement IModelCacheKeyFactory</a:t>
            </a:r>
          </a:p>
          <a:p>
            <a:pPr marL="0" indent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E2841"/>
                </a:solidFill>
                <a:latin typeface="Consolas"/>
                <a:ea typeface="Consolas"/>
                <a:cs typeface="Consolas"/>
                <a:sym typeface="Consolas"/>
              </a:rPr>
              <a:t>(DbContextType, ModelVersion, designTime)</a:t>
            </a:r>
          </a:p>
        </p:txBody>
      </p:sp>
      <p:pic>
        <p:nvPicPr>
          <p:cNvPr id="15" name="Graphic 15" descr="Cache refre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4572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3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SCHEMA WITHOUT A MIGRATION PER ENTITY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7200" y="1397000"/>
            <a:ext cx="11239500" cy="2794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Runtime DDL complements your normal migrations — it does not replace them.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AutoNum type="arabicPeriod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Inspect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create table or compare current columns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AutoNum type="arabicPeriod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Alter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add missing mapped columns, provider-aware SQL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AutoNum type="arabicPeriod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Backfill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set defaults on existing rows first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AutoNum type="arabicPeriod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Constrain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tighten NOT NULL only after backfill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B44BD6C-3CB6-497A-B195-2D88E24D11CB}"/>
              </a:ext>
            </a:extLst>
          </p:cNvPr>
          <p:cNvSpPr/>
          <p:nvPr/>
        </p:nvSpPr>
        <p:spPr>
          <a:xfrm>
            <a:off x="571500" y="4572000"/>
            <a:ext cx="2540000" cy="1143000"/>
          </a:xfrm>
          <a:prstGeom prst="homePlate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Lexend"/>
              </a:rPr>
              <a:t>Inspect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D0A4BB28-D58E-44EB-BF3F-DC92132A9176}"/>
              </a:ext>
            </a:extLst>
          </p:cNvPr>
          <p:cNvSpPr/>
          <p:nvPr/>
        </p:nvSpPr>
        <p:spPr>
          <a:xfrm>
            <a:off x="3390900" y="4572000"/>
            <a:ext cx="2540000" cy="1143000"/>
          </a:xfrm>
          <a:prstGeom prst="homePlat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Lexend"/>
              </a:rPr>
              <a:t>Alter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848C3BE-2B0E-493F-BE00-6F20F856F391}"/>
              </a:ext>
            </a:extLst>
          </p:cNvPr>
          <p:cNvSpPr/>
          <p:nvPr/>
        </p:nvSpPr>
        <p:spPr>
          <a:xfrm>
            <a:off x="6210300" y="4572000"/>
            <a:ext cx="2540000" cy="1143000"/>
          </a:xfrm>
          <a:prstGeom prst="homePlat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Lexend"/>
              </a:rPr>
              <a:t>Backfill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093CE-1606-4C57-B55A-6D80FB5C76B6}"/>
              </a:ext>
            </a:extLst>
          </p:cNvPr>
          <p:cNvSpPr/>
          <p:nvPr/>
        </p:nvSpPr>
        <p:spPr>
          <a:xfrm>
            <a:off x="9029700" y="4572000"/>
            <a:ext cx="2540000" cy="1143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Lexend"/>
              </a:rPr>
              <a:t>Constrain</a:t>
            </a:r>
          </a:p>
        </p:txBody>
      </p:sp>
    </p:spTree>
    <p:extLst>
      <p:ext uri="{BB962C8B-B14F-4D97-AF65-F5344CB8AC3E}">
        <p14:creationId xmlns:p14="http://schemas.microsoft.com/office/powerpoint/2010/main" val="3037262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ONE PIPELINE, MANY STEPS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7200" y="1397000"/>
            <a:ext cx="11239500" cy="2794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Centralize composition — otherwise every feature reinvents stringly-typed queries.</a:t>
            </a:r>
          </a:p>
          <a:p>
            <a:pPr marL="0" indent="0"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156082"/>
                </a:solidFill>
                <a:latin typeface="Consolas"/>
                <a:ea typeface="Consolas"/>
                <a:cs typeface="Consolas"/>
                <a:sym typeface="Consolas"/>
              </a:rPr>
              <a:t>API → Filter → Sort → Join → SQL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IQueryable from a typed repository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Search + filters with AND/OR composition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Dynamic sort — including FK display fields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/>
              <a:buChar char="•"/>
            </a:pP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Joins added only when the projection needs them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BEFF36B-EAE5-41E7-8D07-CEDAEF97BEC1}"/>
              </a:ext>
            </a:extLst>
          </p:cNvPr>
          <p:cNvSpPr/>
          <p:nvPr/>
        </p:nvSpPr>
        <p:spPr>
          <a:xfrm>
            <a:off x="571500" y="4572000"/>
            <a:ext cx="2057400" cy="1143000"/>
          </a:xfrm>
          <a:prstGeom prst="homePlat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Lexend"/>
              </a:rPr>
              <a:t>API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F161E5E-166D-4705-94E3-F7FBD072EFBE}"/>
              </a:ext>
            </a:extLst>
          </p:cNvPr>
          <p:cNvSpPr/>
          <p:nvPr/>
        </p:nvSpPr>
        <p:spPr>
          <a:xfrm>
            <a:off x="2781300" y="4572000"/>
            <a:ext cx="2057400" cy="1143000"/>
          </a:xfrm>
          <a:prstGeom prst="homePlate">
            <a:avLst/>
          </a:prstGeom>
          <a:solidFill>
            <a:srgbClr val="4A8F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Lexend"/>
              </a:rPr>
              <a:t>Filter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8864EDE-0259-4EC4-8A1D-339A07E6FEB3}"/>
              </a:ext>
            </a:extLst>
          </p:cNvPr>
          <p:cNvSpPr/>
          <p:nvPr/>
        </p:nvSpPr>
        <p:spPr>
          <a:xfrm>
            <a:off x="4991100" y="4572000"/>
            <a:ext cx="2057400" cy="1143000"/>
          </a:xfrm>
          <a:prstGeom prst="homePlat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Lexend"/>
              </a:rPr>
              <a:t>Sort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634663F-AFF2-40CB-9FB3-F923D7B3348F}"/>
              </a:ext>
            </a:extLst>
          </p:cNvPr>
          <p:cNvSpPr/>
          <p:nvPr/>
        </p:nvSpPr>
        <p:spPr>
          <a:xfrm>
            <a:off x="7200900" y="4572000"/>
            <a:ext cx="2057400" cy="1143000"/>
          </a:xfrm>
          <a:prstGeom prst="homePlate">
            <a:avLst/>
          </a:prstGeom>
          <a:solidFill>
            <a:srgbClr val="C45A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Lexend"/>
              </a:rPr>
              <a:t>Join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17C3E-1DAB-470F-947D-08587CB0B9CF}"/>
              </a:ext>
            </a:extLst>
          </p:cNvPr>
          <p:cNvSpPr/>
          <p:nvPr/>
        </p:nvSpPr>
        <p:spPr>
          <a:xfrm>
            <a:off x="9410700" y="4572000"/>
            <a:ext cx="2057400" cy="1143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Lexend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3290781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ONE DESCRIPTOR GRAPH, MANY SOURCES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7200" y="1397000"/>
            <a:ext cx="5842000" cy="4572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Single source of truth after merge — no drift between EF and the app.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Runtime DB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highest priority — user-defined entities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File / fluent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ops or code-shipped configuration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/>
              <a:buChar char="•"/>
            </a:pPr>
            <a:r>
              <a:rPr lang="en-US" sz="22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Compile-time code</a:t>
            </a:r>
            <a:r>
              <a:rPr lang="en-US" sz="2200" dirty="0">
                <a:solidFill>
                  <a:srgbClr val="5C6571"/>
                </a:solidFill>
                <a:latin typeface="Poppins"/>
                <a:ea typeface="Poppins"/>
                <a:cs typeface="Poppins"/>
                <a:sym typeface="Poppins"/>
              </a:rPr>
              <a:t> — baseline shape and defaults</a:t>
            </a:r>
          </a:p>
          <a:p>
            <a:pPr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E97132"/>
                </a:solidFill>
                <a:latin typeface="Poppins"/>
                <a:ea typeface="Poppins"/>
                <a:cs typeface="Poppins"/>
                <a:sym typeface="Poppins"/>
              </a:rPr>
              <a:t>Same graph → EF model + API + UI.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8AEC91-17EC-4809-9CB3-1956356E77A6}"/>
              </a:ext>
            </a:extLst>
          </p:cNvPr>
          <p:cNvSpPr/>
          <p:nvPr/>
        </p:nvSpPr>
        <p:spPr>
          <a:xfrm>
            <a:off x="6731000" y="1651000"/>
            <a:ext cx="4826000" cy="1016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Runtime DB  (highest)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42EA8F-C6D2-4467-8ED4-B97BF0311146}"/>
              </a:ext>
            </a:extLst>
          </p:cNvPr>
          <p:cNvSpPr/>
          <p:nvPr/>
        </p:nvSpPr>
        <p:spPr>
          <a:xfrm>
            <a:off x="6731000" y="2794000"/>
            <a:ext cx="4826000" cy="1016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File / fluent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120E38-6FDF-4D5F-A158-5C5E25682226}"/>
              </a:ext>
            </a:extLst>
          </p:cNvPr>
          <p:cNvSpPr/>
          <p:nvPr/>
        </p:nvSpPr>
        <p:spPr>
          <a:xfrm>
            <a:off x="6731000" y="3937000"/>
            <a:ext cx="4826000" cy="1016000"/>
          </a:xfrm>
          <a:prstGeom prst="rect">
            <a:avLst/>
          </a:prstGeom>
          <a:solidFill>
            <a:srgbClr val="4A8F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Compile-time code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8A39F51-3B7C-480D-A085-3DBA78EABA7B}"/>
              </a:ext>
            </a:extLst>
          </p:cNvPr>
          <p:cNvSpPr/>
          <p:nvPr/>
        </p:nvSpPr>
        <p:spPr>
          <a:xfrm>
            <a:off x="6350000" y="1905000"/>
            <a:ext cx="279400" cy="2794000"/>
          </a:xfrm>
          <a:prstGeom prst="down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EDC88-3B07-4B27-A953-CFA355CDDC9A}"/>
              </a:ext>
            </a:extLst>
          </p:cNvPr>
          <p:cNvSpPr txBox="1"/>
          <p:nvPr/>
        </p:nvSpPr>
        <p:spPr>
          <a:xfrm rot="16200000">
            <a:off x="5588000" y="29845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E97132"/>
                </a:solidFill>
                <a:latin typeface="Poppins"/>
                <a:cs typeface="Poppins"/>
              </a:rPr>
              <a:t>overrides</a:t>
            </a:r>
          </a:p>
        </p:txBody>
      </p:sp>
    </p:spTree>
    <p:extLst>
      <p:ext uri="{BB962C8B-B14F-4D97-AF65-F5344CB8AC3E}">
        <p14:creationId xmlns:p14="http://schemas.microsoft.com/office/powerpoint/2010/main" val="2751080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REGISTER MANY LOGICAL ENTITIES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800" i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One CLR type — looped over your descriptors at startup.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0E2841"/>
                </a:solidFill>
                <a:latin typeface="Consolas"/>
                <a:ea typeface="Consolas"/>
                <a:cs typeface="Consolas"/>
                <a:sym typeface="Consolas"/>
              </a:rPr>
              <a:t>foreach (var def in entities)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0E284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modelBuilder.SharedTypeEntity&lt;DynamicEntity&gt;(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    def.Name, b =&gt;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    b.ToTable(def.Name);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    b.HasKey(x =&gt; x.Id);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196B24"/>
                </a:solidFill>
                <a:latin typeface="Consolas"/>
                <a:ea typeface="Consolas"/>
                <a:cs typeface="Consolas"/>
                <a:sym typeface="Consolas"/>
              </a:rPr>
              <a:t>        // … mapped properties + JSON Data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0E284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4532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MAP HOT FIELDS + JSON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196B24"/>
                </a:solidFill>
                <a:latin typeface="Consolas"/>
                <a:ea typeface="Consolas"/>
                <a:cs typeface="Consolas"/>
                <a:sym typeface="Consolas"/>
              </a:rPr>
              <a:t>// Promote: descriptor → real column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var p = entity.IndexerProperty&lt;decimal&gt;("Price");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p.IsRequired();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p.HasDefaultValue(0m);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700" dirty="0">
              <a:solidFill>
                <a:srgbClr val="292D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196B24"/>
                </a:solidFill>
                <a:latin typeface="Consolas"/>
                <a:ea typeface="Consolas"/>
                <a:cs typeface="Consolas"/>
                <a:sym typeface="Consolas"/>
              </a:rPr>
              <a:t>// Long tail — stored as JSON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entity.ComplexProperty&lt;Dictionary&lt;string, object?&gt;&gt;(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    nameof(DynamicEntity.Data), d =&gt; d.ToJson());</a:t>
            </a:r>
          </a:p>
        </p:txBody>
      </p:sp>
    </p:spTree>
    <p:extLst>
      <p:ext uri="{BB962C8B-B14F-4D97-AF65-F5344CB8AC3E}">
        <p14:creationId xmlns:p14="http://schemas.microsoft.com/office/powerpoint/2010/main" val="2321236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RUNTIME: CACHE · SCHEMA · QUERY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1. Cache key includes a model version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(context.GetType(), DynamicModel.Version, designTime)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2. Schema: add column → backfill → alter NOT NULL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ALTER TABLE Product ADD Price DECIMAL NULL;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UPDATE Product SET Price = 0 WHERE Price IS NULL;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ALTER TABLE Product ALTER COLUMN Price DECIMAL NOT NULL;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56082"/>
                </a:solidFill>
                <a:latin typeface="Poppins"/>
                <a:ea typeface="Poppins"/>
                <a:cs typeface="Poppins"/>
                <a:sym typeface="Poppins"/>
              </a:rPr>
              <a:t>3. Query: filter → sort → page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292D33"/>
                </a:solidFill>
                <a:latin typeface="Consolas"/>
                <a:ea typeface="Consolas"/>
                <a:cs typeface="Consolas"/>
                <a:sym typeface="Consolas"/>
              </a:rPr>
              <a:t>query.Where(…).OrderBy(…).Skip(s).Take(n);</a:t>
            </a:r>
          </a:p>
        </p:txBody>
      </p:sp>
    </p:spTree>
    <p:extLst>
      <p:ext uri="{BB962C8B-B14F-4D97-AF65-F5344CB8AC3E}">
        <p14:creationId xmlns:p14="http://schemas.microsoft.com/office/powerpoint/2010/main" val="3671730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7BB97-BCC9-574E-59F2-851978B4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3551E258-AE4B-89EC-1439-33807E9C38DB}"/>
              </a:ext>
            </a:extLst>
          </p:cNvPr>
          <p:cNvSpPr txBox="1">
            <a:spLocks/>
          </p:cNvSpPr>
          <p:nvPr/>
        </p:nvSpPr>
        <p:spPr>
          <a:xfrm>
            <a:off x="709617" y="1333647"/>
            <a:ext cx="6856282" cy="1501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b="1" dirty="0">
                <a:solidFill>
                  <a:srgbClr val="292D32"/>
                </a:solidFill>
                <a:latin typeface="Lexend" pitchFamily="2" charset="0"/>
                <a:ea typeface="Lexend"/>
                <a:cs typeface="Lexend"/>
                <a:sym typeface="Lexend"/>
              </a:rPr>
              <a:t>THANKS FOR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500" b="1" dirty="0">
                <a:solidFill>
                  <a:srgbClr val="292D32"/>
                </a:solidFill>
                <a:latin typeface="Lexend" pitchFamily="2" charset="0"/>
                <a:ea typeface="Lexend"/>
                <a:cs typeface="Lexend"/>
                <a:sym typeface="Lexend"/>
              </a:rPr>
              <a:t>LISTENING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241CB78-F4AE-D9B0-2F94-3CA2B871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791" y="3041729"/>
            <a:ext cx="1039470" cy="1039470"/>
          </a:xfrm>
          <a:prstGeom prst="rect">
            <a:avLst/>
          </a:prstGeom>
        </p:spPr>
      </p:pic>
      <p:sp>
        <p:nvSpPr>
          <p:cNvPr id="5" name="Google Shape;56;p1">
            <a:extLst>
              <a:ext uri="{FF2B5EF4-FFF2-40B4-BE49-F238E27FC236}">
                <a16:creationId xmlns:a16="http://schemas.microsoft.com/office/drawing/2014/main" id="{C917CDC9-7A11-0492-6A84-23B930AE7B27}"/>
              </a:ext>
            </a:extLst>
          </p:cNvPr>
          <p:cNvSpPr txBox="1"/>
          <p:nvPr/>
        </p:nvSpPr>
        <p:spPr>
          <a:xfrm>
            <a:off x="2085311" y="3107272"/>
            <a:ext cx="6497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292D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Halil İbrahim Kalkan</a:t>
            </a:r>
          </a:p>
        </p:txBody>
      </p:sp>
      <p:sp>
        <p:nvSpPr>
          <p:cNvPr id="6" name="Google Shape;57;p1">
            <a:extLst>
              <a:ext uri="{FF2B5EF4-FFF2-40B4-BE49-F238E27FC236}">
                <a16:creationId xmlns:a16="http://schemas.microsoft.com/office/drawing/2014/main" id="{87C3FEE7-4E8E-3396-98EA-3E5B75E74E3C}"/>
              </a:ext>
            </a:extLst>
          </p:cNvPr>
          <p:cNvSpPr txBox="1"/>
          <p:nvPr/>
        </p:nvSpPr>
        <p:spPr>
          <a:xfrm>
            <a:off x="2085311" y="3627199"/>
            <a:ext cx="64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Co-founder, </a:t>
            </a:r>
            <a:r>
              <a:rPr lang="tr-TR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>
                <a:solidFill>
                  <a:srgbClr val="4E5258"/>
                </a:solidFill>
                <a:latin typeface="Poppins"/>
                <a:ea typeface="Poppins"/>
                <a:cs typeface="Poppins"/>
                <a:sym typeface="Poppins"/>
              </a:rPr>
              <a:t>olosoft</a:t>
            </a:r>
            <a:endParaRPr lang="en-US" dirty="0">
              <a:solidFill>
                <a:srgbClr val="4E525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Google Shape;59;p1">
            <a:extLst>
              <a:ext uri="{FF2B5EF4-FFF2-40B4-BE49-F238E27FC236}">
                <a16:creationId xmlns:a16="http://schemas.microsoft.com/office/drawing/2014/main" id="{D216A13A-0DE8-0F81-D058-C43F2067416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666" y="4516942"/>
            <a:ext cx="318353" cy="31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0;p1">
            <a:extLst>
              <a:ext uri="{FF2B5EF4-FFF2-40B4-BE49-F238E27FC236}">
                <a16:creationId xmlns:a16="http://schemas.microsoft.com/office/drawing/2014/main" id="{5C65CC4D-AAFE-B812-2756-CBA85A3A23E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666" y="4982969"/>
            <a:ext cx="318352" cy="31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61;p1">
            <a:extLst>
              <a:ext uri="{FF2B5EF4-FFF2-40B4-BE49-F238E27FC236}">
                <a16:creationId xmlns:a16="http://schemas.microsoft.com/office/drawing/2014/main" id="{3C0670F1-6E7F-BFCD-F6CA-876DE9462511}"/>
              </a:ext>
            </a:extLst>
          </p:cNvPr>
          <p:cNvSpPr txBox="1"/>
          <p:nvPr/>
        </p:nvSpPr>
        <p:spPr>
          <a:xfrm>
            <a:off x="1278663" y="4459936"/>
            <a:ext cx="523793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292D33"/>
                </a:solidFill>
                <a:latin typeface="Poppins"/>
                <a:ea typeface="Poppins"/>
                <a:cs typeface="Poppins"/>
                <a:sym typeface="Poppins"/>
              </a:rPr>
              <a:t>hibrahimkalkan</a:t>
            </a:r>
            <a:endParaRPr lang="en-US" sz="1500" dirty="0">
              <a:solidFill>
                <a:srgbClr val="292D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62;p1">
            <a:extLst>
              <a:ext uri="{FF2B5EF4-FFF2-40B4-BE49-F238E27FC236}">
                <a16:creationId xmlns:a16="http://schemas.microsoft.com/office/drawing/2014/main" id="{53AF912A-87AB-7552-8EF1-622C7EC021A0}"/>
              </a:ext>
            </a:extLst>
          </p:cNvPr>
          <p:cNvSpPr txBox="1"/>
          <p:nvPr/>
        </p:nvSpPr>
        <p:spPr>
          <a:xfrm>
            <a:off x="1278663" y="4918080"/>
            <a:ext cx="523793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None/>
            </a:pPr>
            <a:r>
              <a:rPr lang="tr-TR" sz="1500" dirty="0">
                <a:solidFill>
                  <a:srgbClr val="292D33"/>
                </a:solidFill>
                <a:latin typeface="Poppins"/>
                <a:ea typeface="Poppins"/>
                <a:cs typeface="Poppins"/>
                <a:sym typeface="Poppins"/>
              </a:rPr>
              <a:t>hikalkan</a:t>
            </a:r>
            <a:endParaRPr lang="en-US" sz="1500" dirty="0">
              <a:solidFill>
                <a:srgbClr val="292D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57;p1">
            <a:extLst>
              <a:ext uri="{FF2B5EF4-FFF2-40B4-BE49-F238E27FC236}">
                <a16:creationId xmlns:a16="http://schemas.microsoft.com/office/drawing/2014/main" id="{CB32F8B9-9CE1-2A1F-4D97-D1285A614611}"/>
              </a:ext>
            </a:extLst>
          </p:cNvPr>
          <p:cNvSpPr txBox="1"/>
          <p:nvPr/>
        </p:nvSpPr>
        <p:spPr>
          <a:xfrm>
            <a:off x="8699242" y="2961090"/>
            <a:ext cx="295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dirty="0">
                <a:solidFill>
                  <a:srgbClr val="292D32"/>
                </a:solidFill>
                <a:latin typeface="Poppins"/>
                <a:ea typeface="Poppins"/>
                <a:cs typeface="Poppins"/>
                <a:sym typeface="Poppins"/>
              </a:rPr>
              <a:t>Download the Presentation</a:t>
            </a:r>
            <a:endParaRPr lang="en-US" sz="1400" dirty="0">
              <a:solidFill>
                <a:srgbClr val="292D3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Google Shape;82;p3">
            <a:extLst>
              <a:ext uri="{FF2B5EF4-FFF2-40B4-BE49-F238E27FC236}">
                <a16:creationId xmlns:a16="http://schemas.microsoft.com/office/drawing/2014/main" id="{BFAF4943-B80D-EB63-D22C-2DDE5271261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9242" y="3361290"/>
            <a:ext cx="2957700" cy="29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B44D8-4983-D9B6-904C-2826734FA3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6528" y="3523785"/>
            <a:ext cx="2634906" cy="2634906"/>
          </a:xfrm>
          <a:prstGeom prst="roundRect">
            <a:avLst>
              <a:gd name="adj" fmla="val 9472"/>
            </a:avLst>
          </a:prstGeom>
        </p:spPr>
      </p:pic>
    </p:spTree>
    <p:extLst>
      <p:ext uri="{BB962C8B-B14F-4D97-AF65-F5344CB8AC3E}">
        <p14:creationId xmlns:p14="http://schemas.microsoft.com/office/powerpoint/2010/main" val="324372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CF5372-7508-4E65-80BC-2D1DDEFFAEF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2dfdd31-6be7-4eef-bd1f-fd8298d68f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880</Words>
  <Application>Microsoft Office PowerPoint</Application>
  <PresentationFormat>Widescreen</PresentationFormat>
  <Paragraphs>150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Consolas</vt:lpstr>
      <vt:lpstr>Lexend</vt:lpstr>
      <vt:lpstr>Poppins</vt:lpstr>
      <vt:lpstr>Poppins Medium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Volosoft Bilisim</dc:creator>
  <cp:lastModifiedBy>Halil Kalkan</cp:lastModifiedBy>
  <cp:revision>90</cp:revision>
  <dcterms:created xsi:type="dcterms:W3CDTF">2024-10-07T11:11:00Z</dcterms:created>
  <dcterms:modified xsi:type="dcterms:W3CDTF">2026-04-26T14:37:01Z</dcterms:modified>
</cp:coreProperties>
</file>