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94" r:id="rId2"/>
    <p:sldId id="333" r:id="rId3"/>
    <p:sldId id="336" r:id="rId4"/>
    <p:sldId id="337" r:id="rId5"/>
    <p:sldId id="334" r:id="rId6"/>
    <p:sldId id="335" r:id="rId7"/>
    <p:sldId id="317" r:id="rId8"/>
    <p:sldId id="338" r:id="rId9"/>
    <p:sldId id="339" r:id="rId10"/>
    <p:sldId id="345" r:id="rId11"/>
    <p:sldId id="321" r:id="rId12"/>
    <p:sldId id="322" r:id="rId13"/>
    <p:sldId id="341" r:id="rId14"/>
    <p:sldId id="342" r:id="rId15"/>
    <p:sldId id="343" r:id="rId16"/>
    <p:sldId id="326" r:id="rId17"/>
    <p:sldId id="327" r:id="rId18"/>
    <p:sldId id="328" r:id="rId19"/>
    <p:sldId id="329" r:id="rId20"/>
    <p:sldId id="344" r:id="rId21"/>
    <p:sldId id="332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94"/>
    <p:restoredTop sz="94658"/>
  </p:normalViewPr>
  <p:slideViewPr>
    <p:cSldViewPr snapToGrid="0">
      <p:cViewPr varScale="1">
        <p:scale>
          <a:sx n="102" d="100"/>
          <a:sy n="102" d="100"/>
        </p:scale>
        <p:origin x="13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25.04.2026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1621559"/>
            <a:ext cx="10345109" cy="210237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 ENTITIES IN .NET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Low-Code on EF Core — Lessons from ABP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4447589D-5148-04AF-37BB-FE7C25B87E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94741" y="4024966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EC1F3BFE-4173-36BA-E273-4D216E4C760B}"/>
              </a:ext>
            </a:extLst>
          </p:cNvPr>
          <p:cNvSpPr txBox="1"/>
          <p:nvPr/>
        </p:nvSpPr>
        <p:spPr>
          <a:xfrm>
            <a:off x="2066261" y="4090509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5B74307E-E9BB-1484-179C-F2D391547F94}"/>
              </a:ext>
            </a:extLst>
          </p:cNvPr>
          <p:cNvSpPr txBox="1"/>
          <p:nvPr/>
        </p:nvSpPr>
        <p:spPr>
          <a:xfrm>
            <a:off x="2066261" y="4610436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Co-founder, ABP · volosoft.com</a:t>
            </a: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846EB880-027A-B440-595A-7ACCA7B47A98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52616" y="5500179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C2874D93-BCD8-4318-4BC4-E08A83EF49B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52616" y="5966206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581AB1EE-B2BC-B41F-4751-8F68C7C3F015}"/>
              </a:ext>
            </a:extLst>
          </p:cNvPr>
          <p:cNvSpPr txBox="1"/>
          <p:nvPr/>
        </p:nvSpPr>
        <p:spPr>
          <a:xfrm>
            <a:off x="1259613" y="5443173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9F8CAA3-EA35-AA7C-4946-2DCFEC622153}"/>
              </a:ext>
            </a:extLst>
          </p:cNvPr>
          <p:cNvSpPr txBox="1"/>
          <p:nvPr/>
        </p:nvSpPr>
        <p:spPr>
          <a:xfrm>
            <a:off x="1259613" y="5901317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57;p1">
            <a:extLst>
              <a:ext uri="{FF2B5EF4-FFF2-40B4-BE49-F238E27FC236}">
                <a16:creationId xmlns:a16="http://schemas.microsoft.com/office/drawing/2014/main" id="{BACCE9D7-3649-BE68-FD9B-9B24E52A5046}"/>
              </a:ext>
            </a:extLst>
          </p:cNvPr>
          <p:cNvSpPr txBox="1"/>
          <p:nvPr/>
        </p:nvSpPr>
        <p:spPr>
          <a:xfrm>
            <a:off x="8980939" y="2961090"/>
            <a:ext cx="2394301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github.com/abpframework</a:t>
            </a: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B25361F7-0FA7-054C-DCA8-FF866A07E270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699242" y="3361290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Resim 18" descr="kalıp, desen, düzen, grafik, grafik tasarım, tasarım içeren bir resim&#10;&#10;Açıklama otomatik olarak oluşturuldu">
            <a:extLst>
              <a:ext uri="{FF2B5EF4-FFF2-40B4-BE49-F238E27FC236}">
                <a16:creationId xmlns:a16="http://schemas.microsoft.com/office/drawing/2014/main" id="{BAA39AE7-D742-BC06-6EE1-563EED2DE7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8182" y="3573458"/>
            <a:ext cx="2519817" cy="2533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9663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WHY DYNAMIC ENTITIES HURT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588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Business wants speed. Production wants predictability.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Runtime shape, not compile-time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Schema keeps changing as users add fields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Query, sort, filter — everywhere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Tension: flexibility vs maintainability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5D6BBF6-2D58-491C-B566-BDC3BFD094F7}"/>
              </a:ext>
            </a:extLst>
          </p:cNvPr>
          <p:cNvSpPr/>
          <p:nvPr/>
        </p:nvSpPr>
        <p:spPr>
          <a:xfrm>
            <a:off x="6477000" y="1397000"/>
            <a:ext cx="2527300" cy="2209800"/>
          </a:xfrm>
          <a:prstGeom prst="round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Flexibility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Add fields at runtime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0D5377C-2C02-4CE3-AD2B-53FD3DBE0482}"/>
              </a:ext>
            </a:extLst>
          </p:cNvPr>
          <p:cNvSpPr/>
          <p:nvPr/>
        </p:nvSpPr>
        <p:spPr>
          <a:xfrm>
            <a:off x="9156700" y="1397000"/>
            <a:ext cx="2527300" cy="2209800"/>
          </a:xfrm>
          <a:prstGeom prst="round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Performance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Indexes, fast queries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AB200A-FA02-41D0-863D-448D395411D3}"/>
              </a:ext>
            </a:extLst>
          </p:cNvPr>
          <p:cNvSpPr/>
          <p:nvPr/>
        </p:nvSpPr>
        <p:spPr>
          <a:xfrm>
            <a:off x="6477000" y="3759200"/>
            <a:ext cx="2527300" cy="2209800"/>
          </a:xfrm>
          <a:prstGeom prst="round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Safety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Constraints, integrity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605D7B5-4601-4CCA-B2CD-6128B0A6DF66}"/>
              </a:ext>
            </a:extLst>
          </p:cNvPr>
          <p:cNvSpPr/>
          <p:nvPr/>
        </p:nvSpPr>
        <p:spPr>
          <a:xfrm>
            <a:off x="9156700" y="3759200"/>
            <a:ext cx="2527300" cy="22098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Productivity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Low-code velocity</a:t>
            </a:r>
          </a:p>
        </p:txBody>
      </p:sp>
    </p:spTree>
    <p:extLst>
      <p:ext uri="{BB962C8B-B14F-4D97-AF65-F5344CB8AC3E}">
        <p14:creationId xmlns:p14="http://schemas.microsoft.com/office/powerpoint/2010/main" val="618693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PICK YOUR POISON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Three classic patterns. None are wrong. Each has a price.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EAV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flexible, painful queries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blob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easy writes, hot paths struggle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Fixed schema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fast queries, low runtime freedom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Low-code needs a hybrid.</a:t>
            </a:r>
          </a:p>
        </p:txBody>
      </p:sp>
      <p:pic>
        <p:nvPicPr>
          <p:cNvPr id="15" name="Graphic 15" descr="Trade-off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44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WHAT WE NEEDED — ABP LOW CODE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Why JSON-only or pure EAV was not enough.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Define entities and properties at runtime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CRUD with search, sort, paging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Tenant + audit baseline out of the box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Promote hot fields to real columns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Safe schema operations on live data</a:t>
            </a:r>
          </a:p>
        </p:txBody>
      </p:sp>
      <p:pic>
        <p:nvPicPr>
          <p:cNvPr id="15" name="Graphic 15" descr="Requirement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927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ONE DESCRIPTOR GRAPH, MANY SOURCES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Single source of truth after merge — no drift between EF and the app.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Runtime DB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highest priority — user-defined entities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File / fluent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ops or code-shipped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Compile-time code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baseline shape and defaults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Same graph → EF model + API + UI.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8AEC91-17EC-4809-9CB3-1956356E77A6}"/>
              </a:ext>
            </a:extLst>
          </p:cNvPr>
          <p:cNvSpPr/>
          <p:nvPr/>
        </p:nvSpPr>
        <p:spPr>
          <a:xfrm>
            <a:off x="6731000" y="1651000"/>
            <a:ext cx="4826000" cy="1016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Runtime DB  (highest)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42EA8F-C6D2-4467-8ED4-B97BF0311146}"/>
              </a:ext>
            </a:extLst>
          </p:cNvPr>
          <p:cNvSpPr/>
          <p:nvPr/>
        </p:nvSpPr>
        <p:spPr>
          <a:xfrm>
            <a:off x="6731000" y="2794000"/>
            <a:ext cx="4826000" cy="1016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File / fluent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8120E38-6FDF-4D5F-A158-5C5E25682226}"/>
              </a:ext>
            </a:extLst>
          </p:cNvPr>
          <p:cNvSpPr/>
          <p:nvPr/>
        </p:nvSpPr>
        <p:spPr>
          <a:xfrm>
            <a:off x="6731000" y="3937000"/>
            <a:ext cx="4826000" cy="1016000"/>
          </a:xfrm>
          <a:prstGeom prst="rect">
            <a:avLst/>
          </a:prstGeom>
          <a:solidFill>
            <a:srgbClr val="4A8F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Compile-time code</a:t>
            </a: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B8A39F51-3B7C-480D-A085-3DBA78EABA7B}"/>
              </a:ext>
            </a:extLst>
          </p:cNvPr>
          <p:cNvSpPr/>
          <p:nvPr/>
        </p:nvSpPr>
        <p:spPr>
          <a:xfrm>
            <a:off x="6350000" y="1905000"/>
            <a:ext cx="279400" cy="2794000"/>
          </a:xfrm>
          <a:prstGeom prst="downArrow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8EDC88-3B07-4B27-A953-CFA355CDDC9A}"/>
              </a:ext>
            </a:extLst>
          </p:cNvPr>
          <p:cNvSpPr txBox="1"/>
          <p:nvPr/>
        </p:nvSpPr>
        <p:spPr>
          <a:xfrm rot="16200000">
            <a:off x="5588000" y="2984500"/>
            <a:ext cx="1524000" cy="304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200" i="1">
                <a:solidFill>
                  <a:srgbClr val="E97132"/>
                </a:solidFill>
                <a:latin typeface="Poppins"/>
                <a:cs typeface="Poppins"/>
              </a:rPr>
              <a:t>overrides</a:t>
            </a:r>
          </a:p>
        </p:txBody>
      </p:sp>
    </p:spTree>
    <p:extLst>
      <p:ext uri="{BB962C8B-B14F-4D97-AF65-F5344CB8AC3E}">
        <p14:creationId xmlns:p14="http://schemas.microsoft.com/office/powerpoint/2010/main" val="2751080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HYBRID STORAGE, ON PURPOSE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11239500" cy="279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Mapped when it matters. Flexible everywhere else.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Standard columns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Id, TenantId, audit, soft-delete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Mapped dynamic columns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fields you filter, sort, or join 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Data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long tail — rarely queried fields</a:t>
            </a:r>
          </a:p>
          <a:p>
            <a:pPr marL="0" indent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E97132"/>
                </a:solidFill>
                <a:latin typeface="Consolas"/>
                <a:ea typeface="Consolas"/>
                <a:cs typeface="Consolas"/>
                <a:sym typeface="Consolas"/>
              </a:rPr>
              <a:t>[ std cols | hot dyn cols | JSON Data 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8762A8-0438-4C33-AC81-F1D2532A0F20}"/>
              </a:ext>
            </a:extLst>
          </p:cNvPr>
          <p:cNvSpPr/>
          <p:nvPr/>
        </p:nvSpPr>
        <p:spPr>
          <a:xfrm>
            <a:off x="571500" y="4445000"/>
            <a:ext cx="3048000" cy="1397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Standard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Id, TenantId, audit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9A4946-5639-4B9D-8979-D1C02DE7093C}"/>
              </a:ext>
            </a:extLst>
          </p:cNvPr>
          <p:cNvSpPr/>
          <p:nvPr/>
        </p:nvSpPr>
        <p:spPr>
          <a:xfrm>
            <a:off x="3619500" y="4445000"/>
            <a:ext cx="3048000" cy="1397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Mapped (hot)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Sku, Price, Status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C8E95B-D1CD-4F03-BCB3-5AA36F04C5F8}"/>
              </a:ext>
            </a:extLst>
          </p:cNvPr>
          <p:cNvSpPr/>
          <p:nvPr/>
        </p:nvSpPr>
        <p:spPr>
          <a:xfrm>
            <a:off x="6667500" y="4445000"/>
            <a:ext cx="4953000" cy="1397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Lexend"/>
                <a:ea typeface="Lexend"/>
                <a:cs typeface="Lexend"/>
                <a:sym typeface="Lexend"/>
              </a:rPr>
              <a:t>Data (JSON)</a:t>
            </a: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Color, Notes, long tail</a:t>
            </a:r>
          </a:p>
        </p:txBody>
      </p:sp>
    </p:spTree>
    <p:extLst>
      <p:ext uri="{BB962C8B-B14F-4D97-AF65-F5344CB8AC3E}">
        <p14:creationId xmlns:p14="http://schemas.microsoft.com/office/powerpoint/2010/main" val="231747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ONE CLR TYPE, MANY TABLES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5842000" cy="457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EF Core feature: SharedTypeEntity — reuse one CLR type across many tables.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Table name = runtime entity name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Normal IQueryable per logical entity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code-gen, no hundreds of empty classes</a:t>
            </a:r>
          </a:p>
          <a:p>
            <a:pPr marL="0" indent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SharedTypeEntity&lt;DynamicEntity&gt;("Product", …)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3BF6789-E43C-4177-968E-1A0F75F916A6}"/>
              </a:ext>
            </a:extLst>
          </p:cNvPr>
          <p:cNvSpPr/>
          <p:nvPr/>
        </p:nvSpPr>
        <p:spPr>
          <a:xfrm>
            <a:off x="6731000" y="2794000"/>
            <a:ext cx="2540000" cy="1143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  <a:latin typeface="Consolas"/>
              </a:rPr>
              <a:t>DynamicEntity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DD6BF9-1771-4EC5-83AD-B9F81602ED03}"/>
              </a:ext>
            </a:extLst>
          </p:cNvPr>
          <p:cNvSpPr/>
          <p:nvPr/>
        </p:nvSpPr>
        <p:spPr>
          <a:xfrm>
            <a:off x="10160000" y="1651000"/>
            <a:ext cx="1397000" cy="6350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Product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A618B3-107B-4C23-97EA-679B46E03C06}"/>
              </a:ext>
            </a:extLst>
          </p:cNvPr>
          <p:cNvSpPr/>
          <p:nvPr/>
        </p:nvSpPr>
        <p:spPr>
          <a:xfrm>
            <a:off x="10160000" y="2667000"/>
            <a:ext cx="1397000" cy="63500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Customer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5567A6-2605-46E7-B02C-4DC8F645CBBA}"/>
              </a:ext>
            </a:extLst>
          </p:cNvPr>
          <p:cNvSpPr/>
          <p:nvPr/>
        </p:nvSpPr>
        <p:spPr>
          <a:xfrm>
            <a:off x="10160000" y="3683000"/>
            <a:ext cx="1397000" cy="635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Order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F4F0BC-90AE-42F4-9B5A-EF47A567F4F3}"/>
              </a:ext>
            </a:extLst>
          </p:cNvPr>
          <p:cNvSpPr/>
          <p:nvPr/>
        </p:nvSpPr>
        <p:spPr>
          <a:xfrm>
            <a:off x="10160000" y="4699000"/>
            <a:ext cx="1397000" cy="635000"/>
          </a:xfrm>
          <a:prstGeom prst="rect">
            <a:avLst/>
          </a:prstGeom>
          <a:solidFill>
            <a:srgbClr val="8AB6C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Consolas"/>
              </a:rPr>
              <a:t>Invoice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42A0E0-E38B-43B1-A96D-7582122B34F2}"/>
              </a:ext>
            </a:extLst>
          </p:cNvPr>
          <p:cNvSpPr/>
          <p:nvPr/>
        </p:nvSpPr>
        <p:spPr>
          <a:xfrm rot="-3451728">
            <a:off x="8887561" y="2651125"/>
            <a:ext cx="1655877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AED5F6-CD60-4477-AE11-7B8494447D14}"/>
              </a:ext>
            </a:extLst>
          </p:cNvPr>
          <p:cNvSpPr/>
          <p:nvPr/>
        </p:nvSpPr>
        <p:spPr>
          <a:xfrm rot="-1391915">
            <a:off x="9231898" y="3159125"/>
            <a:ext cx="967203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4C037F-DCCE-4707-8844-44B19FA6EA57}"/>
              </a:ext>
            </a:extLst>
          </p:cNvPr>
          <p:cNvSpPr/>
          <p:nvPr/>
        </p:nvSpPr>
        <p:spPr>
          <a:xfrm rot="2132261">
            <a:off x="9169252" y="3667125"/>
            <a:ext cx="1092495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96A933-A4C9-4E35-BDEE-19D7A156C9FB}"/>
              </a:ext>
            </a:extLst>
          </p:cNvPr>
          <p:cNvSpPr/>
          <p:nvPr/>
        </p:nvSpPr>
        <p:spPr>
          <a:xfrm rot="3701955">
            <a:off x="8777933" y="4175125"/>
            <a:ext cx="1875132" cy="31750"/>
          </a:xfrm>
          <a:prstGeom prst="rect">
            <a:avLst/>
          </a:prstGeom>
          <a:solidFill>
            <a:srgbClr val="5C657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863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PROMOTE HOT FIELDS TO REAL COLUMNS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IndexerProperty bridges runtime descriptors to real EF columns.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Cheaper WHERE / ORDER BY — native SQL paths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Defaults and nullability matter on existing rows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Indexable, type-checked, query-translatable</a:t>
            </a:r>
          </a:p>
          <a:p>
            <a:pPr marL="0" indent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entity.IndexerProperty&lt;decimal&gt;("Price")</a:t>
            </a:r>
          </a:p>
        </p:txBody>
      </p:sp>
      <p:pic>
        <p:nvPicPr>
          <p:cNvPr id="15" name="Graphic 15" descr="Promot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629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JSON FOR THE LONG TAIL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Data column — plus columns, not instead.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Mapped via owned/JSON entity configuration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Rarely-filtered fields stay here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 schema migration when users add a field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Promote later — when usage proves it</a:t>
            </a:r>
          </a:p>
        </p:txBody>
      </p:sp>
      <p:pic>
        <p:nvPicPr>
          <p:cNvPr id="15" name="Graphic 15" descr="JSON storag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417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EF CORE CACHES THE MODEL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If runtime descriptors change but the cached model does not — confusing bugs.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Default cache key ≈ DbContext type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Add a model version to invalidate on change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Implement IModelCacheKeyFactory</a:t>
            </a:r>
          </a:p>
          <a:p>
            <a:pPr marL="0" indent="0"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(DbContextType, ModelVersion, designTime)</a:t>
            </a:r>
          </a:p>
        </p:txBody>
      </p:sp>
      <p:pic>
        <p:nvPicPr>
          <p:cNvPr id="15" name="Graphic 15" descr="Cache refres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132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SCHEMA WITHOUT A MIGRATION PER ENTITY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11239500" cy="279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Runtime DDL complements your normal migrations — it does not replace them.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Inspect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create table or compare current columns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Alter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add missing mapped columns, provider-aware SQL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Backfill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set defaults on existing rows first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Constrain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tighten NOT NULL only after backfill</a:t>
            </a:r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EB44BD6C-3CB6-497A-B195-2D88E24D11CB}"/>
              </a:ext>
            </a:extLst>
          </p:cNvPr>
          <p:cNvSpPr/>
          <p:nvPr/>
        </p:nvSpPr>
        <p:spPr>
          <a:xfrm>
            <a:off x="571500" y="4572000"/>
            <a:ext cx="2540000" cy="1143000"/>
          </a:xfrm>
          <a:prstGeom prst="homePlate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Inspect</a:t>
            </a:r>
          </a:p>
        </p:txBody>
      </p:sp>
      <p:sp>
        <p:nvSpPr>
          <p:cNvPr id="3" name="Arrow: Pentagon 2">
            <a:extLst>
              <a:ext uri="{FF2B5EF4-FFF2-40B4-BE49-F238E27FC236}">
                <a16:creationId xmlns:a16="http://schemas.microsoft.com/office/drawing/2014/main" id="{D0A4BB28-D58E-44EB-BF3F-DC92132A9176}"/>
              </a:ext>
            </a:extLst>
          </p:cNvPr>
          <p:cNvSpPr/>
          <p:nvPr/>
        </p:nvSpPr>
        <p:spPr>
          <a:xfrm>
            <a:off x="3390900" y="4572000"/>
            <a:ext cx="2540000" cy="1143000"/>
          </a:xfrm>
          <a:prstGeom prst="homePlat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Alter</a:t>
            </a: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4848C3BE-2B0E-493F-BE00-6F20F856F391}"/>
              </a:ext>
            </a:extLst>
          </p:cNvPr>
          <p:cNvSpPr/>
          <p:nvPr/>
        </p:nvSpPr>
        <p:spPr>
          <a:xfrm>
            <a:off x="6210300" y="4572000"/>
            <a:ext cx="2540000" cy="1143000"/>
          </a:xfrm>
          <a:prstGeom prst="homePlate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Backfill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1093CE-1606-4C57-B55A-6D80FB5C76B6}"/>
              </a:ext>
            </a:extLst>
          </p:cNvPr>
          <p:cNvSpPr/>
          <p:nvPr/>
        </p:nvSpPr>
        <p:spPr>
          <a:xfrm>
            <a:off x="9029700" y="4572000"/>
            <a:ext cx="2540000" cy="1143000"/>
          </a:xfrm>
          <a:prstGeom prst="rect">
            <a:avLst/>
          </a:prstGeom>
          <a:solidFill>
            <a:srgbClr val="196B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FFFF"/>
                </a:solidFill>
                <a:latin typeface="Lexend"/>
              </a:rPr>
              <a:t>Constrain</a:t>
            </a:r>
          </a:p>
        </p:txBody>
      </p:sp>
    </p:spTree>
    <p:extLst>
      <p:ext uri="{BB962C8B-B14F-4D97-AF65-F5344CB8AC3E}">
        <p14:creationId xmlns:p14="http://schemas.microsoft.com/office/powerpoint/2010/main" val="3037262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ONE PIPELINE, MANY STEPS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7200" y="1397000"/>
            <a:ext cx="11239500" cy="279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Centralize composition — otherwise every feature reinvents stringly-typed queries.</a:t>
            </a:r>
          </a:p>
          <a:p>
            <a:pPr marL="0" indent="0" algn="ctr">
              <a:spcBef>
                <a:spcPts val="600"/>
              </a:spcBef>
              <a:spcAft>
                <a:spcPts val="700"/>
              </a:spcAft>
              <a:buNone/>
            </a:pPr>
            <a:r>
              <a:rPr lang="en-US" sz="1800" b="1" dirty="0">
                <a:solidFill>
                  <a:srgbClr val="156082"/>
                </a:solidFill>
                <a:latin typeface="Consolas"/>
                <a:ea typeface="Consolas"/>
                <a:cs typeface="Consolas"/>
                <a:sym typeface="Consolas"/>
              </a:rPr>
              <a:t>API → Filter → Sort → Join → SQL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IQueryable from a typed repository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Search + filters with AND/OR composition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Dynamic sort — including FK display fields</a:t>
            </a:r>
          </a:p>
          <a:p>
            <a:pPr marL="285750" indent="-285750">
              <a:spcBef>
                <a:spcPts val="400"/>
              </a:spcBef>
              <a:spcAft>
                <a:spcPts val="400"/>
              </a:spcAft>
              <a:buFont typeface="Arial"/>
              <a:buChar char="•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Joins added only when the projection needs them</a:t>
            </a:r>
          </a:p>
        </p:txBody>
      </p:sp>
      <p:sp>
        <p:nvSpPr>
          <p:cNvPr id="2" name="Arrow: Pentagon 1">
            <a:extLst>
              <a:ext uri="{FF2B5EF4-FFF2-40B4-BE49-F238E27FC236}">
                <a16:creationId xmlns:a16="http://schemas.microsoft.com/office/drawing/2014/main" id="{0BEFF36B-EAE5-41E7-8D07-CEDAEF97BEC1}"/>
              </a:ext>
            </a:extLst>
          </p:cNvPr>
          <p:cNvSpPr/>
          <p:nvPr/>
        </p:nvSpPr>
        <p:spPr>
          <a:xfrm>
            <a:off x="571500" y="4572000"/>
            <a:ext cx="2057400" cy="1143000"/>
          </a:xfrm>
          <a:prstGeom prst="homePlate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API</a:t>
            </a:r>
          </a:p>
        </p:txBody>
      </p:sp>
      <p:sp>
        <p:nvSpPr>
          <p:cNvPr id="3" name="Arrow: Pentagon 2">
            <a:extLst>
              <a:ext uri="{FF2B5EF4-FFF2-40B4-BE49-F238E27FC236}">
                <a16:creationId xmlns:a16="http://schemas.microsoft.com/office/drawing/2014/main" id="{2F161E5E-166D-4705-94E3-F7FBD072EFBE}"/>
              </a:ext>
            </a:extLst>
          </p:cNvPr>
          <p:cNvSpPr/>
          <p:nvPr/>
        </p:nvSpPr>
        <p:spPr>
          <a:xfrm>
            <a:off x="2781300" y="4572000"/>
            <a:ext cx="2057400" cy="1143000"/>
          </a:xfrm>
          <a:prstGeom prst="homePlate">
            <a:avLst/>
          </a:prstGeom>
          <a:solidFill>
            <a:srgbClr val="4A8F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Filter</a:t>
            </a:r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48864EDE-0259-4EC4-8A1D-339A07E6FEB3}"/>
              </a:ext>
            </a:extLst>
          </p:cNvPr>
          <p:cNvSpPr/>
          <p:nvPr/>
        </p:nvSpPr>
        <p:spPr>
          <a:xfrm>
            <a:off x="4991100" y="4572000"/>
            <a:ext cx="2057400" cy="1143000"/>
          </a:xfrm>
          <a:prstGeom prst="homePlate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Sort</a:t>
            </a:r>
          </a:p>
        </p:txBody>
      </p:sp>
      <p:sp>
        <p:nvSpPr>
          <p:cNvPr id="6" name="Arrow: Pentagon 5">
            <a:extLst>
              <a:ext uri="{FF2B5EF4-FFF2-40B4-BE49-F238E27FC236}">
                <a16:creationId xmlns:a16="http://schemas.microsoft.com/office/drawing/2014/main" id="{6634663F-AFF2-40CB-9FB3-F923D7B3348F}"/>
              </a:ext>
            </a:extLst>
          </p:cNvPr>
          <p:cNvSpPr/>
          <p:nvPr/>
        </p:nvSpPr>
        <p:spPr>
          <a:xfrm>
            <a:off x="7200900" y="4572000"/>
            <a:ext cx="2057400" cy="1143000"/>
          </a:xfrm>
          <a:prstGeom prst="homePlate">
            <a:avLst/>
          </a:prstGeom>
          <a:solidFill>
            <a:srgbClr val="C45A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Join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117C3E-1DAB-470F-947D-08587CB0B9CF}"/>
              </a:ext>
            </a:extLst>
          </p:cNvPr>
          <p:cNvSpPr/>
          <p:nvPr/>
        </p:nvSpPr>
        <p:spPr>
          <a:xfrm>
            <a:off x="9410700" y="4572000"/>
            <a:ext cx="2057400" cy="11430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  <a:latin typeface="Lexend"/>
              </a:rPr>
              <a:t>SQL</a:t>
            </a:r>
          </a:p>
        </p:txBody>
      </p:sp>
    </p:spTree>
    <p:extLst>
      <p:ext uri="{BB962C8B-B14F-4D97-AF65-F5344CB8AC3E}">
        <p14:creationId xmlns:p14="http://schemas.microsoft.com/office/powerpoint/2010/main" val="3290781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PRODUCTION GUARDRAILS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Treat every dynamic edge as a place where things will go wrong.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Parameterize dynamic queries — always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Smart paging: count only when the page asks for it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Validate schema changes before they hit prod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196B24"/>
              </a:buClr>
              <a:buFont typeface="Arial"/>
              <a:buChar char="✓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Map what you filter on. Index what you map.</a:t>
            </a:r>
          </a:p>
        </p:txBody>
      </p:sp>
      <p:pic>
        <p:nvPicPr>
          <p:cNvPr id="15" name="Graphic 15" descr="Guardrai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949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WHERE IT GOES WRONG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The four traps we keep seeing in real apps.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Stale EF model cache after schema change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NOT NULL added without a backfill step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Heavy filters running against JSON only</a:t>
            </a:r>
          </a:p>
          <a:p>
            <a:pPr marL="342900" indent="-342900">
              <a:spcBef>
                <a:spcPts val="500"/>
              </a:spcBef>
              <a:spcAft>
                <a:spcPts val="500"/>
              </a:spcAft>
              <a:buClr>
                <a:srgbClr val="E97132"/>
              </a:buClr>
              <a:buFont typeface="Arial"/>
              <a:buChar char="!"/>
            </a:pP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Ad hoc query strings scattered everywhere</a:t>
            </a:r>
          </a:p>
        </p:txBody>
      </p:sp>
      <p:pic>
        <p:nvPicPr>
          <p:cNvPr id="15" name="Graphic 15" descr="Pitfall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9575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EXAMPLE: PRODUCT &amp; CUSTOMER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One running story for the rest of the talk — no context-switching.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Mapped columns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Sku, Price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JSON Data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Color, Notes, free-form fields</a:t>
            </a:r>
          </a:p>
          <a:p>
            <a:pPr marL="285750" indent="-285750">
              <a:spcBef>
                <a:spcPts val="500"/>
              </a:spcBef>
              <a:spcAft>
                <a:spcPts val="500"/>
              </a:spcAft>
              <a:buFont typeface="Arial"/>
              <a:buChar char="•"/>
            </a:pP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Relation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Product n—1 Customer (FK)</a:t>
            </a:r>
          </a:p>
          <a:p>
            <a:pPr marL="0" indent="0" algn="ctr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Customer 1—* Product</a:t>
            </a:r>
          </a:p>
        </p:txBody>
      </p:sp>
      <p:pic>
        <p:nvPicPr>
          <p:cNvPr id="15" name="Graphic 15" descr="Exampl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870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DynamicEntity (MINIMAL)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public class DynamicEntity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Guid Id { get; set; }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Guid? TenantId { get; set; }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600" dirty="0">
              <a:solidFill>
                <a:srgbClr val="292D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    // Promoted (mapped) fields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object? this[string name] { get; set; }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600" dirty="0">
              <a:solidFill>
                <a:srgbClr val="292D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    // Long tail — stored as JSON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public Dictionary&lt;string, object?&gt; Data { get; } = new();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30188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REGISTER MANY LOGICAL ENTITIES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One CLR type — looped over your descriptors at startup.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foreach (var def in entities)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modelBuilder.SharedTypeEntity&lt;DynamicEntity&gt;(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    def.Name, b =&gt;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    b.ToTable(def.Name);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    b.HasKey(x =&gt; x.Id);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        // … mapped properties + JSON Data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});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0E284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4532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MAP HOT FIELDS + JSON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// Promote: descriptor → real column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var p = entity.IndexerProperty&lt;decimal&gt;("Price");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p.IsRequired();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p.HasDefaultValue(0m);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700" dirty="0">
              <a:solidFill>
                <a:srgbClr val="292D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196B24"/>
                </a:solidFill>
                <a:latin typeface="Consolas"/>
                <a:ea typeface="Consolas"/>
                <a:cs typeface="Consolas"/>
                <a:sym typeface="Consolas"/>
              </a:rPr>
              <a:t>// Long tail — stored as JSON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entity.ComplexProperty&lt;Dictionary&lt;string, object?&gt;&gt;(</a:t>
            </a:r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7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    nameof(DynamicEntity.Data), d =&gt; d.ToJson());</a:t>
            </a:r>
          </a:p>
        </p:txBody>
      </p:sp>
    </p:spTree>
    <p:extLst>
      <p:ext uri="{BB962C8B-B14F-4D97-AF65-F5344CB8AC3E}">
        <p14:creationId xmlns:p14="http://schemas.microsoft.com/office/powerpoint/2010/main" val="23212368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RUNTIME: CACHE · SCHEMA · QUERY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1. Cache key includes a model version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(context.GetType(), DynamicModel.Version, designTime)</a:t>
            </a:r>
          </a:p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2. Schema: add column → backfill → alter NOT NULL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ALTER TABLE Product ADD Price DECIMAL NULL;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UPDATE Product SET Price = 0 WHERE Price IS NULL;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ALTER TABLE Product ALTER COLUMN Price DECIMAL NOT NULL;</a:t>
            </a:r>
          </a:p>
          <a:p>
            <a:pPr marL="0" indent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3. Query: filter → sort → page</a:t>
            </a:r>
          </a:p>
          <a:p>
            <a:pPr marL="0" indent="0"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1500" dirty="0">
                <a:solidFill>
                  <a:srgbClr val="292D33"/>
                </a:solidFill>
                <a:latin typeface="Consolas"/>
                <a:ea typeface="Consolas"/>
                <a:cs typeface="Consolas"/>
                <a:sym typeface="Consolas"/>
              </a:rPr>
              <a:t>query.Where(…).OrderBy(…).Skip(s).Take(n);</a:t>
            </a:r>
          </a:p>
        </p:txBody>
      </p:sp>
    </p:spTree>
    <p:extLst>
      <p:ext uri="{BB962C8B-B14F-4D97-AF65-F5344CB8AC3E}">
        <p14:creationId xmlns:p14="http://schemas.microsoft.com/office/powerpoint/2010/main" val="3671730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FEB56F-6A6E-CDE3-46C9-D37CD01B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DF85AA1-8AD9-A927-B6CF-0807D4762A5F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TAKEAWAYS</a:t>
            </a: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9E68AE78-0DC6-55E3-D23B-0DDA53B29FF4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US" sz="1800" i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Dynamic does not mean uncontrolled.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1.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Decide hybrid boundaries early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columns vs JSON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2.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Version the EF model cache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or chase ghosts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3.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Centralize dynamic queries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one pipeline, not strings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4.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Safe DDL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backfill before NOT NULL</a:t>
            </a:r>
          </a:p>
          <a:p>
            <a:pPr marL="457200" indent="-45720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E97132"/>
                </a:solidFill>
                <a:latin typeface="Poppins"/>
                <a:ea typeface="Poppins"/>
                <a:cs typeface="Poppins"/>
                <a:sym typeface="Poppins"/>
              </a:rPr>
              <a:t>5.   </a:t>
            </a:r>
            <a:r>
              <a:rPr lang="en-US" sz="2200" b="1" dirty="0">
                <a:solidFill>
                  <a:srgbClr val="156082"/>
                </a:solidFill>
                <a:latin typeface="Poppins"/>
                <a:ea typeface="Poppins"/>
                <a:cs typeface="Poppins"/>
                <a:sym typeface="Poppins"/>
              </a:rPr>
              <a:t>Promote when metrics say so</a:t>
            </a:r>
            <a:r>
              <a:rPr lang="en-US" sz="2200" dirty="0">
                <a:solidFill>
                  <a:srgbClr val="5C6571"/>
                </a:solidFill>
                <a:latin typeface="Poppins"/>
                <a:ea typeface="Poppins"/>
                <a:cs typeface="Poppins"/>
                <a:sym typeface="Poppins"/>
              </a:rPr>
              <a:t> — let usage drive schema</a:t>
            </a:r>
          </a:p>
        </p:txBody>
      </p:sp>
      <p:pic>
        <p:nvPicPr>
          <p:cNvPr id="15" name="Graphic 15" descr="Takeaway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457200"/>
            <a:ext cx="5334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657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17BB97-BCC9-574E-59F2-851978B4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Metin kutusu 7">
            <a:extLst>
              <a:ext uri="{FF2B5EF4-FFF2-40B4-BE49-F238E27FC236}">
                <a16:creationId xmlns:a16="http://schemas.microsoft.com/office/drawing/2014/main" id="{3551E258-AE4B-89EC-1439-33807E9C38DB}"/>
              </a:ext>
            </a:extLst>
          </p:cNvPr>
          <p:cNvSpPr txBox="1">
            <a:spLocks/>
          </p:cNvSpPr>
          <p:nvPr/>
        </p:nvSpPr>
        <p:spPr>
          <a:xfrm>
            <a:off x="709617" y="1333647"/>
            <a:ext cx="6856282" cy="15012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THANKS FOR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4500" b="1" dirty="0">
                <a:solidFill>
                  <a:srgbClr val="292D32"/>
                </a:solidFill>
                <a:latin typeface="Lexend" pitchFamily="2" charset="0"/>
                <a:ea typeface="Lexend"/>
                <a:cs typeface="Lexend"/>
                <a:sym typeface="Lexend"/>
              </a:rPr>
              <a:t>LISTENING</a:t>
            </a:r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5241CB78-F4AE-D9B0-2F94-3CA2B871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3791" y="3041729"/>
            <a:ext cx="1039470" cy="1039470"/>
          </a:xfrm>
          <a:prstGeom prst="rect">
            <a:avLst/>
          </a:prstGeom>
        </p:spPr>
      </p:pic>
      <p:sp>
        <p:nvSpPr>
          <p:cNvPr id="5" name="Google Shape;56;p1">
            <a:extLst>
              <a:ext uri="{FF2B5EF4-FFF2-40B4-BE49-F238E27FC236}">
                <a16:creationId xmlns:a16="http://schemas.microsoft.com/office/drawing/2014/main" id="{C917CDC9-7A11-0492-6A84-23B930AE7B27}"/>
              </a:ext>
            </a:extLst>
          </p:cNvPr>
          <p:cNvSpPr txBox="1"/>
          <p:nvPr/>
        </p:nvSpPr>
        <p:spPr>
          <a:xfrm>
            <a:off x="2085311" y="3107272"/>
            <a:ext cx="64971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2800" dirty="0">
                <a:solidFill>
                  <a:srgbClr val="292D33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Halil İbrahim Kalkan</a:t>
            </a:r>
          </a:p>
        </p:txBody>
      </p:sp>
      <p:sp>
        <p:nvSpPr>
          <p:cNvPr id="6" name="Google Shape;57;p1">
            <a:extLst>
              <a:ext uri="{FF2B5EF4-FFF2-40B4-BE49-F238E27FC236}">
                <a16:creationId xmlns:a16="http://schemas.microsoft.com/office/drawing/2014/main" id="{87C3FEE7-4E8E-3396-98EA-3E5B75E74E3C}"/>
              </a:ext>
            </a:extLst>
          </p:cNvPr>
          <p:cNvSpPr txBox="1"/>
          <p:nvPr/>
        </p:nvSpPr>
        <p:spPr>
          <a:xfrm>
            <a:off x="2085311" y="3627199"/>
            <a:ext cx="6497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rPr>
              <a:t>ABP · Low Code</a:t>
            </a:r>
          </a:p>
        </p:txBody>
      </p:sp>
      <p:pic>
        <p:nvPicPr>
          <p:cNvPr id="9" name="Google Shape;59;p1">
            <a:extLst>
              <a:ext uri="{FF2B5EF4-FFF2-40B4-BE49-F238E27FC236}">
                <a16:creationId xmlns:a16="http://schemas.microsoft.com/office/drawing/2014/main" id="{D216A13A-0DE8-0F81-D058-C43F2067416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1666" y="4516942"/>
            <a:ext cx="318353" cy="3183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0;p1">
            <a:extLst>
              <a:ext uri="{FF2B5EF4-FFF2-40B4-BE49-F238E27FC236}">
                <a16:creationId xmlns:a16="http://schemas.microsoft.com/office/drawing/2014/main" id="{5C65CC4D-AAFE-B812-2756-CBA85A3A23E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1666" y="4982969"/>
            <a:ext cx="318352" cy="318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61;p1">
            <a:extLst>
              <a:ext uri="{FF2B5EF4-FFF2-40B4-BE49-F238E27FC236}">
                <a16:creationId xmlns:a16="http://schemas.microsoft.com/office/drawing/2014/main" id="{3C0670F1-6E7F-BFCD-F6CA-876DE9462511}"/>
              </a:ext>
            </a:extLst>
          </p:cNvPr>
          <p:cNvSpPr txBox="1"/>
          <p:nvPr/>
        </p:nvSpPr>
        <p:spPr>
          <a:xfrm>
            <a:off x="1278663" y="4459936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1500" dirty="0" err="1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hibrahimkalkan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" name="Google Shape;62;p1">
            <a:extLst>
              <a:ext uri="{FF2B5EF4-FFF2-40B4-BE49-F238E27FC236}">
                <a16:creationId xmlns:a16="http://schemas.microsoft.com/office/drawing/2014/main" id="{53AF912A-87AB-7552-8EF1-622C7EC021A0}"/>
              </a:ext>
            </a:extLst>
          </p:cNvPr>
          <p:cNvSpPr txBox="1"/>
          <p:nvPr/>
        </p:nvSpPr>
        <p:spPr>
          <a:xfrm>
            <a:off x="1278663" y="4918080"/>
            <a:ext cx="523793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tr-TR" sz="1500" dirty="0">
                <a:solidFill>
                  <a:srgbClr val="292D33"/>
                </a:solidFill>
                <a:latin typeface="Poppins"/>
                <a:ea typeface="Poppins"/>
                <a:cs typeface="Poppins"/>
                <a:sym typeface="Poppins"/>
              </a:rPr>
              <a:t>hikalkan</a:t>
            </a:r>
            <a:endParaRPr lang="en-US" sz="1500" dirty="0">
              <a:solidFill>
                <a:srgbClr val="292D33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" name="Google Shape;57;p1">
            <a:extLst>
              <a:ext uri="{FF2B5EF4-FFF2-40B4-BE49-F238E27FC236}">
                <a16:creationId xmlns:a16="http://schemas.microsoft.com/office/drawing/2014/main" id="{81015AE8-63CA-36EE-ADCC-EF8B6E674414}"/>
              </a:ext>
            </a:extLst>
          </p:cNvPr>
          <p:cNvSpPr txBox="1"/>
          <p:nvPr/>
        </p:nvSpPr>
        <p:spPr>
          <a:xfrm>
            <a:off x="8284572" y="1669688"/>
            <a:ext cx="3038415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292D32"/>
                </a:solidFill>
                <a:latin typeface="Poppins"/>
                <a:ea typeface="Poppins"/>
                <a:cs typeface="Poppins"/>
                <a:sym typeface="Poppins"/>
              </a:rPr>
              <a:t>Slides &amp; code</a:t>
            </a:r>
          </a:p>
        </p:txBody>
      </p:sp>
      <p:pic>
        <p:nvPicPr>
          <p:cNvPr id="15" name="Google Shape;82;p3">
            <a:extLst>
              <a:ext uri="{FF2B5EF4-FFF2-40B4-BE49-F238E27FC236}">
                <a16:creationId xmlns:a16="http://schemas.microsoft.com/office/drawing/2014/main" id="{1426F76E-6AC9-EDDC-E0CD-0D342276275D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84842" y="2136322"/>
            <a:ext cx="2957700" cy="295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Resim 18">
            <a:extLst>
              <a:ext uri="{FF2B5EF4-FFF2-40B4-BE49-F238E27FC236}">
                <a16:creationId xmlns:a16="http://schemas.microsoft.com/office/drawing/2014/main" id="{4218E060-07EA-7373-3D5F-7B40C5E3C1C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03782" y="2355263"/>
            <a:ext cx="2519817" cy="251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723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CF5372-7508-4E65-80BC-2D1DDEFFAEF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12dfdd31-6be7-4eef-bd1f-fd8298d68ff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1125</Words>
  <Application>Microsoft Office PowerPoint</Application>
  <PresentationFormat>Widescreen</PresentationFormat>
  <Paragraphs>181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Aptos</vt:lpstr>
      <vt:lpstr>Aptos Display</vt:lpstr>
      <vt:lpstr>Arial</vt:lpstr>
      <vt:lpstr>Consolas</vt:lpstr>
      <vt:lpstr>Lexend</vt:lpstr>
      <vt:lpstr>Poppins</vt:lpstr>
      <vt:lpstr>Poppins Medium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62</cp:revision>
  <dcterms:created xsi:type="dcterms:W3CDTF">2024-10-07T11:11:00Z</dcterms:created>
  <dcterms:modified xsi:type="dcterms:W3CDTF">2026-04-25T21:57:37Z</dcterms:modified>
</cp:coreProperties>
</file>