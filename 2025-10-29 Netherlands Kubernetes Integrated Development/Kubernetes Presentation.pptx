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59" r:id="rId6"/>
    <p:sldId id="260" r:id="rId7"/>
    <p:sldId id="267" r:id="rId8"/>
    <p:sldId id="274" r:id="rId9"/>
    <p:sldId id="270" r:id="rId10"/>
    <p:sldId id="276" r:id="rId11"/>
    <p:sldId id="277" r:id="rId12"/>
    <p:sldId id="278" r:id="rId13"/>
    <p:sldId id="271" r:id="rId14"/>
    <p:sldId id="263" r:id="rId15"/>
    <p:sldId id="272" r:id="rId16"/>
    <p:sldId id="273" r:id="rId17"/>
    <p:sldId id="275" r:id="rId18"/>
    <p:sldId id="279" r:id="rId19"/>
    <p:sldId id="264" r:id="rId20"/>
    <p:sldId id="280" r:id="rId21"/>
    <p:sldId id="282" r:id="rId22"/>
    <p:sldId id="265" r:id="rId23"/>
    <p:sldId id="283" r:id="rId24"/>
    <p:sldId id="266" r:id="rId2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D33"/>
    <a:srgbClr val="5B636F"/>
    <a:srgbClr val="1C2313"/>
    <a:srgbClr val="909E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6E6B06-4D77-40E4-B668-2F41C8A78706}" v="27" dt="2023-09-13T10:47:16.8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5E77430-76F8-421E-A492-AC79EFC42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5D7CA3C-4629-4882-9ECE-C98196B923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25D8AE9-7BBD-4211-BBA1-9591D019B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64A38-496E-4635-AD4D-E4F60A7AA5BC}" type="datetimeFigureOut">
              <a:rPr lang="tr-TR" smtClean="0"/>
              <a:t>28.10.2025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8C32662-0384-408E-AE1E-E1071AB68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6AD868F-2C5D-4745-BB03-6E8628AA4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41C3-E2D1-4C27-A9D4-D5599B5658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72715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E4FDF28-7128-4431-B4A8-C4B3DFA67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AA3D55E-AF61-424A-88A0-7A20D1C7F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250A756-5E30-45BA-B99D-730853738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64A38-496E-4635-AD4D-E4F60A7AA5BC}" type="datetimeFigureOut">
              <a:rPr lang="tr-TR" smtClean="0"/>
              <a:t>28.10.2025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9F1DEB5-E389-4328-B5EB-C27929659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8886A87-E284-4278-8FDF-74014D09D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41C3-E2D1-4C27-A9D4-D5599B5658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68508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68944B5-2708-400F-860D-884ED6FEA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7CB5F21-8EF1-4B51-8E56-D8A79F78F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D5948A6-D56D-4B19-936C-AAD26A1BB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64A38-496E-4635-AD4D-E4F60A7AA5BC}" type="datetimeFigureOut">
              <a:rPr lang="tr-TR" smtClean="0"/>
              <a:t>28.10.2025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B5989C5-0A88-437B-8661-5B559452A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19D1417-4AA9-43C1-9DBC-D5C43004F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41C3-E2D1-4C27-A9D4-D5599B5658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3726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243316D-2C42-49A4-9A92-6A020E7CE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5E7A332-7CA6-4453-A3B9-3C286352D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5C8B178-7B2A-4403-8534-F0DEE5AB1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E7A6E25-E1CC-40A0-97C0-376151E4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64A38-496E-4635-AD4D-E4F60A7AA5BC}" type="datetimeFigureOut">
              <a:rPr lang="tr-TR" smtClean="0"/>
              <a:t>28.10.2025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2B947C6-4882-4FEF-BE65-AA9A795B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3B0A707-C9C8-4C30-A0CB-59F61144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41C3-E2D1-4C27-A9D4-D5599B5658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59669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D3E25E2-E9D5-4CE0-9317-A0FACA836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52225AA-F6A6-4A8E-82D4-3576A6664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67BEB5A-D558-4536-B428-E7BAF595D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730CE4F5-13FA-414A-8F1E-FF06064783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A40A1528-EFC2-44D6-BCD3-EDED99B8CE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1A045E3D-F125-4588-BBC5-497F3C3A4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64A38-496E-4635-AD4D-E4F60A7AA5BC}" type="datetimeFigureOut">
              <a:rPr lang="tr-TR" smtClean="0"/>
              <a:t>28.10.2025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946676F1-1F6E-4B6E-B0DA-3D00C2BCD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0B6BDAC3-470D-4990-B1F0-7982053F4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41C3-E2D1-4C27-A9D4-D5599B5658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887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6C8FCB9-5030-468C-8904-86F2C7BB0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1FB3B8A1-C550-4287-A35F-5D4FA0E1B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64A38-496E-4635-AD4D-E4F60A7AA5BC}" type="datetimeFigureOut">
              <a:rPr lang="tr-TR" smtClean="0"/>
              <a:t>28.10.2025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6DF14AC2-18B7-43FD-AEE6-4E5B6A1E7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07DC154-6845-47F7-AECC-5702F1D58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41C3-E2D1-4C27-A9D4-D5599B5658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20017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DCE01C51-8E77-4AE1-9235-42E4B48B1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64A38-496E-4635-AD4D-E4F60A7AA5BC}" type="datetimeFigureOut">
              <a:rPr lang="tr-TR" smtClean="0"/>
              <a:t>28.10.2025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588541EA-1AAD-4AF5-8285-BB04E5F06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B623959-63E8-4C79-AB1E-4CE131711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41C3-E2D1-4C27-A9D4-D5599B5658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6807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7D8FCE8-142C-4C8C-A231-733F7AB48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3B2CF1D-5DE1-4613-836B-AF7736A34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AFF92C87-EFE9-4E23-90B6-11F7CE1AC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3137BC8-12B0-479D-B5AA-C615B630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64A38-496E-4635-AD4D-E4F60A7AA5BC}" type="datetimeFigureOut">
              <a:rPr lang="tr-TR" smtClean="0"/>
              <a:t>28.10.2025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4290E7C-4B3E-4930-A62B-3778AC15D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3945CA1-46E9-4726-AB12-6C8CE0817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41C3-E2D1-4C27-A9D4-D5599B5658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33552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4B6F6C4-3724-4586-947C-14C7ABC69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A4D91B94-7618-4737-94AE-38B9E49FE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CD41985-3CBB-4DAA-BAC2-A6F1CC914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808BC2F-3D55-4DC2-9299-62944ED3F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64A38-496E-4635-AD4D-E4F60A7AA5BC}" type="datetimeFigureOut">
              <a:rPr lang="tr-TR" smtClean="0"/>
              <a:t>28.10.2025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890B56E-3445-4339-8DCE-AD935F08A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C5E692B-06FE-4654-9CE0-5D1FE61A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41C3-E2D1-4C27-A9D4-D5599B5658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07066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6EBC12C-B462-499E-BE53-A79936B7F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B55F3CA-6E9C-4257-A90C-15F29CC15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CBDA025-B7C3-4B80-A30A-C2D655583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64A38-496E-4635-AD4D-E4F60A7AA5BC}" type="datetimeFigureOut">
              <a:rPr lang="tr-TR" smtClean="0"/>
              <a:t>28.10.2025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6FC1FF3-0909-48EE-B368-E2856227F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9315CFA-2B2B-4A47-B935-FC78715FE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41C3-E2D1-4C27-A9D4-D5599B5658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70863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E32B0823-C3A1-4ADF-9C3E-7A7D860F7C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3E10993-3ED6-4B98-8385-3F29171F3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21B2D32-FB06-4AE9-986C-07D929CA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64A38-496E-4635-AD4D-E4F60A7AA5BC}" type="datetimeFigureOut">
              <a:rPr lang="tr-TR" smtClean="0"/>
              <a:t>28.10.2025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BB47A69-0BCE-4EDD-A276-A6109E093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E4181D3-50D3-4F0B-9379-C88D4F96F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41C3-E2D1-4C27-A9D4-D5599B5658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9724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B4051567-2777-4AF1-9C70-2AC9FE81F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F7144FA-ECCD-4099-B66B-E1DD516F4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97D8262-AA3C-467B-8051-2B419AFE88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64A38-496E-4635-AD4D-E4F60A7AA5BC}" type="datetimeFigureOut">
              <a:rPr lang="tr-TR" smtClean="0"/>
              <a:t>28.10.2025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E18FDA2-9978-4F71-891C-1F7C394023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7760459-6D88-4968-BDEC-32D86168A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7441C3-E2D1-4C27-A9D4-D5599B5658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9219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uber.com/en-TR/blog/microservice-architecture/" TargetMode="Externa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efyra.dev/" TargetMode="External"/><Relationship Id="rId5" Type="http://schemas.openxmlformats.org/officeDocument/2006/relationships/hyperlink" Target="https://garden.io/" TargetMode="External"/><Relationship Id="rId4" Type="http://schemas.openxmlformats.org/officeDocument/2006/relationships/hyperlink" Target="https://telepresence.io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18.png"/><Relationship Id="rId10" Type="http://schemas.openxmlformats.org/officeDocument/2006/relationships/image" Target="../media/image34.png"/><Relationship Id="rId4" Type="http://schemas.openxmlformats.org/officeDocument/2006/relationships/image" Target="../media/image14.png"/><Relationship Id="rId9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hyperlink" Target="https://github.com/fatedier/frp" TargetMode="External"/><Relationship Id="rId4" Type="http://schemas.openxmlformats.org/officeDocument/2006/relationships/hyperlink" Target="https://www.wireguard.com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github.com/hikalkan/presentations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bp.io/" TargetMode="External"/><Relationship Id="rId5" Type="http://schemas.openxmlformats.org/officeDocument/2006/relationships/hyperlink" Target="https://halilibrahimkalkan.com/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511A147B-94EA-47C2-9C5C-774AB7B4D4AE}"/>
              </a:ext>
            </a:extLst>
          </p:cNvPr>
          <p:cNvSpPr txBox="1"/>
          <p:nvPr/>
        </p:nvSpPr>
        <p:spPr>
          <a:xfrm>
            <a:off x="972986" y="1107847"/>
            <a:ext cx="8894913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600" b="1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Building a Kubernetes Integrated Local Development Environment</a:t>
            </a:r>
          </a:p>
          <a:p>
            <a:r>
              <a:rPr lang="en-US" sz="4600" b="1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for ASP.NET Core</a:t>
            </a:r>
            <a:endParaRPr lang="tr-TR" sz="4600" b="1" dirty="0">
              <a:solidFill>
                <a:srgbClr val="1C2313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F2491FC6-B578-4C21-AC53-1ED24D281BD9}"/>
              </a:ext>
            </a:extLst>
          </p:cNvPr>
          <p:cNvGrpSpPr/>
          <p:nvPr/>
        </p:nvGrpSpPr>
        <p:grpSpPr>
          <a:xfrm>
            <a:off x="1116728" y="4807630"/>
            <a:ext cx="5203670" cy="1303340"/>
            <a:chOff x="1110572" y="5192094"/>
            <a:chExt cx="5203670" cy="1303340"/>
          </a:xfrm>
        </p:grpSpPr>
        <p:pic>
          <p:nvPicPr>
            <p:cNvPr id="3" name="Resim 2">
              <a:extLst>
                <a:ext uri="{FF2B5EF4-FFF2-40B4-BE49-F238E27FC236}">
                  <a16:creationId xmlns:a16="http://schemas.microsoft.com/office/drawing/2014/main" id="{8138EF8A-0508-42FB-8DDE-5828C9B6A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10572" y="5192094"/>
              <a:ext cx="1303340" cy="1303340"/>
            </a:xfrm>
            <a:prstGeom prst="rect">
              <a:avLst/>
            </a:prstGeom>
          </p:spPr>
        </p:pic>
        <p:sp>
          <p:nvSpPr>
            <p:cNvPr id="4" name="Metin kutusu 3">
              <a:extLst>
                <a:ext uri="{FF2B5EF4-FFF2-40B4-BE49-F238E27FC236}">
                  <a16:creationId xmlns:a16="http://schemas.microsoft.com/office/drawing/2014/main" id="{9B963AFF-67B1-4A94-A804-04EB1974A038}"/>
                </a:ext>
              </a:extLst>
            </p:cNvPr>
            <p:cNvSpPr txBox="1"/>
            <p:nvPr/>
          </p:nvSpPr>
          <p:spPr>
            <a:xfrm>
              <a:off x="2686326" y="5384359"/>
              <a:ext cx="36279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800" dirty="0">
                  <a:solidFill>
                    <a:srgbClr val="1C2313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Halil 	İbrahim Kalkan</a:t>
              </a:r>
            </a:p>
          </p:txBody>
        </p:sp>
        <p:sp>
          <p:nvSpPr>
            <p:cNvPr id="6" name="Metin kutusu 5">
              <a:extLst>
                <a:ext uri="{FF2B5EF4-FFF2-40B4-BE49-F238E27FC236}">
                  <a16:creationId xmlns:a16="http://schemas.microsoft.com/office/drawing/2014/main" id="{BE697D5E-7951-4066-A77A-5E565C76399C}"/>
                </a:ext>
              </a:extLst>
            </p:cNvPr>
            <p:cNvSpPr txBox="1"/>
            <p:nvPr/>
          </p:nvSpPr>
          <p:spPr>
            <a:xfrm>
              <a:off x="2687287" y="5919753"/>
              <a:ext cx="16834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u="sng" dirty="0" err="1">
                  <a:solidFill>
                    <a:srgbClr val="5B636F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Co-founder</a:t>
              </a:r>
              <a:r>
                <a:rPr lang="tr-TR" u="sng" dirty="0">
                  <a:solidFill>
                    <a:srgbClr val="5B636F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of</a:t>
              </a:r>
              <a:endParaRPr lang="tr-TR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</p:grpSp>
      <p:pic>
        <p:nvPicPr>
          <p:cNvPr id="5" name="Resim 4">
            <a:extLst>
              <a:ext uri="{FF2B5EF4-FFF2-40B4-BE49-F238E27FC236}">
                <a16:creationId xmlns:a16="http://schemas.microsoft.com/office/drawing/2014/main" id="{957C6DC3-3BE5-C8C8-6540-9AFE13BBFF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245" y="5551205"/>
            <a:ext cx="1280522" cy="31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122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29D82957-8FD0-49FF-B99F-7F7BB3AB2C9F}"/>
              </a:ext>
            </a:extLst>
          </p:cNvPr>
          <p:cNvSpPr txBox="1"/>
          <p:nvPr/>
        </p:nvSpPr>
        <p:spPr>
          <a:xfrm>
            <a:off x="323850" y="361950"/>
            <a:ext cx="17203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Agenda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64B8681-D97F-DAF6-0838-E551958C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589" y="6110014"/>
            <a:ext cx="376511" cy="37651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BC5D443-8567-BBB4-6990-28A2393702EB}"/>
              </a:ext>
            </a:extLst>
          </p:cNvPr>
          <p:cNvSpPr txBox="1"/>
          <p:nvPr/>
        </p:nvSpPr>
        <p:spPr>
          <a:xfrm>
            <a:off x="847154" y="6112073"/>
            <a:ext cx="233269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tr-TR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Halil İbrahim Kalkan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580A4FE-9B4C-44BA-F200-7E841BA70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226034"/>
            <a:ext cx="11473139" cy="4675716"/>
          </a:xfrm>
        </p:spPr>
        <p:txBody>
          <a:bodyPr>
            <a:normAutofit lnSpcReduction="10000"/>
          </a:bodyPr>
          <a:lstStyle/>
          <a:p>
            <a:r>
              <a:rPr lang="tr-TR" sz="36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The Problem</a:t>
            </a:r>
            <a:r>
              <a:rPr lang="tr-TR" sz="36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: Difficulties of building a microservice solution development environment</a:t>
            </a:r>
          </a:p>
          <a:p>
            <a:r>
              <a:rPr lang="tr-TR" sz="36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Primitive </a:t>
            </a:r>
            <a:r>
              <a:rPr lang="tr-TR" sz="36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solutions</a:t>
            </a:r>
          </a:p>
          <a:p>
            <a:r>
              <a:rPr lang="tr-TR" sz="36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Introducing the </a:t>
            </a:r>
            <a:r>
              <a:rPr lang="tr-TR" sz="36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Kubernetes Tunneling</a:t>
            </a:r>
            <a:r>
              <a:rPr lang="tr-TR" sz="36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solution</a:t>
            </a:r>
          </a:p>
          <a:p>
            <a:r>
              <a:rPr lang="tr-TR" sz="36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Existing </a:t>
            </a:r>
            <a:r>
              <a:rPr lang="tr-TR" sz="36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products</a:t>
            </a:r>
          </a:p>
          <a:p>
            <a:r>
              <a:rPr lang="tr-TR" sz="36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How we’ve </a:t>
            </a:r>
            <a:r>
              <a:rPr lang="tr-TR" sz="36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designed</a:t>
            </a:r>
            <a:r>
              <a:rPr lang="tr-TR" sz="36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&amp; </a:t>
            </a:r>
            <a:r>
              <a:rPr lang="tr-TR" sz="36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implemented </a:t>
            </a:r>
            <a:r>
              <a:rPr lang="tr-TR" sz="36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it</a:t>
            </a:r>
          </a:p>
          <a:p>
            <a:r>
              <a:rPr lang="tr-TR" sz="36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The </a:t>
            </a:r>
            <a:r>
              <a:rPr lang="tr-TR" sz="36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tools</a:t>
            </a:r>
            <a:r>
              <a:rPr lang="tr-TR" sz="36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used</a:t>
            </a:r>
          </a:p>
          <a:p>
            <a:r>
              <a:rPr lang="tr-TR" sz="3600" b="1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Demo</a:t>
            </a:r>
            <a:endParaRPr lang="en-US" sz="3600" dirty="0">
              <a:solidFill>
                <a:srgbClr val="FF0000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355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29D82957-8FD0-49FF-B99F-7F7BB3AB2C9F}"/>
              </a:ext>
            </a:extLst>
          </p:cNvPr>
          <p:cNvSpPr txBox="1"/>
          <p:nvPr/>
        </p:nvSpPr>
        <p:spPr>
          <a:xfrm>
            <a:off x="323850" y="361950"/>
            <a:ext cx="2165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About Me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64B8681-D97F-DAF6-0838-E551958C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589" y="6110014"/>
            <a:ext cx="376511" cy="37651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BC5D443-8567-BBB4-6990-28A2393702EB}"/>
              </a:ext>
            </a:extLst>
          </p:cNvPr>
          <p:cNvSpPr txBox="1"/>
          <p:nvPr/>
        </p:nvSpPr>
        <p:spPr>
          <a:xfrm>
            <a:off x="847154" y="6112073"/>
            <a:ext cx="233269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tr-TR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Halil İbrahim Kalkan</a:t>
            </a: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C8247E91-010C-5C93-FA89-F1BC03BE20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89" y="2864559"/>
            <a:ext cx="2349905" cy="574845"/>
          </a:xfrm>
          <a:prstGeom prst="rect">
            <a:avLst/>
          </a:prstGeom>
        </p:spPr>
      </p:pic>
      <p:pic>
        <p:nvPicPr>
          <p:cNvPr id="7" name="Picture 6" descr="Logo&#10;&#10;Description automatically generated with low confidence">
            <a:extLst>
              <a:ext uri="{FF2B5EF4-FFF2-40B4-BE49-F238E27FC236}">
                <a16:creationId xmlns:a16="http://schemas.microsoft.com/office/drawing/2014/main" id="{6C729D16-A1F9-D4C4-7BF7-4B88AF5E15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89" y="3718034"/>
            <a:ext cx="1669819" cy="574844"/>
          </a:xfrm>
          <a:prstGeom prst="rect">
            <a:avLst/>
          </a:prstGeom>
        </p:spPr>
      </p:pic>
      <p:pic>
        <p:nvPicPr>
          <p:cNvPr id="9" name="Picture 8" descr="Shape&#10;&#10;Description automatically generated with low confidence">
            <a:extLst>
              <a:ext uri="{FF2B5EF4-FFF2-40B4-BE49-F238E27FC236}">
                <a16:creationId xmlns:a16="http://schemas.microsoft.com/office/drawing/2014/main" id="{EF54BCFC-D090-607C-E9EB-C5F0C91403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89" y="1256045"/>
            <a:ext cx="574845" cy="574845"/>
          </a:xfrm>
          <a:prstGeom prst="rect">
            <a:avLst/>
          </a:prstGeom>
        </p:spPr>
      </p:pic>
      <p:pic>
        <p:nvPicPr>
          <p:cNvPr id="11" name="Picture 10" descr="Graphical user interface&#10;&#10;Description automatically generated">
            <a:extLst>
              <a:ext uri="{FF2B5EF4-FFF2-40B4-BE49-F238E27FC236}">
                <a16:creationId xmlns:a16="http://schemas.microsoft.com/office/drawing/2014/main" id="{E084E354-9652-F4B6-54F4-36E9C2D0F2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10" y="2011084"/>
            <a:ext cx="570524" cy="5705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75C71D3-3E9F-D22F-BC97-BC8DBA702CFA}"/>
              </a:ext>
            </a:extLst>
          </p:cNvPr>
          <p:cNvSpPr txBox="1"/>
          <p:nvPr/>
        </p:nvSpPr>
        <p:spPr>
          <a:xfrm>
            <a:off x="1179007" y="1333102"/>
            <a:ext cx="6294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2007, Computer Engineering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3E8C80-49A7-9917-C0AF-31C92416FF4F}"/>
              </a:ext>
            </a:extLst>
          </p:cNvPr>
          <p:cNvSpPr txBox="1"/>
          <p:nvPr/>
        </p:nvSpPr>
        <p:spPr>
          <a:xfrm>
            <a:off x="1179007" y="1951803"/>
            <a:ext cx="72641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2007 - 2015: Software developer, software architect, team leader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2BDD46-480E-3558-DCDA-39EE0B1FA28D}"/>
              </a:ext>
            </a:extLst>
          </p:cNvPr>
          <p:cNvSpPr txBox="1"/>
          <p:nvPr/>
        </p:nvSpPr>
        <p:spPr>
          <a:xfrm>
            <a:off x="2985279" y="2795859"/>
            <a:ext cx="4996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2016 - ∞: Co-founder, software architect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1B9F35-18C9-2150-122C-0696C80FCC61}"/>
              </a:ext>
            </a:extLst>
          </p:cNvPr>
          <p:cNvSpPr txBox="1"/>
          <p:nvPr/>
        </p:nvSpPr>
        <p:spPr>
          <a:xfrm>
            <a:off x="2278937" y="3613962"/>
            <a:ext cx="6164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2013 - ∞: Lead developer of the open source ABP Framework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A19AA91-7014-3E76-4B4D-0FF0B25161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89" y="4473073"/>
            <a:ext cx="570524" cy="57052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DCD69B7-C3C7-53E0-2F16-224D242F41FB}"/>
              </a:ext>
            </a:extLst>
          </p:cNvPr>
          <p:cNvSpPr txBox="1"/>
          <p:nvPr/>
        </p:nvSpPr>
        <p:spPr>
          <a:xfrm>
            <a:off x="1108771" y="4351778"/>
            <a:ext cx="74456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Multi-threading, distributed systems, OOP, DDD, software architectures.. etc.</a:t>
            </a:r>
          </a:p>
        </p:txBody>
      </p:sp>
      <p:pic>
        <p:nvPicPr>
          <p:cNvPr id="19" name="Picture 18" descr="Shape&#10;&#10;Description automatically generated with low confidence">
            <a:extLst>
              <a:ext uri="{FF2B5EF4-FFF2-40B4-BE49-F238E27FC236}">
                <a16:creationId xmlns:a16="http://schemas.microsoft.com/office/drawing/2014/main" id="{9F777EE5-F5B0-E4E1-45FA-20B5B21B8BC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89" y="5228112"/>
            <a:ext cx="570524" cy="57052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3324A65-ACBC-89AB-21C5-D28356AD6D27}"/>
              </a:ext>
            </a:extLst>
          </p:cNvPr>
          <p:cNvSpPr txBox="1"/>
          <p:nvPr/>
        </p:nvSpPr>
        <p:spPr>
          <a:xfrm>
            <a:off x="1108771" y="5282541"/>
            <a:ext cx="6873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Highly active coder, mostly open source.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EC6F836-15D1-E0A5-43F8-ACA17EC7BCA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12202" y="175731"/>
            <a:ext cx="2855948" cy="580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884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7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29D82957-8FD0-49FF-B99F-7F7BB3AB2C9F}"/>
              </a:ext>
            </a:extLst>
          </p:cNvPr>
          <p:cNvSpPr txBox="1"/>
          <p:nvPr/>
        </p:nvSpPr>
        <p:spPr>
          <a:xfrm>
            <a:off x="323850" y="361950"/>
            <a:ext cx="2686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Questions..?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64B8681-D97F-DAF6-0838-E551958C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589" y="6110014"/>
            <a:ext cx="376511" cy="37651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BC5D443-8567-BBB4-6990-28A2393702EB}"/>
              </a:ext>
            </a:extLst>
          </p:cNvPr>
          <p:cNvSpPr txBox="1"/>
          <p:nvPr/>
        </p:nvSpPr>
        <p:spPr>
          <a:xfrm>
            <a:off x="847154" y="6112073"/>
            <a:ext cx="233269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tr-TR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Halil İbrahim Kalkan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580A4FE-9B4C-44BA-F200-7E841BA70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226034"/>
            <a:ext cx="11473139" cy="4675716"/>
          </a:xfrm>
        </p:spPr>
        <p:txBody>
          <a:bodyPr>
            <a:normAutofit/>
          </a:bodyPr>
          <a:lstStyle/>
          <a:p>
            <a:r>
              <a:rPr lang="tr-TR" sz="40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Anyone worked in a </a:t>
            </a:r>
            <a:r>
              <a:rPr lang="tr-TR" sz="40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microservice </a:t>
            </a:r>
            <a:r>
              <a:rPr lang="tr-TR" sz="40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solution?</a:t>
            </a:r>
          </a:p>
          <a:p>
            <a:r>
              <a:rPr lang="tr-TR" sz="40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Anyone </a:t>
            </a:r>
            <a:r>
              <a:rPr lang="tr-TR" sz="4000" dirty="0" err="1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used</a:t>
            </a:r>
            <a:r>
              <a:rPr lang="tr-TR" sz="40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tr-TR" sz="4000" b="1" dirty="0" err="1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Kubernetes</a:t>
            </a:r>
            <a:r>
              <a:rPr lang="tr-TR" sz="40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?</a:t>
            </a:r>
            <a:endParaRPr lang="en-US" sz="4000" dirty="0">
              <a:solidFill>
                <a:srgbClr val="5B636F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n-US" sz="40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DevOps</a:t>
            </a:r>
            <a:r>
              <a:rPr lang="en-US" sz="40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engineers?</a:t>
            </a:r>
            <a:endParaRPr lang="tr-TR" sz="4000" dirty="0">
              <a:solidFill>
                <a:srgbClr val="5B636F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tr-TR" sz="40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Backend </a:t>
            </a:r>
            <a:r>
              <a:rPr lang="tr-TR" sz="40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developers?</a:t>
            </a:r>
          </a:p>
          <a:p>
            <a:r>
              <a:rPr lang="tr-TR" sz="40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.NET</a:t>
            </a:r>
            <a:r>
              <a:rPr lang="tr-TR" sz="40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Developers?</a:t>
            </a:r>
            <a:endParaRPr lang="en-US" sz="4000" dirty="0">
              <a:solidFill>
                <a:srgbClr val="5B636F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587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29D82957-8FD0-49FF-B99F-7F7BB3AB2C9F}"/>
              </a:ext>
            </a:extLst>
          </p:cNvPr>
          <p:cNvSpPr txBox="1"/>
          <p:nvPr/>
        </p:nvSpPr>
        <p:spPr>
          <a:xfrm>
            <a:off x="323850" y="361950"/>
            <a:ext cx="82109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Components of a microservice solution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64B8681-D97F-DAF6-0838-E551958C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589" y="6110014"/>
            <a:ext cx="376511" cy="37651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BC5D443-8567-BBB4-6990-28A2393702EB}"/>
              </a:ext>
            </a:extLst>
          </p:cNvPr>
          <p:cNvSpPr txBox="1"/>
          <p:nvPr/>
        </p:nvSpPr>
        <p:spPr>
          <a:xfrm>
            <a:off x="847154" y="6112073"/>
            <a:ext cx="233269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tr-TR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Halil İbrahim Kalkan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A396D0-065C-2049-8EAF-3A342AA39CC8}"/>
              </a:ext>
            </a:extLst>
          </p:cNvPr>
          <p:cNvSpPr/>
          <p:nvPr/>
        </p:nvSpPr>
        <p:spPr>
          <a:xfrm>
            <a:off x="2063806" y="3708294"/>
            <a:ext cx="1526796" cy="55367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Public Web Site</a:t>
            </a:r>
          </a:p>
          <a:p>
            <a:pPr algn="ctr"/>
            <a:r>
              <a:rPr lang="en-US" sz="1600" dirty="0"/>
              <a:t>(MVC)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1CE72B-BA5E-82F5-7394-E58938F6383E}"/>
              </a:ext>
            </a:extLst>
          </p:cNvPr>
          <p:cNvSpPr/>
          <p:nvPr/>
        </p:nvSpPr>
        <p:spPr>
          <a:xfrm>
            <a:off x="2063806" y="2576112"/>
            <a:ext cx="1526796" cy="55367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Backend Admin Application (</a:t>
            </a:r>
            <a:r>
              <a:rPr lang="tr-TR" sz="1400"/>
              <a:t>SPA</a:t>
            </a:r>
            <a:r>
              <a:rPr lang="en-US" sz="1400"/>
              <a:t>)</a:t>
            </a:r>
            <a:endParaRPr lang="en-US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98D0D5-FE56-6D09-7EB5-FB6352A13EFF}"/>
              </a:ext>
            </a:extLst>
          </p:cNvPr>
          <p:cNvSpPr/>
          <p:nvPr/>
        </p:nvSpPr>
        <p:spPr>
          <a:xfrm>
            <a:off x="4120353" y="3704582"/>
            <a:ext cx="1902690" cy="5536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Public Web Site</a:t>
            </a:r>
          </a:p>
          <a:p>
            <a:r>
              <a:rPr lang="tr-TR" sz="1600" dirty="0"/>
              <a:t>API </a:t>
            </a:r>
            <a:r>
              <a:rPr lang="en-US" sz="1600" dirty="0"/>
              <a:t>Gateway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EB6A82-F6C9-A470-22D8-F04BE8327DB8}"/>
              </a:ext>
            </a:extLst>
          </p:cNvPr>
          <p:cNvSpPr/>
          <p:nvPr/>
        </p:nvSpPr>
        <p:spPr>
          <a:xfrm>
            <a:off x="6556519" y="3131670"/>
            <a:ext cx="2198613" cy="55367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1600" dirty="0">
                <a:solidFill>
                  <a:schemeClr val="tx1"/>
                </a:solidFill>
              </a:rPr>
              <a:t>Ordering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Microservice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8DB45-A468-7EC5-2A41-47A4483EEF3E}"/>
              </a:ext>
            </a:extLst>
          </p:cNvPr>
          <p:cNvSpPr/>
          <p:nvPr/>
        </p:nvSpPr>
        <p:spPr>
          <a:xfrm>
            <a:off x="6556520" y="2185812"/>
            <a:ext cx="2198614" cy="55367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1600" dirty="0">
                <a:solidFill>
                  <a:schemeClr val="tx1"/>
                </a:solidFill>
              </a:rPr>
              <a:t>Product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Microservice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618030-2275-24D9-DD0C-CE17135F97F2}"/>
              </a:ext>
            </a:extLst>
          </p:cNvPr>
          <p:cNvSpPr/>
          <p:nvPr/>
        </p:nvSpPr>
        <p:spPr>
          <a:xfrm>
            <a:off x="6556520" y="4054663"/>
            <a:ext cx="2198614" cy="55367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1600" dirty="0">
                <a:solidFill>
                  <a:schemeClr val="tx1"/>
                </a:solidFill>
              </a:rPr>
              <a:t>Identity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Microservice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92A398-8D8A-8AA3-0D7F-9001A0F3C31F}"/>
              </a:ext>
            </a:extLst>
          </p:cNvPr>
          <p:cNvSpPr/>
          <p:nvPr/>
        </p:nvSpPr>
        <p:spPr>
          <a:xfrm>
            <a:off x="4120353" y="1245012"/>
            <a:ext cx="4634779" cy="553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Authentication Server</a:t>
            </a:r>
          </a:p>
        </p:txBody>
      </p:sp>
      <p:pic>
        <p:nvPicPr>
          <p:cNvPr id="15" name="Picture 6" descr="Image result for mongodb">
            <a:extLst>
              <a:ext uri="{FF2B5EF4-FFF2-40B4-BE49-F238E27FC236}">
                <a16:creationId xmlns:a16="http://schemas.microsoft.com/office/drawing/2014/main" id="{4A735870-59DE-6A0D-0C2E-18C0CC61A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996" y="2985952"/>
            <a:ext cx="881543" cy="881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Image result for sql server">
            <a:extLst>
              <a:ext uri="{FF2B5EF4-FFF2-40B4-BE49-F238E27FC236}">
                <a16:creationId xmlns:a16="http://schemas.microsoft.com/office/drawing/2014/main" id="{43C586D5-FCDB-218E-0FB7-390306C3E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5272" y="4043975"/>
            <a:ext cx="640673" cy="517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Image result for sql server">
            <a:extLst>
              <a:ext uri="{FF2B5EF4-FFF2-40B4-BE49-F238E27FC236}">
                <a16:creationId xmlns:a16="http://schemas.microsoft.com/office/drawing/2014/main" id="{DC16236E-87A1-FF56-548E-E74174DE4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5272" y="2193305"/>
            <a:ext cx="665267" cy="537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9F41528-4032-53F7-CDB7-54C273260F02}"/>
              </a:ext>
            </a:extLst>
          </p:cNvPr>
          <p:cNvSpPr/>
          <p:nvPr/>
        </p:nvSpPr>
        <p:spPr>
          <a:xfrm rot="5400000" flipH="1">
            <a:off x="8436983" y="3033710"/>
            <a:ext cx="2422524" cy="7267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/>
              <a:t>    </a:t>
            </a:r>
            <a:r>
              <a:rPr lang="en-US" dirty="0"/>
              <a:t>Event Bus</a:t>
            </a:r>
          </a:p>
        </p:txBody>
      </p:sp>
      <p:pic>
        <p:nvPicPr>
          <p:cNvPr id="19" name="Picture 2" descr="Image result for rabbitmq logo">
            <a:extLst>
              <a:ext uri="{FF2B5EF4-FFF2-40B4-BE49-F238E27FC236}">
                <a16:creationId xmlns:a16="http://schemas.microsoft.com/office/drawing/2014/main" id="{2C4E8A3B-5CEF-0469-0D0F-018DD5A08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1632" y="3691200"/>
            <a:ext cx="579284" cy="613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F259DD8-DE3D-7C08-27EF-3253A0933D17}"/>
              </a:ext>
            </a:extLst>
          </p:cNvPr>
          <p:cNvSpPr txBox="1"/>
          <p:nvPr/>
        </p:nvSpPr>
        <p:spPr>
          <a:xfrm>
            <a:off x="9283585" y="4335943"/>
            <a:ext cx="7697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RabbitMQ</a:t>
            </a:r>
          </a:p>
        </p:txBody>
      </p:sp>
      <p:pic>
        <p:nvPicPr>
          <p:cNvPr id="21" name="Picture 6" descr="https://camo.githubusercontent.com/c2118a418c5805c899903bc34fcdf471c9edf0d5/687474703a2f2f74687265656d616d6d616c732e636f6d2f696d616765732f6f63656c6f745f6c6f676f2e706e67">
            <a:extLst>
              <a:ext uri="{FF2B5EF4-FFF2-40B4-BE49-F238E27FC236}">
                <a16:creationId xmlns:a16="http://schemas.microsoft.com/office/drawing/2014/main" id="{FB6ECC7F-2B30-41AA-481F-6150F8BA6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545" y="3721569"/>
            <a:ext cx="438647" cy="518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09A0A82-AA1C-1CE2-192E-CA9263859171}"/>
              </a:ext>
            </a:extLst>
          </p:cNvPr>
          <p:cNvSpPr/>
          <p:nvPr/>
        </p:nvSpPr>
        <p:spPr>
          <a:xfrm>
            <a:off x="4120353" y="2572400"/>
            <a:ext cx="1902690" cy="5536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Backend App</a:t>
            </a:r>
          </a:p>
          <a:p>
            <a:r>
              <a:rPr lang="tr-TR" sz="1600" dirty="0"/>
              <a:t>API </a:t>
            </a:r>
            <a:r>
              <a:rPr lang="en-US" sz="1600" dirty="0"/>
              <a:t>Gateway</a:t>
            </a:r>
          </a:p>
        </p:txBody>
      </p:sp>
      <p:pic>
        <p:nvPicPr>
          <p:cNvPr id="23" name="Picture 6" descr="https://camo.githubusercontent.com/c2118a418c5805c899903bc34fcdf471c9edf0d5/687474703a2f2f74687265656d616d6d616c732e636f6d2f696d616765732f6f63656c6f745f6c6f676f2e706e67">
            <a:extLst>
              <a:ext uri="{FF2B5EF4-FFF2-40B4-BE49-F238E27FC236}">
                <a16:creationId xmlns:a16="http://schemas.microsoft.com/office/drawing/2014/main" id="{693BD307-CA67-7636-7F2C-2D4C410C6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545" y="2589387"/>
            <a:ext cx="438647" cy="518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B45C85C-DC9E-CF95-F411-AF1D4A6FF2A1}"/>
              </a:ext>
            </a:extLst>
          </p:cNvPr>
          <p:cNvSpPr/>
          <p:nvPr/>
        </p:nvSpPr>
        <p:spPr>
          <a:xfrm>
            <a:off x="5405150" y="4946581"/>
            <a:ext cx="2198612" cy="6907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/>
              <a:t>(Log Database)</a:t>
            </a:r>
          </a:p>
        </p:txBody>
      </p:sp>
      <p:pic>
        <p:nvPicPr>
          <p:cNvPr id="25" name="Picture 8" descr="Image result for elasticsearch logo">
            <a:extLst>
              <a:ext uri="{FF2B5EF4-FFF2-40B4-BE49-F238E27FC236}">
                <a16:creationId xmlns:a16="http://schemas.microsoft.com/office/drawing/2014/main" id="{FF5F312D-3CD1-87A4-C871-0EF79DFC8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4549" y="4951403"/>
            <a:ext cx="1708727" cy="45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C70B553-4717-8CD0-9846-E0F3EDA4587B}"/>
              </a:ext>
            </a:extLst>
          </p:cNvPr>
          <p:cNvSpPr/>
          <p:nvPr/>
        </p:nvSpPr>
        <p:spPr>
          <a:xfrm>
            <a:off x="7862185" y="4946581"/>
            <a:ext cx="2149424" cy="6907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/>
              <a:t>(Data Visualization)</a:t>
            </a:r>
          </a:p>
        </p:txBody>
      </p:sp>
      <p:pic>
        <p:nvPicPr>
          <p:cNvPr id="27" name="Picture 10" descr="Image result for kibana logo">
            <a:extLst>
              <a:ext uri="{FF2B5EF4-FFF2-40B4-BE49-F238E27FC236}">
                <a16:creationId xmlns:a16="http://schemas.microsoft.com/office/drawing/2014/main" id="{AEB0EB49-2808-115E-64F3-1DA5E442A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7016" y="4899519"/>
            <a:ext cx="1217127" cy="555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DA0D383-BC3E-7FFA-6032-C13A76708883}"/>
              </a:ext>
            </a:extLst>
          </p:cNvPr>
          <p:cNvSpPr/>
          <p:nvPr/>
        </p:nvSpPr>
        <p:spPr>
          <a:xfrm>
            <a:off x="2972709" y="4946580"/>
            <a:ext cx="2174018" cy="6907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/>
              <a:t>(Distributed Cache)</a:t>
            </a:r>
          </a:p>
        </p:txBody>
      </p:sp>
      <p:pic>
        <p:nvPicPr>
          <p:cNvPr id="29" name="Picture 12" descr="Image result for redis logo">
            <a:extLst>
              <a:ext uri="{FF2B5EF4-FFF2-40B4-BE49-F238E27FC236}">
                <a16:creationId xmlns:a16="http://schemas.microsoft.com/office/drawing/2014/main" id="{CEFCF67C-902B-BED7-C205-0F9555C7E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538" y="5008719"/>
            <a:ext cx="1079501" cy="360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4E9A4F9-C19A-672F-7F9E-DB78CC2561D7}"/>
              </a:ext>
            </a:extLst>
          </p:cNvPr>
          <p:cNvCxnSpPr>
            <a:cxnSpLocks/>
          </p:cNvCxnSpPr>
          <p:nvPr/>
        </p:nvCxnSpPr>
        <p:spPr>
          <a:xfrm>
            <a:off x="8755132" y="2579472"/>
            <a:ext cx="553674" cy="0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DC0E7FC-FDBC-D953-4E0A-801407624F53}"/>
              </a:ext>
            </a:extLst>
          </p:cNvPr>
          <p:cNvCxnSpPr>
            <a:cxnSpLocks/>
            <a:stCxn id="11" idx="3"/>
            <a:endCxn id="18" idx="2"/>
          </p:cNvCxnSpPr>
          <p:nvPr/>
        </p:nvCxnSpPr>
        <p:spPr>
          <a:xfrm flipV="1">
            <a:off x="8755132" y="3397074"/>
            <a:ext cx="529749" cy="11433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DB17574-5C87-5698-3965-DD6B349370E4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8755134" y="4331500"/>
            <a:ext cx="526017" cy="0"/>
          </a:xfrm>
          <a:prstGeom prst="straightConnector1">
            <a:avLst/>
          </a:prstGeom>
          <a:ln w="190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2F75356-99C5-5E9D-B1DA-A70D319A13BF}"/>
              </a:ext>
            </a:extLst>
          </p:cNvPr>
          <p:cNvCxnSpPr>
            <a:stCxn id="22" idx="3"/>
            <a:endCxn id="12" idx="1"/>
          </p:cNvCxnSpPr>
          <p:nvPr/>
        </p:nvCxnSpPr>
        <p:spPr>
          <a:xfrm flipV="1">
            <a:off x="6023043" y="2462649"/>
            <a:ext cx="533477" cy="386588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BC83AC2-9FC3-8BE2-925E-26CC880B8AC8}"/>
              </a:ext>
            </a:extLst>
          </p:cNvPr>
          <p:cNvCxnSpPr>
            <a:stCxn id="22" idx="3"/>
            <a:endCxn id="13" idx="1"/>
          </p:cNvCxnSpPr>
          <p:nvPr/>
        </p:nvCxnSpPr>
        <p:spPr>
          <a:xfrm>
            <a:off x="6023043" y="2849237"/>
            <a:ext cx="533477" cy="1482263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7EB3672-5D06-C277-E26C-344EF8F834AB}"/>
              </a:ext>
            </a:extLst>
          </p:cNvPr>
          <p:cNvCxnSpPr>
            <a:stCxn id="9" idx="3"/>
            <a:endCxn id="11" idx="1"/>
          </p:cNvCxnSpPr>
          <p:nvPr/>
        </p:nvCxnSpPr>
        <p:spPr>
          <a:xfrm flipV="1">
            <a:off x="6023043" y="3408507"/>
            <a:ext cx="533476" cy="572912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F389B62-49A2-7229-C315-38B79BFE2D43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6023043" y="3981419"/>
            <a:ext cx="529747" cy="516166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6C62DC0-487D-3076-7CC6-694E61F745AE}"/>
              </a:ext>
            </a:extLst>
          </p:cNvPr>
          <p:cNvCxnSpPr>
            <a:stCxn id="7" idx="3"/>
            <a:endCxn id="22" idx="1"/>
          </p:cNvCxnSpPr>
          <p:nvPr/>
        </p:nvCxnSpPr>
        <p:spPr>
          <a:xfrm flipV="1">
            <a:off x="3590602" y="2849237"/>
            <a:ext cx="529751" cy="37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600390-A3A6-4C2F-4E13-6BF1621EB3B3}"/>
              </a:ext>
            </a:extLst>
          </p:cNvPr>
          <p:cNvCxnSpPr>
            <a:stCxn id="6" idx="3"/>
            <a:endCxn id="9" idx="1"/>
          </p:cNvCxnSpPr>
          <p:nvPr/>
        </p:nvCxnSpPr>
        <p:spPr>
          <a:xfrm flipV="1">
            <a:off x="3590602" y="3981419"/>
            <a:ext cx="529751" cy="37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2" descr="Multiple users silhouette - Free people icons">
            <a:extLst>
              <a:ext uri="{FF2B5EF4-FFF2-40B4-BE49-F238E27FC236}">
                <a16:creationId xmlns:a16="http://schemas.microsoft.com/office/drawing/2014/main" id="{A1B7EB00-DB8B-CB53-313C-6882223D7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415" y="3732922"/>
            <a:ext cx="643482" cy="643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4" descr="User (computing) - Wikipedia">
            <a:extLst>
              <a:ext uri="{FF2B5EF4-FFF2-40B4-BE49-F238E27FC236}">
                <a16:creationId xmlns:a16="http://schemas.microsoft.com/office/drawing/2014/main" id="{E2528C97-6CCD-45AD-2B08-FE8DCE66A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511" y="2572400"/>
            <a:ext cx="643482" cy="643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40EF83E-F26D-7844-0240-8A95BE9D892D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565844" y="2852886"/>
            <a:ext cx="497962" cy="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C1E0BF6-2D83-68C8-FF78-F021B7D997AE}"/>
              </a:ext>
            </a:extLst>
          </p:cNvPr>
          <p:cNvCxnSpPr>
            <a:cxnSpLocks/>
          </p:cNvCxnSpPr>
          <p:nvPr/>
        </p:nvCxnSpPr>
        <p:spPr>
          <a:xfrm>
            <a:off x="1639648" y="4029900"/>
            <a:ext cx="42415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Picture 6" descr="Authentication icon PNG and SVG Vector Free Download">
            <a:extLst>
              <a:ext uri="{FF2B5EF4-FFF2-40B4-BE49-F238E27FC236}">
                <a16:creationId xmlns:a16="http://schemas.microsoft.com/office/drawing/2014/main" id="{56A56A10-1554-5760-D159-582B540BA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044" y="1300889"/>
            <a:ext cx="395308" cy="441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51E51D27-B24E-8FE4-283A-6B3C4B46C3DE}"/>
              </a:ext>
            </a:extLst>
          </p:cNvPr>
          <p:cNvSpPr/>
          <p:nvPr/>
        </p:nvSpPr>
        <p:spPr>
          <a:xfrm>
            <a:off x="6439546" y="2053525"/>
            <a:ext cx="2425485" cy="821676"/>
          </a:xfrm>
          <a:prstGeom prst="rect">
            <a:avLst/>
          </a:prstGeom>
          <a:noFill/>
          <a:ln w="762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31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8" grpId="0" animBg="1"/>
      <p:bldP spid="20" grpId="0"/>
      <p:bldP spid="22" grpId="0" animBg="1"/>
      <p:bldP spid="24" grpId="0" animBg="1"/>
      <p:bldP spid="26" grpId="0" animBg="1"/>
      <p:bldP spid="28" grpId="0" animBg="1"/>
      <p:bldP spid="4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29D82957-8FD0-49FF-B99F-7F7BB3AB2C9F}"/>
              </a:ext>
            </a:extLst>
          </p:cNvPr>
          <p:cNvSpPr txBox="1"/>
          <p:nvPr/>
        </p:nvSpPr>
        <p:spPr>
          <a:xfrm>
            <a:off x="323850" y="361950"/>
            <a:ext cx="73164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How to run a single service locally?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64B8681-D97F-DAF6-0838-E551958C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589" y="6110014"/>
            <a:ext cx="376511" cy="37651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BC5D443-8567-BBB4-6990-28A2393702EB}"/>
              </a:ext>
            </a:extLst>
          </p:cNvPr>
          <p:cNvSpPr txBox="1"/>
          <p:nvPr/>
        </p:nvSpPr>
        <p:spPr>
          <a:xfrm>
            <a:off x="847154" y="6112073"/>
            <a:ext cx="233269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tr-TR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Halil İbrahim Kalkan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EB226-6BBB-0121-F6BF-81B889FF07B3}"/>
              </a:ext>
            </a:extLst>
          </p:cNvPr>
          <p:cNvSpPr/>
          <p:nvPr/>
        </p:nvSpPr>
        <p:spPr>
          <a:xfrm>
            <a:off x="7735708" y="1058746"/>
            <a:ext cx="2836630" cy="49385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3FE355-2F09-DA05-2F31-0767744C848D}"/>
              </a:ext>
            </a:extLst>
          </p:cNvPr>
          <p:cNvSpPr/>
          <p:nvPr/>
        </p:nvSpPr>
        <p:spPr>
          <a:xfrm>
            <a:off x="1262790" y="1059476"/>
            <a:ext cx="2951898" cy="49385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4F4B7B-8F86-96E0-4B90-766BB871F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950" y="1930795"/>
            <a:ext cx="2707578" cy="1792986"/>
          </a:xfrm>
          <a:prstGeom prst="rect">
            <a:avLst/>
          </a:prstGeom>
        </p:spPr>
      </p:pic>
      <p:pic>
        <p:nvPicPr>
          <p:cNvPr id="11" name="Picture 4" descr="Image result for sql server">
            <a:extLst>
              <a:ext uri="{FF2B5EF4-FFF2-40B4-BE49-F238E27FC236}">
                <a16:creationId xmlns:a16="http://schemas.microsoft.com/office/drawing/2014/main" id="{B67B6B03-8108-C269-3F85-2EC0C6CD7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3972" y="5311545"/>
            <a:ext cx="640673" cy="517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Image result for rabbitmq logo">
            <a:extLst>
              <a:ext uri="{FF2B5EF4-FFF2-40B4-BE49-F238E27FC236}">
                <a16:creationId xmlns:a16="http://schemas.microsoft.com/office/drawing/2014/main" id="{82B8FE08-8FF8-9BBE-C5A4-D45493DE2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7" y="4382485"/>
            <a:ext cx="579284" cy="613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Image result for elasticsearch logo">
            <a:extLst>
              <a:ext uri="{FF2B5EF4-FFF2-40B4-BE49-F238E27FC236}">
                <a16:creationId xmlns:a16="http://schemas.microsoft.com/office/drawing/2014/main" id="{32099A72-202D-21E5-5621-DC0B05735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564" y="4325866"/>
            <a:ext cx="1708727" cy="45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Image result for kibana logo">
            <a:extLst>
              <a:ext uri="{FF2B5EF4-FFF2-40B4-BE49-F238E27FC236}">
                <a16:creationId xmlns:a16="http://schemas.microsoft.com/office/drawing/2014/main" id="{57E5378F-CD30-666A-4D27-BF900695F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564" y="4817232"/>
            <a:ext cx="1217127" cy="555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 descr="Image result for redis logo">
            <a:extLst>
              <a:ext uri="{FF2B5EF4-FFF2-40B4-BE49-F238E27FC236}">
                <a16:creationId xmlns:a16="http://schemas.microsoft.com/office/drawing/2014/main" id="{053B5931-CBFB-4251-DFDA-375C3705F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4376" y="5483744"/>
            <a:ext cx="1079501" cy="360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42F19C2-016D-C738-99A9-E75718EABF52}"/>
              </a:ext>
            </a:extLst>
          </p:cNvPr>
          <p:cNvSpPr/>
          <p:nvPr/>
        </p:nvSpPr>
        <p:spPr>
          <a:xfrm>
            <a:off x="7863972" y="1536164"/>
            <a:ext cx="2588534" cy="3432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Authentication Server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1D6CDA-256C-2C39-C4C6-5391799E5586}"/>
              </a:ext>
            </a:extLst>
          </p:cNvPr>
          <p:cNvSpPr/>
          <p:nvPr/>
        </p:nvSpPr>
        <p:spPr>
          <a:xfrm>
            <a:off x="7863972" y="2410300"/>
            <a:ext cx="2588534" cy="34324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>
                <a:solidFill>
                  <a:schemeClr val="tx1"/>
                </a:solidFill>
              </a:rPr>
              <a:t>Customer </a:t>
            </a:r>
            <a:r>
              <a:rPr lang="en-US" sz="1400" dirty="0">
                <a:solidFill>
                  <a:schemeClr val="tx1"/>
                </a:solidFill>
              </a:rPr>
              <a:t>Microservice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2EF541-B1CF-5B25-E778-DDB4F0862FEF}"/>
              </a:ext>
            </a:extLst>
          </p:cNvPr>
          <p:cNvSpPr/>
          <p:nvPr/>
        </p:nvSpPr>
        <p:spPr>
          <a:xfrm>
            <a:off x="7863972" y="1973232"/>
            <a:ext cx="2588534" cy="34324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>
                <a:solidFill>
                  <a:schemeClr val="tx1"/>
                </a:solidFill>
              </a:rPr>
              <a:t>Ordering </a:t>
            </a:r>
            <a:r>
              <a:rPr lang="en-US" sz="1400" dirty="0">
                <a:solidFill>
                  <a:schemeClr val="tx1"/>
                </a:solidFill>
              </a:rPr>
              <a:t>Microservice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8F3142-CD05-A6C3-6E8C-0EE699C9ADC1}"/>
              </a:ext>
            </a:extLst>
          </p:cNvPr>
          <p:cNvSpPr txBox="1"/>
          <p:nvPr/>
        </p:nvSpPr>
        <p:spPr>
          <a:xfrm>
            <a:off x="1262790" y="1086554"/>
            <a:ext cx="2951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>
                <a:solidFill>
                  <a:schemeClr val="bg1"/>
                </a:solidFill>
              </a:rPr>
              <a:t>LOCAL DEVELOPER MACHINE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CB8F8A-4976-150C-05D2-100376FD6C3D}"/>
              </a:ext>
            </a:extLst>
          </p:cNvPr>
          <p:cNvSpPr txBox="1"/>
          <p:nvPr/>
        </p:nvSpPr>
        <p:spPr>
          <a:xfrm>
            <a:off x="7839318" y="1076212"/>
            <a:ext cx="2588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bg1"/>
                </a:solidFill>
              </a:rPr>
              <a:t>DEPENDENCIES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0EFE62E-DA67-06CD-0F1F-1DF486EC62F7}"/>
              </a:ext>
            </a:extLst>
          </p:cNvPr>
          <p:cNvCxnSpPr>
            <a:stCxn id="9" idx="2"/>
          </p:cNvCxnSpPr>
          <p:nvPr/>
        </p:nvCxnSpPr>
        <p:spPr>
          <a:xfrm>
            <a:off x="2738739" y="3723781"/>
            <a:ext cx="0" cy="540572"/>
          </a:xfrm>
          <a:prstGeom prst="straightConnector1">
            <a:avLst/>
          </a:prstGeom>
          <a:ln w="381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F1DF8F0-D2FF-1C97-5258-2311391855A3}"/>
              </a:ext>
            </a:extLst>
          </p:cNvPr>
          <p:cNvSpPr txBox="1"/>
          <p:nvPr/>
        </p:nvSpPr>
        <p:spPr>
          <a:xfrm>
            <a:off x="2803800" y="3794952"/>
            <a:ext cx="1223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solidFill>
                  <a:schemeClr val="bg1"/>
                </a:solidFill>
              </a:rPr>
              <a:t>Run locally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F31665-643D-3CE0-4697-83881B217F85}"/>
              </a:ext>
            </a:extLst>
          </p:cNvPr>
          <p:cNvSpPr/>
          <p:nvPr/>
        </p:nvSpPr>
        <p:spPr>
          <a:xfrm>
            <a:off x="7863972" y="3284436"/>
            <a:ext cx="2588534" cy="34324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>
                <a:solidFill>
                  <a:schemeClr val="tx1"/>
                </a:solidFill>
              </a:rPr>
              <a:t>Identity </a:t>
            </a:r>
            <a:r>
              <a:rPr lang="en-US" sz="1400" dirty="0">
                <a:solidFill>
                  <a:schemeClr val="tx1"/>
                </a:solidFill>
              </a:rPr>
              <a:t>Microservice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F0E0CF-FD65-C9D9-F487-D6F0E75831A9}"/>
              </a:ext>
            </a:extLst>
          </p:cNvPr>
          <p:cNvSpPr/>
          <p:nvPr/>
        </p:nvSpPr>
        <p:spPr>
          <a:xfrm>
            <a:off x="7863972" y="2847368"/>
            <a:ext cx="2588534" cy="34324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>
                <a:solidFill>
                  <a:schemeClr val="tx1"/>
                </a:solidFill>
              </a:rPr>
              <a:t>Saas </a:t>
            </a:r>
            <a:r>
              <a:rPr lang="en-US" sz="1400" dirty="0">
                <a:solidFill>
                  <a:schemeClr val="tx1"/>
                </a:solidFill>
              </a:rPr>
              <a:t>Microservice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814343-9F75-BD16-8001-82520C3EB2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4947" y="4261253"/>
            <a:ext cx="2707575" cy="156820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EFB6892-A918-DD9D-AFF4-EAE3F17E45B9}"/>
              </a:ext>
            </a:extLst>
          </p:cNvPr>
          <p:cNvSpPr txBox="1"/>
          <p:nvPr/>
        </p:nvSpPr>
        <p:spPr>
          <a:xfrm>
            <a:off x="1465227" y="1445544"/>
            <a:ext cx="2551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b="1" dirty="0">
                <a:solidFill>
                  <a:srgbClr val="FFFF00"/>
                </a:solidFill>
              </a:rPr>
              <a:t>PRODUCT SERVICE</a:t>
            </a:r>
            <a:endParaRPr lang="en-US" sz="2400" b="1" dirty="0">
              <a:solidFill>
                <a:srgbClr val="FFFF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2ACD9E-0AC8-0883-CB66-FD72C9EF2BA6}"/>
              </a:ext>
            </a:extLst>
          </p:cNvPr>
          <p:cNvSpPr/>
          <p:nvPr/>
        </p:nvSpPr>
        <p:spPr>
          <a:xfrm>
            <a:off x="7865464" y="3717177"/>
            <a:ext cx="2588534" cy="34324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i="1" dirty="0">
                <a:solidFill>
                  <a:schemeClr val="tx1"/>
                </a:solidFill>
              </a:rPr>
              <a:t>...other services...</a:t>
            </a:r>
            <a:endParaRPr lang="en-US" sz="1400" i="1" dirty="0">
              <a:solidFill>
                <a:schemeClr val="tx1"/>
              </a:solidFill>
            </a:endParaRP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9CCB353B-9ABB-8512-48B9-49FA3CB53C36}"/>
              </a:ext>
            </a:extLst>
          </p:cNvPr>
          <p:cNvSpPr/>
          <p:nvPr/>
        </p:nvSpPr>
        <p:spPr>
          <a:xfrm>
            <a:off x="4224115" y="1104515"/>
            <a:ext cx="3502166" cy="38567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F2AC24AA-8749-0A40-CBFA-534F6B528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1086" y="1907209"/>
            <a:ext cx="3088223" cy="23211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3200" dirty="0">
                <a:latin typeface="Euclid Circular B" panose="020B0504000000000000" pitchFamily="34" charset="0"/>
                <a:ea typeface="Euclid Circular B" panose="020B0504000000000000" pitchFamily="34" charset="0"/>
              </a:rPr>
              <a:t>How to make all these running </a:t>
            </a:r>
            <a:r>
              <a:rPr lang="tr-TR" sz="3200" b="1" dirty="0">
                <a:solidFill>
                  <a:srgbClr val="C00000"/>
                </a:solidFill>
                <a:latin typeface="Euclid Circular B" panose="020B0504000000000000" pitchFamily="34" charset="0"/>
                <a:ea typeface="Euclid Circular B" panose="020B0504000000000000" pitchFamily="34" charset="0"/>
              </a:rPr>
              <a:t>easily</a:t>
            </a:r>
            <a:r>
              <a:rPr lang="tr-TR" sz="3200" dirty="0">
                <a:latin typeface="Euclid Circular B" panose="020B0504000000000000" pitchFamily="34" charset="0"/>
                <a:ea typeface="Euclid Circular B" panose="020B0504000000000000" pitchFamily="34" charset="0"/>
              </a:rPr>
              <a:t>...?</a:t>
            </a:r>
            <a:endParaRPr lang="en-US" sz="3200" dirty="0">
              <a:latin typeface="Euclid Circular B" panose="020B0504000000000000" pitchFamily="34" charset="0"/>
              <a:ea typeface="Euclid Circular B" panose="020B0504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779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6" grpId="0" animBg="1"/>
      <p:bldP spid="17" grpId="0" animBg="1"/>
      <p:bldP spid="18" grpId="0" animBg="1"/>
      <p:bldP spid="19" grpId="0"/>
      <p:bldP spid="20" grpId="0"/>
      <p:bldP spid="22" grpId="0"/>
      <p:bldP spid="23" grpId="0" animBg="1"/>
      <p:bldP spid="24" grpId="0" animBg="1"/>
      <p:bldP spid="26" grpId="0"/>
      <p:bldP spid="27" grpId="0" animBg="1"/>
      <p:bldP spid="28" grpId="0" animBg="1"/>
      <p:bldP spid="2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29D82957-8FD0-49FF-B99F-7F7BB3AB2C9F}"/>
              </a:ext>
            </a:extLst>
          </p:cNvPr>
          <p:cNvSpPr txBox="1"/>
          <p:nvPr/>
        </p:nvSpPr>
        <p:spPr>
          <a:xfrm>
            <a:off x="323850" y="361950"/>
            <a:ext cx="55595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Uber’s Microservice Graph</a:t>
            </a:r>
            <a:endParaRPr lang="tr-TR" sz="3200" b="1" dirty="0">
              <a:solidFill>
                <a:srgbClr val="1C2313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64B8681-D97F-DAF6-0838-E551958C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589" y="6110014"/>
            <a:ext cx="376511" cy="37651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BC5D443-8567-BBB4-6990-28A2393702EB}"/>
              </a:ext>
            </a:extLst>
          </p:cNvPr>
          <p:cNvSpPr txBox="1"/>
          <p:nvPr/>
        </p:nvSpPr>
        <p:spPr>
          <a:xfrm>
            <a:off x="847154" y="6112073"/>
            <a:ext cx="233269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tr-TR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Halil İbrahim Kalkan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42B08F6-B32A-46ED-3A2D-10DA57226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272" y="995929"/>
            <a:ext cx="6789127" cy="578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E13E2E-1E03-848D-7A62-00DB6C1F52FE}"/>
              </a:ext>
            </a:extLst>
          </p:cNvPr>
          <p:cNvSpPr txBox="1"/>
          <p:nvPr/>
        </p:nvSpPr>
        <p:spPr>
          <a:xfrm>
            <a:off x="6054509" y="469671"/>
            <a:ext cx="6095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https://www.uber.com/en-TR/blog/microservice-architecture/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5445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29D82957-8FD0-49FF-B99F-7F7BB3AB2C9F}"/>
              </a:ext>
            </a:extLst>
          </p:cNvPr>
          <p:cNvSpPr txBox="1"/>
          <p:nvPr/>
        </p:nvSpPr>
        <p:spPr>
          <a:xfrm>
            <a:off x="323850" y="361950"/>
            <a:ext cx="5480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Microservices unit testing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64B8681-D97F-DAF6-0838-E551958C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589" y="6110014"/>
            <a:ext cx="376511" cy="37651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BC5D443-8567-BBB4-6990-28A2393702EB}"/>
              </a:ext>
            </a:extLst>
          </p:cNvPr>
          <p:cNvSpPr txBox="1"/>
          <p:nvPr/>
        </p:nvSpPr>
        <p:spPr>
          <a:xfrm>
            <a:off x="847154" y="6112073"/>
            <a:ext cx="233269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tr-TR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Halil İbrahim Kalkan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580A4FE-9B4C-44BA-F200-7E841BA70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226034"/>
            <a:ext cx="11473139" cy="4675716"/>
          </a:xfrm>
        </p:spPr>
        <p:txBody>
          <a:bodyPr>
            <a:normAutofit/>
          </a:bodyPr>
          <a:lstStyle/>
          <a:p>
            <a:r>
              <a:rPr lang="tr-TR" sz="24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Mocking </a:t>
            </a:r>
            <a:r>
              <a:rPr lang="tr-TR" sz="24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the dependencies;</a:t>
            </a:r>
          </a:p>
          <a:p>
            <a:pPr lvl="1"/>
            <a:r>
              <a:rPr lang="tr-TR" sz="20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Database</a:t>
            </a:r>
          </a:p>
          <a:p>
            <a:pPr lvl="1"/>
            <a:r>
              <a:rPr lang="tr-TR" sz="20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Infrastructure</a:t>
            </a:r>
            <a:r>
              <a:rPr lang="tr-TR" sz="20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: Event bus, Cache, file system, 3rd-party services, ...</a:t>
            </a:r>
          </a:p>
          <a:p>
            <a:pPr lvl="1"/>
            <a:r>
              <a:rPr lang="tr-TR" sz="20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API calls </a:t>
            </a:r>
            <a:r>
              <a:rPr lang="tr-TR" sz="20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to other services (REST, GraphQL, gRPC...)</a:t>
            </a:r>
          </a:p>
          <a:p>
            <a:pPr lvl="1"/>
            <a:r>
              <a:rPr lang="tr-TR" sz="20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Publishing </a:t>
            </a:r>
            <a:r>
              <a:rPr lang="tr-TR" sz="20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events</a:t>
            </a:r>
          </a:p>
          <a:p>
            <a:r>
              <a:rPr lang="tr-TR" sz="24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Triggering the service</a:t>
            </a:r>
          </a:p>
          <a:p>
            <a:pPr lvl="1"/>
            <a:r>
              <a:rPr lang="tr-TR" sz="20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Receiving </a:t>
            </a:r>
            <a:r>
              <a:rPr lang="tr-TR" sz="20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events </a:t>
            </a:r>
            <a:r>
              <a:rPr lang="tr-TR" sz="20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(typically sent by other services)</a:t>
            </a:r>
          </a:p>
          <a:p>
            <a:pPr lvl="1"/>
            <a:r>
              <a:rPr lang="tr-TR" sz="20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Receiving </a:t>
            </a:r>
            <a:r>
              <a:rPr lang="tr-TR" sz="20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API calls</a:t>
            </a:r>
            <a:r>
              <a:rPr lang="tr-TR" sz="20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(REST, GraphQL, gRPC...) from UI and other services</a:t>
            </a:r>
          </a:p>
          <a:p>
            <a:r>
              <a:rPr lang="tr-TR" sz="24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Simulating </a:t>
            </a:r>
            <a:r>
              <a:rPr lang="tr-TR" sz="24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network delays, errors, re-tries, distributed transactions</a:t>
            </a:r>
          </a:p>
        </p:txBody>
      </p:sp>
    </p:spTree>
    <p:extLst>
      <p:ext uri="{BB962C8B-B14F-4D97-AF65-F5344CB8AC3E}">
        <p14:creationId xmlns:p14="http://schemas.microsoft.com/office/powerpoint/2010/main" val="2505468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29D82957-8FD0-49FF-B99F-7F7BB3AB2C9F}"/>
              </a:ext>
            </a:extLst>
          </p:cNvPr>
          <p:cNvSpPr txBox="1"/>
          <p:nvPr/>
        </p:nvSpPr>
        <p:spPr>
          <a:xfrm>
            <a:off x="323850" y="361950"/>
            <a:ext cx="4073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Primitive Solutions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64B8681-D97F-DAF6-0838-E551958C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589" y="6110014"/>
            <a:ext cx="376511" cy="37651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BC5D443-8567-BBB4-6990-28A2393702EB}"/>
              </a:ext>
            </a:extLst>
          </p:cNvPr>
          <p:cNvSpPr txBox="1"/>
          <p:nvPr/>
        </p:nvSpPr>
        <p:spPr>
          <a:xfrm>
            <a:off x="847154" y="6112073"/>
            <a:ext cx="233269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tr-TR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Halil İbrahim Kalkan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580A4FE-9B4C-44BA-F200-7E841BA70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226034"/>
            <a:ext cx="11473139" cy="46757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36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Running all in </a:t>
            </a:r>
            <a:r>
              <a:rPr lang="tr-TR" sz="36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local </a:t>
            </a:r>
            <a:r>
              <a:rPr lang="tr-TR" sz="36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computer?</a:t>
            </a:r>
          </a:p>
          <a:p>
            <a:r>
              <a:rPr lang="tr-TR" sz="36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Manual</a:t>
            </a:r>
            <a:r>
              <a:rPr lang="tr-TR" sz="36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run (in your IDE)</a:t>
            </a:r>
          </a:p>
          <a:p>
            <a:r>
              <a:rPr lang="tr-TR" sz="36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Create a Bash / Powershell </a:t>
            </a:r>
            <a:r>
              <a:rPr lang="tr-TR" sz="36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script</a:t>
            </a:r>
          </a:p>
        </p:txBody>
      </p:sp>
    </p:spTree>
    <p:extLst>
      <p:ext uri="{BB962C8B-B14F-4D97-AF65-F5344CB8AC3E}">
        <p14:creationId xmlns:p14="http://schemas.microsoft.com/office/powerpoint/2010/main" val="104444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29D82957-8FD0-49FF-B99F-7F7BB3AB2C9F}"/>
              </a:ext>
            </a:extLst>
          </p:cNvPr>
          <p:cNvSpPr txBox="1"/>
          <p:nvPr/>
        </p:nvSpPr>
        <p:spPr>
          <a:xfrm>
            <a:off x="323850" y="361950"/>
            <a:ext cx="44278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Microsoft’s solutions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64B8681-D97F-DAF6-0838-E551958C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589" y="6110014"/>
            <a:ext cx="376511" cy="37651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BC5D443-8567-BBB4-6990-28A2393702EB}"/>
              </a:ext>
            </a:extLst>
          </p:cNvPr>
          <p:cNvSpPr txBox="1"/>
          <p:nvPr/>
        </p:nvSpPr>
        <p:spPr>
          <a:xfrm>
            <a:off x="847154" y="6112073"/>
            <a:ext cx="233269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tr-TR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Halil İbrahim Kalkan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580A4FE-9B4C-44BA-F200-7E841BA70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226034"/>
            <a:ext cx="11473139" cy="4675716"/>
          </a:xfrm>
        </p:spPr>
        <p:txBody>
          <a:bodyPr>
            <a:normAutofit/>
          </a:bodyPr>
          <a:lstStyle/>
          <a:p>
            <a:r>
              <a:rPr lang="tr-TR" sz="32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The Tye project (was experimental, now retired)</a:t>
            </a:r>
          </a:p>
          <a:p>
            <a:r>
              <a:rPr lang="tr-TR" sz="32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.NET Aspire</a:t>
            </a:r>
          </a:p>
        </p:txBody>
      </p:sp>
    </p:spTree>
    <p:extLst>
      <p:ext uri="{BB962C8B-B14F-4D97-AF65-F5344CB8AC3E}">
        <p14:creationId xmlns:p14="http://schemas.microsoft.com/office/powerpoint/2010/main" val="2810933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29D82957-8FD0-49FF-B99F-7F7BB3AB2C9F}"/>
              </a:ext>
            </a:extLst>
          </p:cNvPr>
          <p:cNvSpPr txBox="1"/>
          <p:nvPr/>
        </p:nvSpPr>
        <p:spPr>
          <a:xfrm>
            <a:off x="323850" y="361950"/>
            <a:ext cx="45752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Microsoft .NET Aspire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64B8681-D97F-DAF6-0838-E551958C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589" y="6110014"/>
            <a:ext cx="376511" cy="37651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BC5D443-8567-BBB4-6990-28A2393702EB}"/>
              </a:ext>
            </a:extLst>
          </p:cNvPr>
          <p:cNvSpPr txBox="1"/>
          <p:nvPr/>
        </p:nvSpPr>
        <p:spPr>
          <a:xfrm>
            <a:off x="847154" y="6112073"/>
            <a:ext cx="233269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tr-TR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Halil İbrahim Kalkan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580A4FE-9B4C-44BA-F200-7E841BA70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226034"/>
            <a:ext cx="11473139" cy="46757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.NET Aspire is an </a:t>
            </a:r>
            <a:r>
              <a:rPr lang="en-US" sz="32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opinionated</a:t>
            </a:r>
            <a:r>
              <a:rPr lang="en-US" sz="32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, cloud ready </a:t>
            </a:r>
            <a:r>
              <a:rPr lang="en-US" sz="32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stack</a:t>
            </a:r>
            <a:r>
              <a:rPr lang="en-US" sz="32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for building observable, production ready, </a:t>
            </a:r>
            <a:r>
              <a:rPr lang="en-US" sz="32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distributed applications</a:t>
            </a:r>
            <a:endParaRPr lang="tr-TR" sz="3200" dirty="0">
              <a:solidFill>
                <a:srgbClr val="5B636F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n-US" b="1" u="sng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Orchestration</a:t>
            </a:r>
            <a:r>
              <a:rPr lang="en-US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: </a:t>
            </a:r>
            <a:r>
              <a:rPr lang="tr-TR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</a:t>
            </a:r>
            <a:r>
              <a:rPr lang="en-US" dirty="0" err="1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unning</a:t>
            </a:r>
            <a:r>
              <a:rPr lang="en-US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and connecting multi-project applications and their dependencies for </a:t>
            </a:r>
            <a:r>
              <a:rPr lang="en-US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local development environments</a:t>
            </a:r>
            <a:endParaRPr lang="en-US" dirty="0">
              <a:solidFill>
                <a:srgbClr val="5B636F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n-US" b="1" u="sng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Components</a:t>
            </a:r>
            <a:r>
              <a:rPr lang="en-US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: </a:t>
            </a:r>
            <a:r>
              <a:rPr lang="tr-TR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N</a:t>
            </a:r>
            <a:r>
              <a:rPr lang="en-US" dirty="0" err="1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uGet</a:t>
            </a:r>
            <a:r>
              <a:rPr lang="en-US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packages for commonly used services, such as Redis or Postgres</a:t>
            </a:r>
          </a:p>
          <a:p>
            <a:r>
              <a:rPr lang="en-US" b="1" u="sng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Tooling</a:t>
            </a:r>
            <a:r>
              <a:rPr lang="en-US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: </a:t>
            </a:r>
            <a:r>
              <a:rPr lang="tr-TR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</a:t>
            </a:r>
            <a:r>
              <a:rPr lang="en-US" dirty="0" err="1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roject</a:t>
            </a:r>
            <a:r>
              <a:rPr lang="en-US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templates and tooling experiences for Visual Studio and the dotnet CLI</a:t>
            </a:r>
            <a:endParaRPr lang="tr-TR" dirty="0">
              <a:solidFill>
                <a:srgbClr val="5B636F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916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29D82957-8FD0-49FF-B99F-7F7BB3AB2C9F}"/>
              </a:ext>
            </a:extLst>
          </p:cNvPr>
          <p:cNvSpPr txBox="1"/>
          <p:nvPr/>
        </p:nvSpPr>
        <p:spPr>
          <a:xfrm>
            <a:off x="323850" y="361950"/>
            <a:ext cx="70342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Microsoft .NET Aspire: Dashboard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64B8681-D97F-DAF6-0838-E551958C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589" y="6110014"/>
            <a:ext cx="376511" cy="37651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BC5D443-8567-BBB4-6990-28A2393702EB}"/>
              </a:ext>
            </a:extLst>
          </p:cNvPr>
          <p:cNvSpPr txBox="1"/>
          <p:nvPr/>
        </p:nvSpPr>
        <p:spPr>
          <a:xfrm>
            <a:off x="847154" y="6112073"/>
            <a:ext cx="233269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tr-TR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Halil İbrahim Kalkan</a:t>
            </a:r>
          </a:p>
        </p:txBody>
      </p:sp>
      <p:pic>
        <p:nvPicPr>
          <p:cNvPr id="1026" name="Picture 2" descr="A screenshot of the .NET Aspire dashboard Resources page.">
            <a:extLst>
              <a:ext uri="{FF2B5EF4-FFF2-40B4-BE49-F238E27FC236}">
                <a16:creationId xmlns:a16="http://schemas.microsoft.com/office/drawing/2014/main" id="{6E2308A7-1634-DE56-5F6B-3ECB08AA56A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90" y="1036066"/>
            <a:ext cx="10177252" cy="2171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screenshot of the .NET Aspire dashboard Console Logs page with a source selected.">
            <a:extLst>
              <a:ext uri="{FF2B5EF4-FFF2-40B4-BE49-F238E27FC236}">
                <a16:creationId xmlns:a16="http://schemas.microsoft.com/office/drawing/2014/main" id="{092A8FE9-2F91-59DD-DEE5-CA98BB4E6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88" y="3296553"/>
            <a:ext cx="9026481" cy="2631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2319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29D82957-8FD0-49FF-B99F-7F7BB3AB2C9F}"/>
              </a:ext>
            </a:extLst>
          </p:cNvPr>
          <p:cNvSpPr txBox="1"/>
          <p:nvPr/>
        </p:nvSpPr>
        <p:spPr>
          <a:xfrm>
            <a:off x="323850" y="361950"/>
            <a:ext cx="4908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Kubernetes: What is it?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64B8681-D97F-DAF6-0838-E551958C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589" y="6110014"/>
            <a:ext cx="376511" cy="37651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BC5D443-8567-BBB4-6990-28A2393702EB}"/>
              </a:ext>
            </a:extLst>
          </p:cNvPr>
          <p:cNvSpPr txBox="1"/>
          <p:nvPr/>
        </p:nvSpPr>
        <p:spPr>
          <a:xfrm>
            <a:off x="847154" y="6112073"/>
            <a:ext cx="233269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tr-TR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Halil İbrahim Kalkan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580A4FE-9B4C-44BA-F200-7E841BA70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226034"/>
            <a:ext cx="11473139" cy="4675716"/>
          </a:xfrm>
        </p:spPr>
        <p:txBody>
          <a:bodyPr>
            <a:normAutofit/>
          </a:bodyPr>
          <a:lstStyle/>
          <a:p>
            <a:r>
              <a:rPr lang="tr-TR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</a:t>
            </a:r>
            <a:r>
              <a:rPr lang="en-US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n open-source system for automating </a:t>
            </a:r>
            <a:r>
              <a:rPr lang="en-US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deployment</a:t>
            </a:r>
            <a:r>
              <a:rPr lang="en-US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, </a:t>
            </a:r>
            <a:r>
              <a:rPr lang="en-US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scaling</a:t>
            </a:r>
            <a:r>
              <a:rPr lang="en-US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, and management of </a:t>
            </a:r>
            <a:r>
              <a:rPr lang="en-US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containerized </a:t>
            </a:r>
            <a:r>
              <a:rPr lang="en-US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applications</a:t>
            </a:r>
            <a:r>
              <a:rPr lang="tr-TR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  <a:endParaRPr lang="en-US" dirty="0">
              <a:solidFill>
                <a:srgbClr val="5B636F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5DD57A-9A7D-D117-78CF-D7C24EA2D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844" y="2320223"/>
            <a:ext cx="7688094" cy="358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59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29D82957-8FD0-49FF-B99F-7F7BB3AB2C9F}"/>
              </a:ext>
            </a:extLst>
          </p:cNvPr>
          <p:cNvSpPr txBox="1"/>
          <p:nvPr/>
        </p:nvSpPr>
        <p:spPr>
          <a:xfrm>
            <a:off x="323850" y="361950"/>
            <a:ext cx="67201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Kubernetes: How can it help us?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64B8681-D97F-DAF6-0838-E551958C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589" y="6110014"/>
            <a:ext cx="376511" cy="37651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BC5D443-8567-BBB4-6990-28A2393702EB}"/>
              </a:ext>
            </a:extLst>
          </p:cNvPr>
          <p:cNvSpPr txBox="1"/>
          <p:nvPr/>
        </p:nvSpPr>
        <p:spPr>
          <a:xfrm>
            <a:off x="847154" y="6112073"/>
            <a:ext cx="233269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tr-TR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Halil İbrahim Kalkan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580A4FE-9B4C-44BA-F200-7E841BA70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226034"/>
            <a:ext cx="11473139" cy="4675716"/>
          </a:xfrm>
        </p:spPr>
        <p:txBody>
          <a:bodyPr>
            <a:normAutofit/>
          </a:bodyPr>
          <a:lstStyle/>
          <a:p>
            <a:r>
              <a:rPr lang="tr-TR" sz="32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Run </a:t>
            </a:r>
            <a:r>
              <a:rPr lang="tr-TR" sz="32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the solution </a:t>
            </a:r>
            <a:r>
              <a:rPr lang="tr-TR" sz="32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in a </a:t>
            </a:r>
            <a:r>
              <a:rPr lang="tr-TR" sz="32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Kubernetes </a:t>
            </a:r>
            <a:r>
              <a:rPr lang="tr-TR" sz="32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cluster</a:t>
            </a:r>
            <a:br>
              <a:rPr lang="tr-TR" sz="32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tr-TR" sz="3200" i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(all applications, services, gateways, infrastructure)</a:t>
            </a:r>
          </a:p>
          <a:p>
            <a:r>
              <a:rPr lang="tr-TR" sz="32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Run the </a:t>
            </a:r>
            <a:r>
              <a:rPr lang="tr-TR" sz="3200" b="1" i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Product Service</a:t>
            </a:r>
            <a:r>
              <a:rPr lang="tr-TR" sz="32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tr-TR" sz="32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in your </a:t>
            </a:r>
            <a:r>
              <a:rPr lang="tr-TR" sz="32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local computer</a:t>
            </a:r>
            <a:r>
              <a:rPr lang="tr-TR" sz="32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, in your favorute IDE</a:t>
            </a:r>
          </a:p>
          <a:p>
            <a:r>
              <a:rPr lang="tr-TR" sz="32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Connect two environments together!</a:t>
            </a:r>
          </a:p>
          <a:p>
            <a:pPr marL="0" indent="0">
              <a:buNone/>
            </a:pPr>
            <a:endParaRPr lang="tr-TR" sz="3200" b="1" dirty="0">
              <a:solidFill>
                <a:srgbClr val="5B636F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 algn="ctr">
              <a:buNone/>
            </a:pPr>
            <a:r>
              <a:rPr lang="tr-TR" sz="66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HOW..?</a:t>
            </a:r>
            <a:endParaRPr lang="en-US" sz="6600" b="1" dirty="0">
              <a:solidFill>
                <a:srgbClr val="5B636F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649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29D82957-8FD0-49FF-B99F-7F7BB3AB2C9F}"/>
              </a:ext>
            </a:extLst>
          </p:cNvPr>
          <p:cNvSpPr txBox="1"/>
          <p:nvPr/>
        </p:nvSpPr>
        <p:spPr>
          <a:xfrm>
            <a:off x="323850" y="361950"/>
            <a:ext cx="112389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Kubernetes – Local computer connection/integration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64B8681-D97F-DAF6-0838-E551958C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589" y="6110014"/>
            <a:ext cx="376511" cy="37651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BC5D443-8567-BBB4-6990-28A2393702EB}"/>
              </a:ext>
            </a:extLst>
          </p:cNvPr>
          <p:cNvSpPr txBox="1"/>
          <p:nvPr/>
        </p:nvSpPr>
        <p:spPr>
          <a:xfrm>
            <a:off x="847154" y="6112073"/>
            <a:ext cx="233269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tr-TR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Halil İbrahim Kalkan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EB226-6BBB-0121-F6BF-81B889FF07B3}"/>
              </a:ext>
            </a:extLst>
          </p:cNvPr>
          <p:cNvSpPr/>
          <p:nvPr/>
        </p:nvSpPr>
        <p:spPr>
          <a:xfrm>
            <a:off x="7735708" y="1058746"/>
            <a:ext cx="2836630" cy="49385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3FE355-2F09-DA05-2F31-0767744C848D}"/>
              </a:ext>
            </a:extLst>
          </p:cNvPr>
          <p:cNvSpPr/>
          <p:nvPr/>
        </p:nvSpPr>
        <p:spPr>
          <a:xfrm>
            <a:off x="1262790" y="1059476"/>
            <a:ext cx="2951898" cy="49385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4F4B7B-8F86-96E0-4B90-766BB871F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950" y="1930795"/>
            <a:ext cx="2707578" cy="1792986"/>
          </a:xfrm>
          <a:prstGeom prst="rect">
            <a:avLst/>
          </a:prstGeom>
        </p:spPr>
      </p:pic>
      <p:pic>
        <p:nvPicPr>
          <p:cNvPr id="11" name="Picture 4" descr="Image result for sql server">
            <a:extLst>
              <a:ext uri="{FF2B5EF4-FFF2-40B4-BE49-F238E27FC236}">
                <a16:creationId xmlns:a16="http://schemas.microsoft.com/office/drawing/2014/main" id="{B67B6B03-8108-C269-3F85-2EC0C6CD7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3972" y="5311545"/>
            <a:ext cx="640673" cy="517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Image result for rabbitmq logo">
            <a:extLst>
              <a:ext uri="{FF2B5EF4-FFF2-40B4-BE49-F238E27FC236}">
                <a16:creationId xmlns:a16="http://schemas.microsoft.com/office/drawing/2014/main" id="{82B8FE08-8FF8-9BBE-C5A4-D45493DE2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7" y="4382485"/>
            <a:ext cx="579284" cy="613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Image result for elasticsearch logo">
            <a:extLst>
              <a:ext uri="{FF2B5EF4-FFF2-40B4-BE49-F238E27FC236}">
                <a16:creationId xmlns:a16="http://schemas.microsoft.com/office/drawing/2014/main" id="{32099A72-202D-21E5-5621-DC0B05735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564" y="4325866"/>
            <a:ext cx="1708727" cy="45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Image result for kibana logo">
            <a:extLst>
              <a:ext uri="{FF2B5EF4-FFF2-40B4-BE49-F238E27FC236}">
                <a16:creationId xmlns:a16="http://schemas.microsoft.com/office/drawing/2014/main" id="{57E5378F-CD30-666A-4D27-BF900695F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564" y="4817232"/>
            <a:ext cx="1217127" cy="555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 descr="Image result for redis logo">
            <a:extLst>
              <a:ext uri="{FF2B5EF4-FFF2-40B4-BE49-F238E27FC236}">
                <a16:creationId xmlns:a16="http://schemas.microsoft.com/office/drawing/2014/main" id="{053B5931-CBFB-4251-DFDA-375C3705F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4376" y="5483744"/>
            <a:ext cx="1079501" cy="360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42F19C2-016D-C738-99A9-E75718EABF52}"/>
              </a:ext>
            </a:extLst>
          </p:cNvPr>
          <p:cNvSpPr/>
          <p:nvPr/>
        </p:nvSpPr>
        <p:spPr>
          <a:xfrm>
            <a:off x="7863972" y="1536164"/>
            <a:ext cx="2588534" cy="3432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Authentication Server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1D6CDA-256C-2C39-C4C6-5391799E5586}"/>
              </a:ext>
            </a:extLst>
          </p:cNvPr>
          <p:cNvSpPr/>
          <p:nvPr/>
        </p:nvSpPr>
        <p:spPr>
          <a:xfrm>
            <a:off x="7863972" y="2410300"/>
            <a:ext cx="2588534" cy="34324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>
                <a:solidFill>
                  <a:schemeClr val="tx1"/>
                </a:solidFill>
              </a:rPr>
              <a:t>Customer </a:t>
            </a:r>
            <a:r>
              <a:rPr lang="en-US" sz="1400" dirty="0">
                <a:solidFill>
                  <a:schemeClr val="tx1"/>
                </a:solidFill>
              </a:rPr>
              <a:t>Microservice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2EF541-B1CF-5B25-E778-DDB4F0862FEF}"/>
              </a:ext>
            </a:extLst>
          </p:cNvPr>
          <p:cNvSpPr/>
          <p:nvPr/>
        </p:nvSpPr>
        <p:spPr>
          <a:xfrm>
            <a:off x="7863972" y="1973232"/>
            <a:ext cx="2588534" cy="34324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>
                <a:solidFill>
                  <a:schemeClr val="tx1"/>
                </a:solidFill>
              </a:rPr>
              <a:t>Ordering </a:t>
            </a:r>
            <a:r>
              <a:rPr lang="en-US" sz="1400" dirty="0">
                <a:solidFill>
                  <a:schemeClr val="tx1"/>
                </a:solidFill>
              </a:rPr>
              <a:t>Microservice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8F3142-CD05-A6C3-6E8C-0EE699C9ADC1}"/>
              </a:ext>
            </a:extLst>
          </p:cNvPr>
          <p:cNvSpPr txBox="1"/>
          <p:nvPr/>
        </p:nvSpPr>
        <p:spPr>
          <a:xfrm>
            <a:off x="1262790" y="1086554"/>
            <a:ext cx="2951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>
                <a:solidFill>
                  <a:schemeClr val="bg1"/>
                </a:solidFill>
              </a:rPr>
              <a:t>LOCAL DEVELOPER MACHINE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CB8F8A-4976-150C-05D2-100376FD6C3D}"/>
              </a:ext>
            </a:extLst>
          </p:cNvPr>
          <p:cNvSpPr txBox="1"/>
          <p:nvPr/>
        </p:nvSpPr>
        <p:spPr>
          <a:xfrm>
            <a:off x="7839318" y="1076212"/>
            <a:ext cx="2588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bg1"/>
                </a:solidFill>
              </a:rPr>
              <a:t>KUBERNETES CLUSTER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0EFE62E-DA67-06CD-0F1F-1DF486EC62F7}"/>
              </a:ext>
            </a:extLst>
          </p:cNvPr>
          <p:cNvCxnSpPr>
            <a:stCxn id="9" idx="2"/>
          </p:cNvCxnSpPr>
          <p:nvPr/>
        </p:nvCxnSpPr>
        <p:spPr>
          <a:xfrm>
            <a:off x="2738739" y="3723781"/>
            <a:ext cx="0" cy="540572"/>
          </a:xfrm>
          <a:prstGeom prst="straightConnector1">
            <a:avLst/>
          </a:prstGeom>
          <a:ln w="381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F1DF8F0-D2FF-1C97-5258-2311391855A3}"/>
              </a:ext>
            </a:extLst>
          </p:cNvPr>
          <p:cNvSpPr txBox="1"/>
          <p:nvPr/>
        </p:nvSpPr>
        <p:spPr>
          <a:xfrm>
            <a:off x="2803800" y="3794952"/>
            <a:ext cx="1223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solidFill>
                  <a:schemeClr val="bg1"/>
                </a:solidFill>
              </a:rPr>
              <a:t>Run locally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F31665-643D-3CE0-4697-83881B217F85}"/>
              </a:ext>
            </a:extLst>
          </p:cNvPr>
          <p:cNvSpPr/>
          <p:nvPr/>
        </p:nvSpPr>
        <p:spPr>
          <a:xfrm>
            <a:off x="7863972" y="3284436"/>
            <a:ext cx="2588534" cy="34324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>
                <a:solidFill>
                  <a:schemeClr val="tx1"/>
                </a:solidFill>
              </a:rPr>
              <a:t>Identity </a:t>
            </a:r>
            <a:r>
              <a:rPr lang="en-US" sz="1400" dirty="0">
                <a:solidFill>
                  <a:schemeClr val="tx1"/>
                </a:solidFill>
              </a:rPr>
              <a:t>Microservice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F0E0CF-FD65-C9D9-F487-D6F0E75831A9}"/>
              </a:ext>
            </a:extLst>
          </p:cNvPr>
          <p:cNvSpPr/>
          <p:nvPr/>
        </p:nvSpPr>
        <p:spPr>
          <a:xfrm>
            <a:off x="7863972" y="2847368"/>
            <a:ext cx="2588534" cy="34324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>
                <a:solidFill>
                  <a:schemeClr val="tx1"/>
                </a:solidFill>
              </a:rPr>
              <a:t>Saas </a:t>
            </a:r>
            <a:r>
              <a:rPr lang="en-US" sz="1400" dirty="0">
                <a:solidFill>
                  <a:schemeClr val="tx1"/>
                </a:solidFill>
              </a:rPr>
              <a:t>Microservice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814343-9F75-BD16-8001-82520C3EB2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4947" y="4261253"/>
            <a:ext cx="2707575" cy="156820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EFB6892-A918-DD9D-AFF4-EAE3F17E45B9}"/>
              </a:ext>
            </a:extLst>
          </p:cNvPr>
          <p:cNvSpPr txBox="1"/>
          <p:nvPr/>
        </p:nvSpPr>
        <p:spPr>
          <a:xfrm>
            <a:off x="1465227" y="1445544"/>
            <a:ext cx="2551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400" b="1" dirty="0">
                <a:solidFill>
                  <a:srgbClr val="FFFF00"/>
                </a:solidFill>
              </a:rPr>
              <a:t>PRODUCT SERVICE</a:t>
            </a:r>
            <a:endParaRPr lang="en-US" sz="2400" b="1" dirty="0">
              <a:solidFill>
                <a:srgbClr val="FFFF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2ACD9E-0AC8-0883-CB66-FD72C9EF2BA6}"/>
              </a:ext>
            </a:extLst>
          </p:cNvPr>
          <p:cNvSpPr/>
          <p:nvPr/>
        </p:nvSpPr>
        <p:spPr>
          <a:xfrm>
            <a:off x="7865464" y="3717177"/>
            <a:ext cx="2588534" cy="34324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i="1" dirty="0">
                <a:solidFill>
                  <a:schemeClr val="tx1"/>
                </a:solidFill>
              </a:rPr>
              <a:t>...other services...</a:t>
            </a:r>
            <a:endParaRPr lang="en-US" sz="1400" i="1" dirty="0">
              <a:solidFill>
                <a:schemeClr val="tx1"/>
              </a:solidFill>
            </a:endParaRP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9CCB353B-9ABB-8512-48B9-49FA3CB53C36}"/>
              </a:ext>
            </a:extLst>
          </p:cNvPr>
          <p:cNvSpPr/>
          <p:nvPr/>
        </p:nvSpPr>
        <p:spPr>
          <a:xfrm>
            <a:off x="4295041" y="1641497"/>
            <a:ext cx="3376535" cy="132574"/>
          </a:xfrm>
          <a:prstGeom prst="rightArrow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5B220E-5832-0678-691C-332368BBA2AD}"/>
              </a:ext>
            </a:extLst>
          </p:cNvPr>
          <p:cNvSpPr txBox="1"/>
          <p:nvPr/>
        </p:nvSpPr>
        <p:spPr>
          <a:xfrm>
            <a:off x="4329443" y="1791332"/>
            <a:ext cx="3342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/>
              <a:t>Use infrastructure (DB, Redis, etc)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C55711-0C83-BB53-F931-10B2F621E0DD}"/>
              </a:ext>
            </a:extLst>
          </p:cNvPr>
          <p:cNvSpPr txBox="1"/>
          <p:nvPr/>
        </p:nvSpPr>
        <p:spPr>
          <a:xfrm>
            <a:off x="4329442" y="2144852"/>
            <a:ext cx="3230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/>
              <a:t>Use other services / applications</a:t>
            </a:r>
            <a:br>
              <a:rPr lang="tr-TR" dirty="0"/>
            </a:br>
            <a:r>
              <a:rPr lang="tr-TR" i="1" dirty="0"/>
              <a:t>(including in-cluster services)</a:t>
            </a:r>
            <a:endParaRPr lang="en-US" i="1" dirty="0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F0334CD4-5625-450A-9D3D-13ED20B3F8DD}"/>
              </a:ext>
            </a:extLst>
          </p:cNvPr>
          <p:cNvSpPr/>
          <p:nvPr/>
        </p:nvSpPr>
        <p:spPr>
          <a:xfrm rot="10800000">
            <a:off x="4295040" y="4278466"/>
            <a:ext cx="3376535" cy="132574"/>
          </a:xfrm>
          <a:prstGeom prst="rightArrow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7D936C-90E1-D5AE-608C-1B6FA6641F96}"/>
              </a:ext>
            </a:extLst>
          </p:cNvPr>
          <p:cNvSpPr txBox="1"/>
          <p:nvPr/>
        </p:nvSpPr>
        <p:spPr>
          <a:xfrm>
            <a:off x="4390903" y="4408792"/>
            <a:ext cx="3168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Use the product service</a:t>
            </a:r>
            <a:br>
              <a:rPr lang="tr-TR" dirty="0"/>
            </a:br>
            <a:r>
              <a:rPr lang="tr-TR" dirty="0"/>
              <a:t>(REST API calls, events, etc)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4A87F5-44D3-9CEC-472E-A01756653916}"/>
              </a:ext>
            </a:extLst>
          </p:cNvPr>
          <p:cNvSpPr txBox="1"/>
          <p:nvPr/>
        </p:nvSpPr>
        <p:spPr>
          <a:xfrm>
            <a:off x="4362007" y="2807105"/>
            <a:ext cx="32426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dirty="0"/>
              <a:t>Use configuration / environment</a:t>
            </a:r>
            <a:br>
              <a:rPr lang="tr-TR" dirty="0"/>
            </a:br>
            <a:r>
              <a:rPr lang="tr-TR" dirty="0"/>
              <a:t>variables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820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" grpId="0"/>
      <p:bldP spid="30" grpId="0"/>
      <p:bldP spid="31" grpId="0" animBg="1"/>
      <p:bldP spid="32" grpId="0"/>
      <p:bldP spid="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29D82957-8FD0-49FF-B99F-7F7BB3AB2C9F}"/>
              </a:ext>
            </a:extLst>
          </p:cNvPr>
          <p:cNvSpPr txBox="1"/>
          <p:nvPr/>
        </p:nvSpPr>
        <p:spPr>
          <a:xfrm>
            <a:off x="323850" y="361950"/>
            <a:ext cx="59827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Existing solutions / products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64B8681-D97F-DAF6-0838-E551958C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589" y="6110014"/>
            <a:ext cx="376511" cy="37651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BC5D443-8567-BBB4-6990-28A2393702EB}"/>
              </a:ext>
            </a:extLst>
          </p:cNvPr>
          <p:cNvSpPr txBox="1"/>
          <p:nvPr/>
        </p:nvSpPr>
        <p:spPr>
          <a:xfrm>
            <a:off x="847154" y="6112073"/>
            <a:ext cx="233269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tr-TR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Halil İbrahim Kalkan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580A4FE-9B4C-44BA-F200-7E841BA70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226033"/>
            <a:ext cx="11473139" cy="2268835"/>
          </a:xfrm>
        </p:spPr>
        <p:txBody>
          <a:bodyPr>
            <a:normAutofit lnSpcReduction="10000"/>
          </a:bodyPr>
          <a:lstStyle/>
          <a:p>
            <a:r>
              <a:rPr lang="tr-TR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Visual Studio </a:t>
            </a:r>
            <a:r>
              <a:rPr lang="tr-TR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Bridge to Kubernetes</a:t>
            </a:r>
            <a:br>
              <a:rPr lang="tr-TR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tr-TR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  <a:hlinkClick r:id="rId4"/>
              </a:rPr>
              <a:t>https://learn.microsoft.com/en-us/</a:t>
            </a:r>
            <a:r>
              <a:rPr lang="tr-TR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  <a:hlinkClick r:id="rId4"/>
              </a:rPr>
              <a:t>visualstudio/bridge</a:t>
            </a:r>
          </a:p>
          <a:p>
            <a:r>
              <a:rPr lang="en-US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  <a:hlinkClick r:id="rId4"/>
              </a:rPr>
              <a:t>https://</a:t>
            </a:r>
            <a:r>
              <a:rPr lang="en-US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  <a:hlinkClick r:id="rId4"/>
              </a:rPr>
              <a:t>telepresence</a:t>
            </a:r>
            <a:r>
              <a:rPr lang="en-US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  <a:hlinkClick r:id="rId4"/>
              </a:rPr>
              <a:t>.io</a:t>
            </a:r>
            <a:endParaRPr lang="tr-TR" dirty="0">
              <a:solidFill>
                <a:srgbClr val="5B636F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tr-TR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  <a:hlinkClick r:id="rId5"/>
              </a:rPr>
              <a:t>https://</a:t>
            </a:r>
            <a:r>
              <a:rPr lang="tr-TR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  <a:hlinkClick r:id="rId5"/>
              </a:rPr>
              <a:t>garden</a:t>
            </a:r>
            <a:r>
              <a:rPr lang="tr-TR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  <a:hlinkClick r:id="rId5"/>
              </a:rPr>
              <a:t>.io</a:t>
            </a:r>
            <a:endParaRPr lang="tr-TR" dirty="0">
              <a:solidFill>
                <a:srgbClr val="5B636F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tr-TR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  <a:hlinkClick r:id="rId6"/>
              </a:rPr>
              <a:t>https://</a:t>
            </a:r>
            <a:r>
              <a:rPr lang="tr-TR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  <a:hlinkClick r:id="rId6"/>
              </a:rPr>
              <a:t>gefyra</a:t>
            </a:r>
            <a:r>
              <a:rPr lang="tr-TR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  <a:hlinkClick r:id="rId6"/>
              </a:rPr>
              <a:t>.dev</a:t>
            </a:r>
            <a:r>
              <a:rPr lang="tr-TR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(open source &amp; free)</a:t>
            </a:r>
          </a:p>
          <a:p>
            <a:endParaRPr lang="tr-TR" dirty="0">
              <a:solidFill>
                <a:srgbClr val="5B636F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194781-D427-4532-8DBF-3CBCB11035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8737" y="3563930"/>
            <a:ext cx="9534525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74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29D82957-8FD0-49FF-B99F-7F7BB3AB2C9F}"/>
              </a:ext>
            </a:extLst>
          </p:cNvPr>
          <p:cNvSpPr txBox="1"/>
          <p:nvPr/>
        </p:nvSpPr>
        <p:spPr>
          <a:xfrm>
            <a:off x="323850" y="361950"/>
            <a:ext cx="2887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Telepresence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64B8681-D97F-DAF6-0838-E551958C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589" y="6110014"/>
            <a:ext cx="376511" cy="37651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BC5D443-8567-BBB4-6990-28A2393702EB}"/>
              </a:ext>
            </a:extLst>
          </p:cNvPr>
          <p:cNvSpPr txBox="1"/>
          <p:nvPr/>
        </p:nvSpPr>
        <p:spPr>
          <a:xfrm>
            <a:off x="847154" y="6112073"/>
            <a:ext cx="233269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tr-TR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Halil İbrahim Kalkan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580A4FE-9B4C-44BA-F200-7E841BA70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226034"/>
            <a:ext cx="5402773" cy="46757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</a:t>
            </a:r>
            <a:r>
              <a:rPr lang="en-US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et up </a:t>
            </a:r>
            <a:r>
              <a:rPr lang="en-US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remote development environment</a:t>
            </a:r>
            <a:r>
              <a:rPr lang="en-US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 for </a:t>
            </a:r>
            <a:r>
              <a:rPr lang="en-US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Kubernetes </a:t>
            </a:r>
            <a:r>
              <a:rPr lang="en-US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where you can still use all of your favorite </a:t>
            </a:r>
            <a:r>
              <a:rPr lang="en-US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local tools </a:t>
            </a:r>
            <a:r>
              <a:rPr lang="en-US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like IDEs, debuggers, and profilers.</a:t>
            </a:r>
            <a:endParaRPr lang="tr-TR" dirty="0">
              <a:solidFill>
                <a:srgbClr val="5B636F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732596-54BB-1B32-B849-D060B4FEF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83372"/>
            <a:ext cx="5772149" cy="471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111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29D82957-8FD0-49FF-B99F-7F7BB3AB2C9F}"/>
              </a:ext>
            </a:extLst>
          </p:cNvPr>
          <p:cNvSpPr txBox="1"/>
          <p:nvPr/>
        </p:nvSpPr>
        <p:spPr>
          <a:xfrm>
            <a:off x="323850" y="361950"/>
            <a:ext cx="57999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Telepresence: How it works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64B8681-D97F-DAF6-0838-E551958C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589" y="6110014"/>
            <a:ext cx="376511" cy="37651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BC5D443-8567-BBB4-6990-28A2393702EB}"/>
              </a:ext>
            </a:extLst>
          </p:cNvPr>
          <p:cNvSpPr txBox="1"/>
          <p:nvPr/>
        </p:nvSpPr>
        <p:spPr>
          <a:xfrm>
            <a:off x="847154" y="6112073"/>
            <a:ext cx="233269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tr-TR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Halil İbrahim Kalkan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580A4FE-9B4C-44BA-F200-7E841BA70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226034"/>
            <a:ext cx="11473139" cy="4675716"/>
          </a:xfrm>
        </p:spPr>
        <p:txBody>
          <a:bodyPr>
            <a:normAutofit/>
          </a:bodyPr>
          <a:lstStyle/>
          <a:p>
            <a:r>
              <a:rPr lang="tr-TR" sz="24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Install the Telepresence CLI to your local computer</a:t>
            </a:r>
          </a:p>
          <a:p>
            <a:r>
              <a:rPr lang="tr-TR" sz="24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Install Telepresence in your Kubernetes cluster</a:t>
            </a:r>
            <a:br>
              <a:rPr lang="tr-TR" sz="24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en-US" sz="2000" b="0" i="0" dirty="0">
                <a:solidFill>
                  <a:srgbClr val="2F2F33"/>
                </a:solidFill>
                <a:effectLst/>
                <a:highlight>
                  <a:srgbClr val="F7F7FA"/>
                </a:highlight>
                <a:latin typeface="Menlo"/>
              </a:rPr>
              <a:t>$ telepresence helm </a:t>
            </a:r>
            <a:r>
              <a:rPr lang="en-US" sz="2000" b="1" i="0" dirty="0">
                <a:effectLst/>
                <a:highlight>
                  <a:srgbClr val="F7F7FA"/>
                </a:highlight>
                <a:latin typeface="Menlo"/>
              </a:rPr>
              <a:t>install</a:t>
            </a:r>
            <a:endParaRPr lang="tr-TR" sz="3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tr-TR" sz="24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Connect to your Kubernetes cluster</a:t>
            </a:r>
            <a:br>
              <a:rPr lang="tr-TR" sz="24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en-US" sz="2000" b="0" i="0" dirty="0">
                <a:solidFill>
                  <a:srgbClr val="2F2F33"/>
                </a:solidFill>
                <a:effectLst/>
                <a:highlight>
                  <a:srgbClr val="F7F7FA"/>
                </a:highlight>
                <a:latin typeface="Menlo"/>
              </a:rPr>
              <a:t>$ telepresence </a:t>
            </a:r>
            <a:r>
              <a:rPr lang="en-US" sz="2000" b="1" i="0" dirty="0">
                <a:solidFill>
                  <a:srgbClr val="2F2F33"/>
                </a:solidFill>
                <a:effectLst/>
                <a:highlight>
                  <a:srgbClr val="F7F7FA"/>
                </a:highlight>
                <a:latin typeface="Menlo"/>
              </a:rPr>
              <a:t>connect</a:t>
            </a:r>
            <a:endParaRPr lang="tr-TR" sz="2000" b="1" dirty="0">
              <a:solidFill>
                <a:srgbClr val="5B636F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tr-TR" sz="24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Intercept your service</a:t>
            </a:r>
            <a:br>
              <a:rPr lang="tr-TR" sz="24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en-US" sz="2000" b="0" i="0" dirty="0">
                <a:solidFill>
                  <a:srgbClr val="2F2F33"/>
                </a:solidFill>
                <a:effectLst/>
                <a:highlight>
                  <a:srgbClr val="F7F7FA"/>
                </a:highlight>
                <a:latin typeface="Menlo"/>
              </a:rPr>
              <a:t>$ </a:t>
            </a:r>
            <a:r>
              <a:rPr lang="en-US" sz="2000" b="0" i="0" dirty="0">
                <a:solidFill>
                  <a:srgbClr val="2F2F33"/>
                </a:solidFill>
                <a:effectLst/>
                <a:highlight>
                  <a:srgbClr val="F1F1F6"/>
                </a:highlight>
                <a:latin typeface="Menlo"/>
              </a:rPr>
              <a:t>telepresence </a:t>
            </a:r>
            <a:r>
              <a:rPr lang="en-US" sz="2000" b="1" i="0" dirty="0">
                <a:solidFill>
                  <a:srgbClr val="2F2F33"/>
                </a:solidFill>
                <a:effectLst/>
                <a:highlight>
                  <a:srgbClr val="F1F1F6"/>
                </a:highlight>
                <a:latin typeface="Menlo"/>
              </a:rPr>
              <a:t>intercept</a:t>
            </a:r>
            <a:r>
              <a:rPr lang="en-US" sz="2000" b="0" i="0" dirty="0">
                <a:solidFill>
                  <a:srgbClr val="2F2F33"/>
                </a:solidFill>
                <a:effectLst/>
                <a:highlight>
                  <a:srgbClr val="F1F1F6"/>
                </a:highlight>
                <a:latin typeface="Menlo"/>
              </a:rPr>
              <a:t> &lt;service-name&gt; --port &lt;local-port&gt;[:&lt;remote-port&gt;] --env-file &lt;path-to-env-file&gt;</a:t>
            </a:r>
            <a:endParaRPr lang="tr-TR" sz="2400" dirty="0">
              <a:solidFill>
                <a:srgbClr val="5B636F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n-US" sz="24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Start your local environment using the environment variables retrieved in the previous step</a:t>
            </a:r>
            <a:endParaRPr lang="tr-TR" sz="2400" dirty="0">
              <a:solidFill>
                <a:srgbClr val="5B636F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86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29D82957-8FD0-49FF-B99F-7F7BB3AB2C9F}"/>
              </a:ext>
            </a:extLst>
          </p:cNvPr>
          <p:cNvSpPr txBox="1"/>
          <p:nvPr/>
        </p:nvSpPr>
        <p:spPr>
          <a:xfrm>
            <a:off x="323850" y="361950"/>
            <a:ext cx="55162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How did we implement it?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64B8681-D97F-DAF6-0838-E551958C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589" y="6110014"/>
            <a:ext cx="376511" cy="37651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BC5D443-8567-BBB4-6990-28A2393702EB}"/>
              </a:ext>
            </a:extLst>
          </p:cNvPr>
          <p:cNvSpPr txBox="1"/>
          <p:nvPr/>
        </p:nvSpPr>
        <p:spPr>
          <a:xfrm>
            <a:off x="847154" y="6112073"/>
            <a:ext cx="233269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tr-TR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Halil İbrahim Kalkan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A8DD8D98-B6CC-C516-7D29-91E5F283734C}"/>
              </a:ext>
            </a:extLst>
          </p:cNvPr>
          <p:cNvCxnSpPr>
            <a:cxnSpLocks/>
            <a:endCxn id="31" idx="1"/>
          </p:cNvCxnSpPr>
          <p:nvPr/>
        </p:nvCxnSpPr>
        <p:spPr>
          <a:xfrm rot="16200000" flipH="1">
            <a:off x="395107" y="3312157"/>
            <a:ext cx="2702882" cy="498787"/>
          </a:xfrm>
          <a:prstGeom prst="bentConnector2">
            <a:avLst/>
          </a:prstGeom>
          <a:ln w="50800">
            <a:solidFill>
              <a:schemeClr val="accent6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C10F240-6645-268D-102E-E7685944731C}"/>
              </a:ext>
            </a:extLst>
          </p:cNvPr>
          <p:cNvSpPr/>
          <p:nvPr/>
        </p:nvSpPr>
        <p:spPr>
          <a:xfrm>
            <a:off x="7296783" y="3307913"/>
            <a:ext cx="1150308" cy="647549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09E89D-3ED7-8AC5-8DC6-967E7B1988F9}"/>
              </a:ext>
            </a:extLst>
          </p:cNvPr>
          <p:cNvSpPr/>
          <p:nvPr/>
        </p:nvSpPr>
        <p:spPr>
          <a:xfrm>
            <a:off x="6979903" y="4710498"/>
            <a:ext cx="1505690" cy="39756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>
                <a:solidFill>
                  <a:schemeClr val="tx1"/>
                </a:solidFill>
              </a:rPr>
              <a:t>VPN Server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D8408F-9ECE-79C3-1DB4-CDCC8D6057E0}"/>
              </a:ext>
            </a:extLst>
          </p:cNvPr>
          <p:cNvSpPr/>
          <p:nvPr/>
        </p:nvSpPr>
        <p:spPr>
          <a:xfrm>
            <a:off x="9975199" y="4101818"/>
            <a:ext cx="1192629" cy="3975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3E83DB-599F-D584-5BDF-4D8BF794F0EB}"/>
              </a:ext>
            </a:extLst>
          </p:cNvPr>
          <p:cNvSpPr/>
          <p:nvPr/>
        </p:nvSpPr>
        <p:spPr>
          <a:xfrm>
            <a:off x="8220564" y="1520585"/>
            <a:ext cx="1916264" cy="39756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err="1"/>
              <a:t>Ingress</a:t>
            </a:r>
            <a:endParaRPr lang="en-US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B0DD89-2AD0-C883-8FDA-E5F3003C2E74}"/>
              </a:ext>
            </a:extLst>
          </p:cNvPr>
          <p:cNvSpPr/>
          <p:nvPr/>
        </p:nvSpPr>
        <p:spPr>
          <a:xfrm>
            <a:off x="8220564" y="2134161"/>
            <a:ext cx="1916264" cy="3975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/>
              <a:t>Web Application</a:t>
            </a:r>
            <a:endParaRPr lang="en-US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46ECCD-6474-88DE-1114-74D1369665BD}"/>
              </a:ext>
            </a:extLst>
          </p:cNvPr>
          <p:cNvSpPr/>
          <p:nvPr/>
        </p:nvSpPr>
        <p:spPr>
          <a:xfrm>
            <a:off x="8220564" y="2747737"/>
            <a:ext cx="1916264" cy="3975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/>
              <a:t>API Gateway</a:t>
            </a:r>
            <a:endParaRPr lang="en-US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D13B6B-AB7D-9AE7-D6CB-8083FF5F6E57}"/>
              </a:ext>
            </a:extLst>
          </p:cNvPr>
          <p:cNvSpPr/>
          <p:nvPr/>
        </p:nvSpPr>
        <p:spPr>
          <a:xfrm>
            <a:off x="8674453" y="3369264"/>
            <a:ext cx="1008486" cy="508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/>
              <a:t>Ordering</a:t>
            </a:r>
            <a:br>
              <a:rPr lang="tr-TR" sz="1600" dirty="0"/>
            </a:br>
            <a:r>
              <a:rPr lang="tr-TR" sz="1200" dirty="0"/>
              <a:t>microservice</a:t>
            </a:r>
            <a:endParaRPr lang="en-US" sz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9FF46C-E759-FA72-9209-856AA90E0B10}"/>
              </a:ext>
            </a:extLst>
          </p:cNvPr>
          <p:cNvSpPr/>
          <p:nvPr/>
        </p:nvSpPr>
        <p:spPr>
          <a:xfrm>
            <a:off x="9975816" y="3369264"/>
            <a:ext cx="1008486" cy="508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/>
              <a:t>Identity</a:t>
            </a:r>
            <a:br>
              <a:rPr lang="tr-TR" sz="1600" dirty="0"/>
            </a:br>
            <a:r>
              <a:rPr lang="tr-TR" sz="1200" dirty="0"/>
              <a:t>microservice</a:t>
            </a:r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2A306C-22DE-27DF-4F9E-DDB65BF0833A}"/>
              </a:ext>
            </a:extLst>
          </p:cNvPr>
          <p:cNvSpPr/>
          <p:nvPr/>
        </p:nvSpPr>
        <p:spPr>
          <a:xfrm>
            <a:off x="7373090" y="3369264"/>
            <a:ext cx="1008486" cy="508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/>
              <a:t>Product</a:t>
            </a:r>
            <a:br>
              <a:rPr lang="tr-TR" sz="1600" dirty="0"/>
            </a:br>
            <a:r>
              <a:rPr lang="tr-TR" sz="1200" dirty="0"/>
              <a:t>microservice</a:t>
            </a:r>
            <a:endParaRPr lang="en-US" sz="1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8FE39D-68AF-C185-3BFC-3EF214DFE6E7}"/>
              </a:ext>
            </a:extLst>
          </p:cNvPr>
          <p:cNvSpPr/>
          <p:nvPr/>
        </p:nvSpPr>
        <p:spPr>
          <a:xfrm>
            <a:off x="8485593" y="4101818"/>
            <a:ext cx="1386206" cy="3975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tr-TR" sz="1600" dirty="0"/>
              <a:t>RabbitMQ</a:t>
            </a:r>
            <a:endParaRPr lang="en-US" sz="1600" dirty="0"/>
          </a:p>
        </p:txBody>
      </p:sp>
      <p:pic>
        <p:nvPicPr>
          <p:cNvPr id="19" name="Picture 2" descr="Image result for rabbitmq logo">
            <a:extLst>
              <a:ext uri="{FF2B5EF4-FFF2-40B4-BE49-F238E27FC236}">
                <a16:creationId xmlns:a16="http://schemas.microsoft.com/office/drawing/2014/main" id="{1B3605E9-C301-C049-524D-BCE1F312D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301" y="4146867"/>
            <a:ext cx="310390" cy="328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2" descr="Image result for redis logo">
            <a:extLst>
              <a:ext uri="{FF2B5EF4-FFF2-40B4-BE49-F238E27FC236}">
                <a16:creationId xmlns:a16="http://schemas.microsoft.com/office/drawing/2014/main" id="{FF468AA8-ECE6-528E-2B0C-C5A393F15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413" y="4130743"/>
            <a:ext cx="1079501" cy="360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6DF49C7-5810-8D55-D379-37FDBFFC2978}"/>
              </a:ext>
            </a:extLst>
          </p:cNvPr>
          <p:cNvSpPr/>
          <p:nvPr/>
        </p:nvSpPr>
        <p:spPr>
          <a:xfrm>
            <a:off x="829408" y="1135707"/>
            <a:ext cx="2951898" cy="4730983"/>
          </a:xfrm>
          <a:prstGeom prst="rect">
            <a:avLst/>
          </a:prstGeom>
          <a:noFill/>
          <a:ln w="25400">
            <a:solidFill>
              <a:srgbClr val="C00000"/>
            </a:solidFill>
          </a:ln>
          <a:effectLst>
            <a:glow rad="63500">
              <a:srgbClr val="C00000">
                <a:alpha val="40000"/>
              </a:srgbClr>
            </a:glo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DBBED4-16AA-5346-4444-99FE3C866A4D}"/>
              </a:ext>
            </a:extLst>
          </p:cNvPr>
          <p:cNvSpPr txBox="1"/>
          <p:nvPr/>
        </p:nvSpPr>
        <p:spPr>
          <a:xfrm>
            <a:off x="343554" y="1135707"/>
            <a:ext cx="461665" cy="350185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/>
              <a:t>Local Developer Machine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93E140-B72A-5EF8-E9AC-3CBF37E07B96}"/>
              </a:ext>
            </a:extLst>
          </p:cNvPr>
          <p:cNvSpPr/>
          <p:nvPr/>
        </p:nvSpPr>
        <p:spPr>
          <a:xfrm>
            <a:off x="1000217" y="1290985"/>
            <a:ext cx="2610279" cy="86975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tr-TR" sz="1600" dirty="0"/>
              <a:t>Local </a:t>
            </a:r>
            <a:r>
              <a:rPr lang="tr-TR" sz="1600" b="1" dirty="0"/>
              <a:t>Product</a:t>
            </a:r>
            <a:r>
              <a:rPr lang="tr-TR" sz="1600" dirty="0"/>
              <a:t> </a:t>
            </a:r>
            <a:br>
              <a:rPr lang="tr-TR" sz="1600" dirty="0"/>
            </a:br>
            <a:r>
              <a:rPr lang="tr-TR" sz="1600" b="1" dirty="0"/>
              <a:t>microservice </a:t>
            </a:r>
            <a:r>
              <a:rPr lang="tr-TR" sz="1600" dirty="0"/>
              <a:t>instance</a:t>
            </a:r>
            <a:br>
              <a:rPr lang="tr-TR" sz="1600" dirty="0"/>
            </a:br>
            <a:r>
              <a:rPr lang="tr-TR" sz="1600" dirty="0"/>
              <a:t>(in Visual Studio)</a:t>
            </a:r>
            <a:endParaRPr lang="en-US" sz="1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8F8947-E274-220B-9DF9-E177A28EBFCC}"/>
              </a:ext>
            </a:extLst>
          </p:cNvPr>
          <p:cNvSpPr/>
          <p:nvPr/>
        </p:nvSpPr>
        <p:spPr>
          <a:xfrm>
            <a:off x="1000217" y="3255771"/>
            <a:ext cx="1707695" cy="58868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tr-TR" sz="1600" dirty="0"/>
              <a:t>ABP STUDIO</a:t>
            </a:r>
            <a:endParaRPr lang="en-US" sz="1600" dirty="0"/>
          </a:p>
        </p:txBody>
      </p:sp>
      <p:pic>
        <p:nvPicPr>
          <p:cNvPr id="25" name="Picture 24" descr="Icon&#10;&#10;Description automatically generated">
            <a:extLst>
              <a:ext uri="{FF2B5EF4-FFF2-40B4-BE49-F238E27FC236}">
                <a16:creationId xmlns:a16="http://schemas.microsoft.com/office/drawing/2014/main" id="{A52CC200-E675-FEF8-BD4B-723A5D6D28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90" y="3336788"/>
            <a:ext cx="438831" cy="43828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E9B8B77F-BC49-F9EA-FE8D-B7EB5A047CBD}"/>
              </a:ext>
            </a:extLst>
          </p:cNvPr>
          <p:cNvSpPr/>
          <p:nvPr/>
        </p:nvSpPr>
        <p:spPr>
          <a:xfrm>
            <a:off x="6970328" y="4101818"/>
            <a:ext cx="1386206" cy="3975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600" dirty="0"/>
          </a:p>
        </p:txBody>
      </p:sp>
      <p:pic>
        <p:nvPicPr>
          <p:cNvPr id="27" name="Picture 26" descr="Text&#10;&#10;Description automatically generated with medium confidence">
            <a:extLst>
              <a:ext uri="{FF2B5EF4-FFF2-40B4-BE49-F238E27FC236}">
                <a16:creationId xmlns:a16="http://schemas.microsoft.com/office/drawing/2014/main" id="{35F7B532-741E-070C-50BF-8F4546BB3B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8453" y="4135372"/>
            <a:ext cx="1309106" cy="330269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ECAB45A9-F602-5BFC-1ED0-F3FF0D93925F}"/>
              </a:ext>
            </a:extLst>
          </p:cNvPr>
          <p:cNvSpPr/>
          <p:nvPr/>
        </p:nvSpPr>
        <p:spPr>
          <a:xfrm>
            <a:off x="6702434" y="1135707"/>
            <a:ext cx="4642573" cy="4730983"/>
          </a:xfrm>
          <a:prstGeom prst="rect">
            <a:avLst/>
          </a:prstGeom>
          <a:noFill/>
          <a:ln w="25400">
            <a:solidFill>
              <a:schemeClr val="accent5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4">
            <a:extLst>
              <a:ext uri="{FF2B5EF4-FFF2-40B4-BE49-F238E27FC236}">
                <a16:creationId xmlns:a16="http://schemas.microsoft.com/office/drawing/2014/main" id="{B999031E-538D-F7F2-AEC6-96427CF51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8733" y="1167796"/>
            <a:ext cx="517506" cy="502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379C05A-F8B9-954F-512D-8DA7474FE50B}"/>
              </a:ext>
            </a:extLst>
          </p:cNvPr>
          <p:cNvSpPr txBox="1"/>
          <p:nvPr/>
        </p:nvSpPr>
        <p:spPr>
          <a:xfrm>
            <a:off x="11374962" y="1768652"/>
            <a:ext cx="461665" cy="1872116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pPr algn="ctr"/>
            <a:r>
              <a:rPr lang="tr-TR" dirty="0"/>
              <a:t>Kubernetes Cluster</a:t>
            </a: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FFD48CD-1798-28FB-A2FB-9D4ECE1E37C0}"/>
              </a:ext>
            </a:extLst>
          </p:cNvPr>
          <p:cNvSpPr/>
          <p:nvPr/>
        </p:nvSpPr>
        <p:spPr>
          <a:xfrm>
            <a:off x="1995942" y="4714209"/>
            <a:ext cx="1574744" cy="39756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>
                <a:solidFill>
                  <a:schemeClr val="tx1"/>
                </a:solidFill>
              </a:rPr>
              <a:t>VPN Client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D04531B-357C-18A2-ECFE-7D941A903D6F}"/>
              </a:ext>
            </a:extLst>
          </p:cNvPr>
          <p:cNvSpPr/>
          <p:nvPr/>
        </p:nvSpPr>
        <p:spPr>
          <a:xfrm>
            <a:off x="6970084" y="5230019"/>
            <a:ext cx="3005116" cy="39756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>
                <a:solidFill>
                  <a:schemeClr val="tx1"/>
                </a:solidFill>
              </a:rPr>
              <a:t>ABP Studio Client Proxy Server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52CA686-B3C9-C4EF-BE01-A3FA4187F163}"/>
              </a:ext>
            </a:extLst>
          </p:cNvPr>
          <p:cNvSpPr/>
          <p:nvPr/>
        </p:nvSpPr>
        <p:spPr>
          <a:xfrm>
            <a:off x="1995941" y="5252556"/>
            <a:ext cx="1586119" cy="39756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>
                <a:solidFill>
                  <a:schemeClr val="tx1"/>
                </a:solidFill>
              </a:rPr>
              <a:t>ABP Proxy Client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23DE2F-D105-D5BB-9FF3-A783B4AF0C76}"/>
              </a:ext>
            </a:extLst>
          </p:cNvPr>
          <p:cNvSpPr/>
          <p:nvPr/>
        </p:nvSpPr>
        <p:spPr>
          <a:xfrm>
            <a:off x="3764818" y="1462789"/>
            <a:ext cx="2951898" cy="4326899"/>
          </a:xfrm>
          <a:prstGeom prst="rect">
            <a:avLst/>
          </a:prstGeom>
          <a:solidFill>
            <a:srgbClr val="00B050"/>
          </a:solidFill>
          <a:ln w="12700">
            <a:solidFill>
              <a:schemeClr val="accent6">
                <a:shade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tr-TR" sz="2000" b="1" dirty="0"/>
              <a:t>&lt;----- VPN TUNNEL -----&gt;</a:t>
            </a:r>
            <a:endParaRPr lang="en-US" sz="2000" b="1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5867922-EB99-D274-237D-8798A863FF08}"/>
              </a:ext>
            </a:extLst>
          </p:cNvPr>
          <p:cNvCxnSpPr>
            <a:cxnSpLocks/>
            <a:stCxn id="31" idx="3"/>
          </p:cNvCxnSpPr>
          <p:nvPr/>
        </p:nvCxnSpPr>
        <p:spPr>
          <a:xfrm flipV="1">
            <a:off x="3570686" y="4909280"/>
            <a:ext cx="3409216" cy="3712"/>
          </a:xfrm>
          <a:prstGeom prst="straightConnector1">
            <a:avLst/>
          </a:prstGeom>
          <a:ln w="50800">
            <a:solidFill>
              <a:schemeClr val="accent6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8B963AF-CA8F-E877-7AAA-CF74B65A1580}"/>
              </a:ext>
            </a:extLst>
          </p:cNvPr>
          <p:cNvCxnSpPr>
            <a:cxnSpLocks/>
            <a:stCxn id="32" idx="1"/>
            <a:endCxn id="33" idx="3"/>
          </p:cNvCxnSpPr>
          <p:nvPr/>
        </p:nvCxnSpPr>
        <p:spPr>
          <a:xfrm flipH="1">
            <a:off x="3582060" y="5428802"/>
            <a:ext cx="3388024" cy="2253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89C6B0FF-C721-CDF6-6C23-3BBB7D4B00C5}"/>
              </a:ext>
            </a:extLst>
          </p:cNvPr>
          <p:cNvCxnSpPr>
            <a:cxnSpLocks/>
            <a:stCxn id="33" idx="1"/>
          </p:cNvCxnSpPr>
          <p:nvPr/>
        </p:nvCxnSpPr>
        <p:spPr>
          <a:xfrm rot="10800000">
            <a:off x="1165791" y="3844455"/>
            <a:ext cx="830151" cy="1606884"/>
          </a:xfrm>
          <a:prstGeom prst="bentConnector2">
            <a:avLst/>
          </a:prstGeom>
          <a:ln w="38100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9295B942-4B30-C90E-B67C-FE5763171A76}"/>
              </a:ext>
            </a:extLst>
          </p:cNvPr>
          <p:cNvSpPr/>
          <p:nvPr/>
        </p:nvSpPr>
        <p:spPr>
          <a:xfrm>
            <a:off x="2349260" y="4175861"/>
            <a:ext cx="1211661" cy="39756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tr-TR" sz="1600" b="1" dirty="0">
                <a:solidFill>
                  <a:schemeClr val="bg1"/>
                </a:solidFill>
              </a:rPr>
              <a:t>hosts</a:t>
            </a:r>
            <a:r>
              <a:rPr lang="tr-TR" sz="1600" dirty="0">
                <a:solidFill>
                  <a:schemeClr val="bg1"/>
                </a:solidFill>
              </a:rPr>
              <a:t> file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39" name="Picture 38" descr="Shape&#10;&#10;Description automatically generated with low confidence">
            <a:extLst>
              <a:ext uri="{FF2B5EF4-FFF2-40B4-BE49-F238E27FC236}">
                <a16:creationId xmlns:a16="http://schemas.microsoft.com/office/drawing/2014/main" id="{6A65B339-0B55-EBC8-809B-721F21C825D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971" y="4226923"/>
            <a:ext cx="290371" cy="290371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F51310A-B627-5538-8949-B7EC44CAD097}"/>
              </a:ext>
            </a:extLst>
          </p:cNvPr>
          <p:cNvCxnSpPr>
            <a:cxnSpLocks/>
          </p:cNvCxnSpPr>
          <p:nvPr/>
        </p:nvCxnSpPr>
        <p:spPr>
          <a:xfrm>
            <a:off x="2539157" y="3877856"/>
            <a:ext cx="0" cy="291317"/>
          </a:xfrm>
          <a:prstGeom prst="straightConnector1">
            <a:avLst/>
          </a:prstGeom>
          <a:ln w="25400">
            <a:solidFill>
              <a:srgbClr val="0070C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6C2E6A57-A967-D450-B791-08487E8A05C6}"/>
              </a:ext>
            </a:extLst>
          </p:cNvPr>
          <p:cNvSpPr/>
          <p:nvPr/>
        </p:nvSpPr>
        <p:spPr>
          <a:xfrm>
            <a:off x="6835057" y="2277958"/>
            <a:ext cx="1224642" cy="86413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>
                <a:solidFill>
                  <a:schemeClr val="bg1"/>
                </a:solidFill>
              </a:rPr>
              <a:t>Product</a:t>
            </a:r>
          </a:p>
          <a:p>
            <a:pPr algn="ctr"/>
            <a:r>
              <a:rPr lang="tr-TR" sz="1600" dirty="0">
                <a:solidFill>
                  <a:schemeClr val="bg1"/>
                </a:solidFill>
              </a:rPr>
              <a:t>Interception </a:t>
            </a:r>
            <a:r>
              <a:rPr lang="tr-TR" sz="1400" dirty="0">
                <a:solidFill>
                  <a:schemeClr val="bg1"/>
                </a:solidFill>
              </a:rPr>
              <a:t>Proxy Server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4F54C33-419A-A06F-3D74-1E4C04AA76F5}"/>
              </a:ext>
            </a:extLst>
          </p:cNvPr>
          <p:cNvSpPr/>
          <p:nvPr/>
        </p:nvSpPr>
        <p:spPr>
          <a:xfrm>
            <a:off x="1396496" y="2786149"/>
            <a:ext cx="2207457" cy="34897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dirty="0">
                <a:solidFill>
                  <a:schemeClr val="bg1"/>
                </a:solidFill>
              </a:rPr>
              <a:t>Product Interception Client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6745190D-B8A9-233C-1FCF-ACF97C2804E7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>
            <a:off x="7018453" y="3148550"/>
            <a:ext cx="278330" cy="483138"/>
          </a:xfrm>
          <a:prstGeom prst="bentConnector2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9EB0E59-7EC5-023C-16FD-556655ED8630}"/>
              </a:ext>
            </a:extLst>
          </p:cNvPr>
          <p:cNvCxnSpPr>
            <a:cxnSpLocks/>
            <a:endCxn id="42" idx="3"/>
          </p:cNvCxnSpPr>
          <p:nvPr/>
        </p:nvCxnSpPr>
        <p:spPr>
          <a:xfrm flipH="1">
            <a:off x="3603953" y="2951852"/>
            <a:ext cx="3231104" cy="8785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71DE85B-2652-AF50-7B32-7D77B57C95F9}"/>
              </a:ext>
            </a:extLst>
          </p:cNvPr>
          <p:cNvCxnSpPr>
            <a:cxnSpLocks/>
          </p:cNvCxnSpPr>
          <p:nvPr/>
        </p:nvCxnSpPr>
        <p:spPr>
          <a:xfrm flipV="1">
            <a:off x="1742970" y="2160739"/>
            <a:ext cx="0" cy="625410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B081F31-58FB-BB15-EFA4-8147787CD648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9178696" y="1918150"/>
            <a:ext cx="0" cy="21601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FAD496B-54A8-62AD-5F4F-0824825F02F3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9178696" y="2531726"/>
            <a:ext cx="0" cy="21601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B503289-F568-B732-18FE-1F3203E5DF89}"/>
              </a:ext>
            </a:extLst>
          </p:cNvPr>
          <p:cNvCxnSpPr/>
          <p:nvPr/>
        </p:nvCxnSpPr>
        <p:spPr>
          <a:xfrm>
            <a:off x="8327559" y="3142090"/>
            <a:ext cx="0" cy="227174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0AC2ED3-E9E0-7C39-167D-C7A7EC86B375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9178696" y="3145302"/>
            <a:ext cx="0" cy="223962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6C6DDEA-0DE1-124F-B9D7-9B8D9922ACF8}"/>
              </a:ext>
            </a:extLst>
          </p:cNvPr>
          <p:cNvCxnSpPr>
            <a:cxnSpLocks/>
          </p:cNvCxnSpPr>
          <p:nvPr/>
        </p:nvCxnSpPr>
        <p:spPr>
          <a:xfrm>
            <a:off x="10038413" y="3174023"/>
            <a:ext cx="0" cy="195241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383A4E5-E12B-09E6-A529-1F020F80E578}"/>
              </a:ext>
            </a:extLst>
          </p:cNvPr>
          <p:cNvCxnSpPr>
            <a:stCxn id="15" idx="1"/>
            <a:endCxn id="17" idx="3"/>
          </p:cNvCxnSpPr>
          <p:nvPr/>
        </p:nvCxnSpPr>
        <p:spPr>
          <a:xfrm flipH="1">
            <a:off x="8381576" y="3623560"/>
            <a:ext cx="292877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51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9A35A028-54F0-4CBC-33F8-47BBB1B00DF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29" y="1109520"/>
            <a:ext cx="461665" cy="461665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2CAA783C-A837-943F-316F-270FDB6F95FC}"/>
              </a:ext>
            </a:extLst>
          </p:cNvPr>
          <p:cNvSpPr/>
          <p:nvPr/>
        </p:nvSpPr>
        <p:spPr>
          <a:xfrm>
            <a:off x="7924931" y="282990"/>
            <a:ext cx="2507530" cy="5593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Browser (user)</a:t>
            </a:r>
          </a:p>
        </p:txBody>
      </p:sp>
      <p:pic>
        <p:nvPicPr>
          <p:cNvPr id="54" name="Picture 53" descr="A picture containing symbol, circle, symmetry, black&#10;&#10;Description automatically generated">
            <a:extLst>
              <a:ext uri="{FF2B5EF4-FFF2-40B4-BE49-F238E27FC236}">
                <a16:creationId xmlns:a16="http://schemas.microsoft.com/office/drawing/2014/main" id="{2E623F36-FD38-DA55-2585-0DD2D2EC5C4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236" y="379073"/>
            <a:ext cx="372655" cy="372655"/>
          </a:xfrm>
          <a:prstGeom prst="rect">
            <a:avLst/>
          </a:prstGeom>
        </p:spPr>
      </p:pic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3149E26-7AD9-C709-F3E8-1BACFFFE2956}"/>
              </a:ext>
            </a:extLst>
          </p:cNvPr>
          <p:cNvCxnSpPr>
            <a:cxnSpLocks/>
            <a:stCxn id="53" idx="2"/>
            <a:endCxn id="12" idx="0"/>
          </p:cNvCxnSpPr>
          <p:nvPr/>
        </p:nvCxnSpPr>
        <p:spPr>
          <a:xfrm>
            <a:off x="9178696" y="842355"/>
            <a:ext cx="0" cy="678230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Arrow: Striped Right 55">
            <a:extLst>
              <a:ext uri="{FF2B5EF4-FFF2-40B4-BE49-F238E27FC236}">
                <a16:creationId xmlns:a16="http://schemas.microsoft.com/office/drawing/2014/main" id="{708FBBAF-2632-D1A3-AFA0-F7AD891D9AF0}"/>
              </a:ext>
            </a:extLst>
          </p:cNvPr>
          <p:cNvSpPr/>
          <p:nvPr/>
        </p:nvSpPr>
        <p:spPr>
          <a:xfrm>
            <a:off x="8498216" y="4683405"/>
            <a:ext cx="427726" cy="448215"/>
          </a:xfrm>
          <a:prstGeom prst="stripedRigh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E3BC58F-0B23-C2C2-6DEE-E9094A09C415}"/>
              </a:ext>
            </a:extLst>
          </p:cNvPr>
          <p:cNvSpPr/>
          <p:nvPr/>
        </p:nvSpPr>
        <p:spPr>
          <a:xfrm>
            <a:off x="2114284" y="2267447"/>
            <a:ext cx="1496212" cy="42514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bg1"/>
                </a:solidFill>
              </a:rPr>
              <a:t>Environment variables</a:t>
            </a:r>
          </a:p>
        </p:txBody>
      </p:sp>
      <p:pic>
        <p:nvPicPr>
          <p:cNvPr id="58" name="Picture 57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4D13A4CB-CB55-5A59-B4EE-0507148DEF1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689" y="2324701"/>
            <a:ext cx="318448" cy="318448"/>
          </a:xfrm>
          <a:prstGeom prst="rect">
            <a:avLst/>
          </a:prstGeom>
        </p:spPr>
      </p:pic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EE1024FE-80B7-6133-6043-96FC6CA8E8A0}"/>
              </a:ext>
            </a:extLst>
          </p:cNvPr>
          <p:cNvCxnSpPr>
            <a:cxnSpLocks/>
            <a:endCxn id="57" idx="1"/>
          </p:cNvCxnSpPr>
          <p:nvPr/>
        </p:nvCxnSpPr>
        <p:spPr>
          <a:xfrm rot="16200000" flipH="1">
            <a:off x="1863491" y="2229228"/>
            <a:ext cx="319280" cy="182306"/>
          </a:xfrm>
          <a:prstGeom prst="bentConnector2">
            <a:avLst/>
          </a:prstGeom>
          <a:ln w="25400">
            <a:solidFill>
              <a:schemeClr val="accent5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59" descr="A picture containing graphics, colorfulness, purple, screenshot&#10;&#10;Description automatically generated">
            <a:extLst>
              <a:ext uri="{FF2B5EF4-FFF2-40B4-BE49-F238E27FC236}">
                <a16:creationId xmlns:a16="http://schemas.microsoft.com/office/drawing/2014/main" id="{D19E9AF9-D12D-8C8D-891C-F641E155507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43" y="1340353"/>
            <a:ext cx="786297" cy="786297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41FED56E-6AF5-0B81-7FD4-F4A9161F5DF3}"/>
              </a:ext>
            </a:extLst>
          </p:cNvPr>
          <p:cNvSpPr txBox="1"/>
          <p:nvPr/>
        </p:nvSpPr>
        <p:spPr>
          <a:xfrm>
            <a:off x="8862701" y="4723525"/>
            <a:ext cx="2276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dirty="0"/>
              <a:t>access internal services...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73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1" grpId="0" animBg="1"/>
      <p:bldP spid="22" grpId="0"/>
      <p:bldP spid="23" grpId="0" animBg="1"/>
      <p:bldP spid="24" grpId="0" animBg="1"/>
      <p:bldP spid="26" grpId="0" animBg="1"/>
      <p:bldP spid="28" grpId="0" animBg="1"/>
      <p:bldP spid="30" grpId="0"/>
      <p:bldP spid="31" grpId="0" animBg="1"/>
      <p:bldP spid="32" grpId="0" animBg="1"/>
      <p:bldP spid="33" grpId="0" animBg="1"/>
      <p:bldP spid="34" grpId="0" animBg="1"/>
      <p:bldP spid="38" grpId="0" animBg="1"/>
      <p:bldP spid="41" grpId="0" animBg="1"/>
      <p:bldP spid="42" grpId="0" animBg="1"/>
      <p:bldP spid="53" grpId="0" animBg="1"/>
      <p:bldP spid="56" grpId="0" animBg="1"/>
      <p:bldP spid="57" grpId="0" animBg="1"/>
      <p:bldP spid="6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29D82957-8FD0-49FF-B99F-7F7BB3AB2C9F}"/>
              </a:ext>
            </a:extLst>
          </p:cNvPr>
          <p:cNvSpPr txBox="1"/>
          <p:nvPr/>
        </p:nvSpPr>
        <p:spPr>
          <a:xfrm>
            <a:off x="323850" y="361950"/>
            <a:ext cx="68916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Implementation: The Operations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64B8681-D97F-DAF6-0838-E551958C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589" y="6110014"/>
            <a:ext cx="376511" cy="37651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BC5D443-8567-BBB4-6990-28A2393702EB}"/>
              </a:ext>
            </a:extLst>
          </p:cNvPr>
          <p:cNvSpPr txBox="1"/>
          <p:nvPr/>
        </p:nvSpPr>
        <p:spPr>
          <a:xfrm>
            <a:off x="847154" y="6112073"/>
            <a:ext cx="233269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tr-TR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Halil İbrahim Kalkan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580A4FE-9B4C-44BA-F200-7E841BA70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1" y="1226034"/>
            <a:ext cx="5240041" cy="46757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b="1" u="sng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Connect</a:t>
            </a:r>
          </a:p>
          <a:p>
            <a:r>
              <a:rPr lang="tr-TR" sz="24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Establish a VPN Tunnel</a:t>
            </a:r>
          </a:p>
          <a:p>
            <a:r>
              <a:rPr lang="tr-TR" sz="24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Access to cluster services</a:t>
            </a:r>
          </a:p>
          <a:p>
            <a:r>
              <a:rPr lang="tr-TR" sz="24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Start to collect the monitoring data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9EC3088-39D8-971C-A597-15B840E1AAF9}"/>
              </a:ext>
            </a:extLst>
          </p:cNvPr>
          <p:cNvSpPr txBox="1">
            <a:spLocks/>
          </p:cNvSpPr>
          <p:nvPr/>
        </p:nvSpPr>
        <p:spPr>
          <a:xfrm>
            <a:off x="6096000" y="1226034"/>
            <a:ext cx="5240041" cy="46757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tr-TR" sz="2400" b="1" u="sng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Intercept</a:t>
            </a:r>
          </a:p>
          <a:p>
            <a:r>
              <a:rPr lang="tr-TR" sz="24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Setup a proxy server-client &amp; redirect the traffic to local machine</a:t>
            </a:r>
          </a:p>
          <a:p>
            <a:r>
              <a:rPr lang="tr-TR" sz="24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Override environment variables</a:t>
            </a:r>
          </a:p>
          <a:p>
            <a:r>
              <a:rPr lang="tr-TR" sz="24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Add DNS records to hosts file</a:t>
            </a:r>
          </a:p>
        </p:txBody>
      </p:sp>
    </p:spTree>
    <p:extLst>
      <p:ext uri="{BB962C8B-B14F-4D97-AF65-F5344CB8AC3E}">
        <p14:creationId xmlns:p14="http://schemas.microsoft.com/office/powerpoint/2010/main" val="368267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29D82957-8FD0-49FF-B99F-7F7BB3AB2C9F}"/>
              </a:ext>
            </a:extLst>
          </p:cNvPr>
          <p:cNvSpPr txBox="1"/>
          <p:nvPr/>
        </p:nvSpPr>
        <p:spPr>
          <a:xfrm>
            <a:off x="323850" y="361950"/>
            <a:ext cx="56733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Implementation: The Tools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64B8681-D97F-DAF6-0838-E551958C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589" y="6110014"/>
            <a:ext cx="376511" cy="37651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BC5D443-8567-BBB4-6990-28A2393702EB}"/>
              </a:ext>
            </a:extLst>
          </p:cNvPr>
          <p:cNvSpPr txBox="1"/>
          <p:nvPr/>
        </p:nvSpPr>
        <p:spPr>
          <a:xfrm>
            <a:off x="847154" y="6112073"/>
            <a:ext cx="233269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tr-TR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Halil İbrahim Kalkan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580A4FE-9B4C-44BA-F200-7E841BA70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1" y="2309412"/>
            <a:ext cx="5240041" cy="3592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  <a:hlinkClick r:id="rId4"/>
              </a:rPr>
              <a:t>https://www.wireguard.com</a:t>
            </a:r>
            <a:endParaRPr lang="tr-TR" sz="2400" dirty="0">
              <a:solidFill>
                <a:srgbClr val="5B636F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WireGuard</a:t>
            </a:r>
            <a:r>
              <a:rPr lang="en-US" sz="18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® is an extremely simple yet </a:t>
            </a:r>
            <a:r>
              <a:rPr lang="en-US" sz="18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fast and modern VPN </a:t>
            </a:r>
            <a:r>
              <a:rPr lang="en-US" sz="18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that utilizes state-of-the-art cryptography.</a:t>
            </a:r>
            <a:endParaRPr lang="tr-TR" sz="1800" dirty="0">
              <a:solidFill>
                <a:srgbClr val="5B636F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It aims to be faster, simpler, leaner, and more useful than IPsec, while avoiding the massive headache</a:t>
            </a:r>
            <a:r>
              <a:rPr lang="tr-TR" sz="18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  <a:endParaRPr lang="tr-TR" sz="1600" dirty="0">
              <a:solidFill>
                <a:srgbClr val="5B636F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9EC3088-39D8-971C-A597-15B840E1AAF9}"/>
              </a:ext>
            </a:extLst>
          </p:cNvPr>
          <p:cNvSpPr txBox="1">
            <a:spLocks/>
          </p:cNvSpPr>
          <p:nvPr/>
        </p:nvSpPr>
        <p:spPr>
          <a:xfrm>
            <a:off x="6096000" y="1226034"/>
            <a:ext cx="5240041" cy="46757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sz="6000" dirty="0">
                <a:solidFill>
                  <a:srgbClr val="C0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frp</a:t>
            </a:r>
            <a:endParaRPr lang="tr-TR" sz="6000" dirty="0">
              <a:solidFill>
                <a:srgbClr val="C00000"/>
              </a:solidFill>
              <a:latin typeface="Open Sans" pitchFamily="2" charset="0"/>
              <a:ea typeface="Open Sans" pitchFamily="2" charset="0"/>
              <a:cs typeface="Open Sans" pitchFamily="2" charset="0"/>
              <a:hlinkClick r:id="rId5"/>
            </a:endParaRPr>
          </a:p>
          <a:p>
            <a:pPr marL="0" indent="0">
              <a:buNone/>
            </a:pPr>
            <a:r>
              <a:rPr lang="tr-TR" sz="24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  <a:hlinkClick r:id="rId5"/>
              </a:rPr>
              <a:t>https://github.com/fatedier/frp</a:t>
            </a:r>
            <a:r>
              <a:rPr lang="tr-TR" sz="24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frp</a:t>
            </a:r>
            <a:r>
              <a:rPr lang="en-US" sz="18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is a fast </a:t>
            </a:r>
            <a:r>
              <a:rPr lang="en-US" sz="1800" b="1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reverse proxy that allows you to expose a local server located behind a NAT or firewall to the Internet</a:t>
            </a:r>
            <a:r>
              <a:rPr lang="en-US" sz="18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  <a:endParaRPr lang="tr-TR" sz="1800" dirty="0">
              <a:solidFill>
                <a:srgbClr val="5B636F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It currently supports TCP and UDP, as well as HTTP and HTTPS protocols, enabling requests to be forwarded to internal services via domain name.</a:t>
            </a:r>
            <a:endParaRPr lang="tr-TR" sz="1800" dirty="0">
              <a:solidFill>
                <a:srgbClr val="5B636F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tr-TR" sz="2400" dirty="0">
              <a:solidFill>
                <a:srgbClr val="5B636F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" name="AutoShape 2" descr="WireGuard: fast, modern, secure VPN tunnel">
            <a:extLst>
              <a:ext uri="{FF2B5EF4-FFF2-40B4-BE49-F238E27FC236}">
                <a16:creationId xmlns:a16="http://schemas.microsoft.com/office/drawing/2014/main" id="{8AF48617-F935-244B-8566-3E26013D9A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446222"/>
            <a:ext cx="304800" cy="135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29F276-B1C5-5DAF-31F3-D324B59F75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" y="1226034"/>
            <a:ext cx="4775335" cy="108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04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29D82957-8FD0-49FF-B99F-7F7BB3AB2C9F}"/>
              </a:ext>
            </a:extLst>
          </p:cNvPr>
          <p:cNvSpPr txBox="1"/>
          <p:nvPr/>
        </p:nvSpPr>
        <p:spPr>
          <a:xfrm>
            <a:off x="323850" y="361950"/>
            <a:ext cx="33185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See it in action!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64B8681-D97F-DAF6-0838-E551958C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589" y="6110014"/>
            <a:ext cx="376511" cy="37651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BC5D443-8567-BBB4-6990-28A2393702EB}"/>
              </a:ext>
            </a:extLst>
          </p:cNvPr>
          <p:cNvSpPr txBox="1"/>
          <p:nvPr/>
        </p:nvSpPr>
        <p:spPr>
          <a:xfrm>
            <a:off x="847154" y="6112073"/>
            <a:ext cx="233269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tr-TR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Halil İbrahim Kalkan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580A4FE-9B4C-44BA-F200-7E841BA70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226034"/>
            <a:ext cx="11473139" cy="4675716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tr-TR" sz="13800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DEMO</a:t>
            </a:r>
            <a:endParaRPr lang="en-US" sz="13800" dirty="0">
              <a:solidFill>
                <a:srgbClr val="5B636F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013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qr code on a black background&#10;&#10;AI-generated content may be incorrect.">
            <a:extLst>
              <a:ext uri="{FF2B5EF4-FFF2-40B4-BE49-F238E27FC236}">
                <a16:creationId xmlns:a16="http://schemas.microsoft.com/office/drawing/2014/main" id="{B0317831-3489-DEAB-EB14-213D33EC2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513" y="403513"/>
            <a:ext cx="6050973" cy="605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488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29D82957-8FD0-49FF-B99F-7F7BB3AB2C9F}"/>
              </a:ext>
            </a:extLst>
          </p:cNvPr>
          <p:cNvSpPr txBox="1"/>
          <p:nvPr/>
        </p:nvSpPr>
        <p:spPr>
          <a:xfrm>
            <a:off x="323850" y="361950"/>
            <a:ext cx="46025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b="1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Thanks for listening..!</a:t>
            </a:r>
            <a:endParaRPr lang="tr-TR" sz="3200" b="1" dirty="0">
              <a:solidFill>
                <a:srgbClr val="1C2313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64B8681-D97F-DAF6-0838-E551958C5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589" y="6110014"/>
            <a:ext cx="376511" cy="37651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BC5D443-8567-BBB4-6990-28A2393702EB}"/>
              </a:ext>
            </a:extLst>
          </p:cNvPr>
          <p:cNvSpPr txBox="1"/>
          <p:nvPr/>
        </p:nvSpPr>
        <p:spPr>
          <a:xfrm>
            <a:off x="847154" y="6112073"/>
            <a:ext cx="2332690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tr-TR" dirty="0">
                <a:solidFill>
                  <a:srgbClr val="1C2313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Halil İbrahim Kalkan</a:t>
            </a:r>
          </a:p>
        </p:txBody>
      </p:sp>
      <p:grpSp>
        <p:nvGrpSpPr>
          <p:cNvPr id="4" name="Grup 8">
            <a:extLst>
              <a:ext uri="{FF2B5EF4-FFF2-40B4-BE49-F238E27FC236}">
                <a16:creationId xmlns:a16="http://schemas.microsoft.com/office/drawing/2014/main" id="{1597B1C0-8043-608C-4FD8-7AFCA225B0F6}"/>
              </a:ext>
            </a:extLst>
          </p:cNvPr>
          <p:cNvGrpSpPr/>
          <p:nvPr/>
        </p:nvGrpSpPr>
        <p:grpSpPr>
          <a:xfrm>
            <a:off x="423589" y="1315408"/>
            <a:ext cx="5203670" cy="1303340"/>
            <a:chOff x="1110572" y="5192094"/>
            <a:chExt cx="5203670" cy="1303340"/>
          </a:xfrm>
        </p:grpSpPr>
        <p:pic>
          <p:nvPicPr>
            <p:cNvPr id="5" name="Resim 2">
              <a:extLst>
                <a:ext uri="{FF2B5EF4-FFF2-40B4-BE49-F238E27FC236}">
                  <a16:creationId xmlns:a16="http://schemas.microsoft.com/office/drawing/2014/main" id="{DD9F47D2-0D06-E0B2-1958-B453EB9AF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10572" y="5192094"/>
              <a:ext cx="1303340" cy="1303340"/>
            </a:xfrm>
            <a:prstGeom prst="rect">
              <a:avLst/>
            </a:prstGeom>
          </p:spPr>
        </p:pic>
        <p:sp>
          <p:nvSpPr>
            <p:cNvPr id="6" name="Metin kutusu 3">
              <a:extLst>
                <a:ext uri="{FF2B5EF4-FFF2-40B4-BE49-F238E27FC236}">
                  <a16:creationId xmlns:a16="http://schemas.microsoft.com/office/drawing/2014/main" id="{0187A6B3-CD77-CA43-C9C2-28C3728CFE81}"/>
                </a:ext>
              </a:extLst>
            </p:cNvPr>
            <p:cNvSpPr txBox="1"/>
            <p:nvPr/>
          </p:nvSpPr>
          <p:spPr>
            <a:xfrm>
              <a:off x="2686326" y="5384359"/>
              <a:ext cx="36279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2800" dirty="0">
                  <a:solidFill>
                    <a:srgbClr val="1C2313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Halil 	İbrahim Kalkan</a:t>
              </a:r>
            </a:p>
          </p:txBody>
        </p:sp>
        <p:sp>
          <p:nvSpPr>
            <p:cNvPr id="7" name="Metin kutusu 5">
              <a:extLst>
                <a:ext uri="{FF2B5EF4-FFF2-40B4-BE49-F238E27FC236}">
                  <a16:creationId xmlns:a16="http://schemas.microsoft.com/office/drawing/2014/main" id="{A25556A8-4B96-38CB-6BE6-F0106F6F8822}"/>
                </a:ext>
              </a:extLst>
            </p:cNvPr>
            <p:cNvSpPr txBox="1"/>
            <p:nvPr/>
          </p:nvSpPr>
          <p:spPr>
            <a:xfrm>
              <a:off x="2687287" y="5919753"/>
              <a:ext cx="16834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u="sng" dirty="0" err="1">
                  <a:solidFill>
                    <a:srgbClr val="5B636F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Co-founder</a:t>
              </a:r>
              <a:r>
                <a:rPr lang="tr-TR" u="sng" dirty="0">
                  <a:solidFill>
                    <a:srgbClr val="5B636F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of</a:t>
              </a:r>
              <a:endParaRPr lang="tr-TR" dirty="0">
                <a:solidFill>
                  <a:srgbClr val="5B636F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</p:grpSp>
      <p:pic>
        <p:nvPicPr>
          <p:cNvPr id="9" name="Resim 4">
            <a:extLst>
              <a:ext uri="{FF2B5EF4-FFF2-40B4-BE49-F238E27FC236}">
                <a16:creationId xmlns:a16="http://schemas.microsoft.com/office/drawing/2014/main" id="{E5B7B221-2DE8-8F13-A2F3-432EC14CAA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5106" y="2058983"/>
            <a:ext cx="1280522" cy="3104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60EEAA-544F-AE55-3D6F-87BFAAF16236}"/>
              </a:ext>
            </a:extLst>
          </p:cNvPr>
          <p:cNvSpPr txBox="1"/>
          <p:nvPr/>
        </p:nvSpPr>
        <p:spPr>
          <a:xfrm>
            <a:off x="323850" y="3103470"/>
            <a:ext cx="1157214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92D33"/>
                </a:solidFill>
                <a:latin typeface="HelveticaNeueLT Std" panose="020B0604020202020204" pitchFamily="34" charset="0"/>
              </a:rPr>
              <a:t>Web</a:t>
            </a:r>
            <a:r>
              <a:rPr lang="tr-TR" sz="2800" dirty="0">
                <a:solidFill>
                  <a:srgbClr val="292D33"/>
                </a:solidFill>
                <a:latin typeface="HelveticaNeueLT Std" panose="020B0604020202020204" pitchFamily="34" charset="0"/>
              </a:rPr>
              <a:t>: </a:t>
            </a:r>
            <a:r>
              <a:rPr lang="tr-TR" sz="2800" dirty="0">
                <a:solidFill>
                  <a:srgbClr val="292D33"/>
                </a:solidFill>
                <a:latin typeface="HelveticaNeueLT Std" panose="020B0604020202020204" pitchFamily="34" charset="0"/>
                <a:hlinkClick r:id="rId5"/>
              </a:rPr>
              <a:t>https://</a:t>
            </a:r>
            <a:r>
              <a:rPr lang="en-US" sz="2800" dirty="0">
                <a:solidFill>
                  <a:srgbClr val="292D33"/>
                </a:solidFill>
                <a:latin typeface="HelveticaNeueLT Std" panose="020B0604020202020204" pitchFamily="34" charset="0"/>
                <a:hlinkClick r:id="rId5"/>
              </a:rPr>
              <a:t>halilibrahimkalkan.com</a:t>
            </a:r>
            <a:r>
              <a:rPr lang="tr-TR" sz="2800" dirty="0">
                <a:solidFill>
                  <a:srgbClr val="292D33"/>
                </a:solidFill>
                <a:latin typeface="HelveticaNeueLT Std" panose="020B0604020202020204" pitchFamily="34" charset="0"/>
              </a:rPr>
              <a:t> </a:t>
            </a:r>
            <a:br>
              <a:rPr lang="en-US" sz="2800" b="1" dirty="0">
                <a:solidFill>
                  <a:srgbClr val="292D33"/>
                </a:solidFill>
                <a:latin typeface="HelveticaNeueLT Std" panose="020B0604020202020204" pitchFamily="34" charset="0"/>
              </a:rPr>
            </a:br>
            <a:r>
              <a:rPr lang="en-US" sz="2800" b="1" dirty="0">
                <a:solidFill>
                  <a:srgbClr val="292D33"/>
                </a:solidFill>
                <a:latin typeface="HelveticaNeueLT Std" panose="020B0604020202020204" pitchFamily="34" charset="0"/>
              </a:rPr>
              <a:t>Git</a:t>
            </a:r>
            <a:r>
              <a:rPr lang="tr-TR" sz="2800" b="1" dirty="0">
                <a:solidFill>
                  <a:srgbClr val="292D33"/>
                </a:solidFill>
                <a:latin typeface="HelveticaNeueLT Std" panose="020B0604020202020204" pitchFamily="34" charset="0"/>
              </a:rPr>
              <a:t>H</a:t>
            </a:r>
            <a:r>
              <a:rPr lang="en-US" sz="2800" b="1" dirty="0" err="1">
                <a:solidFill>
                  <a:srgbClr val="292D33"/>
                </a:solidFill>
                <a:latin typeface="HelveticaNeueLT Std" panose="020B0604020202020204" pitchFamily="34" charset="0"/>
              </a:rPr>
              <a:t>ub</a:t>
            </a:r>
            <a:r>
              <a:rPr lang="tr-TR" sz="2800" dirty="0">
                <a:solidFill>
                  <a:srgbClr val="292D33"/>
                </a:solidFill>
                <a:latin typeface="HelveticaNeueLT Std" panose="020B0604020202020204" pitchFamily="34" charset="0"/>
              </a:rPr>
              <a:t>: </a:t>
            </a:r>
            <a:r>
              <a:rPr lang="tr-TR" sz="2800" dirty="0">
                <a:solidFill>
                  <a:srgbClr val="0070C0"/>
                </a:solidFill>
                <a:latin typeface="HelveticaNeueLT Std" panose="020B0604020202020204" pitchFamily="34" charset="0"/>
              </a:rPr>
              <a:t>h</a:t>
            </a:r>
            <a:r>
              <a:rPr lang="en-US" sz="2800" dirty="0" err="1">
                <a:solidFill>
                  <a:srgbClr val="0070C0"/>
                </a:solidFill>
                <a:latin typeface="HelveticaNeueLT Std" panose="020B0604020202020204" pitchFamily="34" charset="0"/>
              </a:rPr>
              <a:t>ikalkan</a:t>
            </a:r>
            <a:endParaRPr lang="en-US" sz="2800" dirty="0">
              <a:solidFill>
                <a:srgbClr val="0070C0"/>
              </a:solidFill>
              <a:latin typeface="HelveticaNeueLT Std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92D33"/>
                </a:solidFill>
                <a:latin typeface="HelveticaNeueLT Std" panose="020B0604020202020204" pitchFamily="34" charset="0"/>
              </a:rPr>
              <a:t>Twitter</a:t>
            </a:r>
            <a:r>
              <a:rPr lang="tr-TR" sz="2800" dirty="0">
                <a:solidFill>
                  <a:srgbClr val="292D33"/>
                </a:solidFill>
                <a:latin typeface="HelveticaNeueLT Std" panose="020B0604020202020204" pitchFamily="34" charset="0"/>
              </a:rPr>
              <a:t>: </a:t>
            </a:r>
            <a:r>
              <a:rPr lang="en-US" sz="2800" dirty="0" err="1">
                <a:solidFill>
                  <a:srgbClr val="0070C0"/>
                </a:solidFill>
                <a:latin typeface="HelveticaNeueLT Std" panose="020B0604020202020204" pitchFamily="34" charset="0"/>
              </a:rPr>
              <a:t>hibrahimkalkan</a:t>
            </a:r>
            <a:endParaRPr lang="tr-TR" sz="2800" dirty="0">
              <a:solidFill>
                <a:srgbClr val="0070C0"/>
              </a:solidFill>
              <a:latin typeface="HelveticaNeueLT Std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tr-TR" sz="2800" b="1" dirty="0">
                <a:solidFill>
                  <a:srgbClr val="292D33"/>
                </a:solidFill>
                <a:latin typeface="HelveticaNeueLT Std" panose="020B0604020202020204" pitchFamily="34" charset="0"/>
              </a:rPr>
              <a:t>ABP Framework</a:t>
            </a:r>
            <a:r>
              <a:rPr lang="tr-TR" sz="2800" dirty="0">
                <a:solidFill>
                  <a:srgbClr val="292D33"/>
                </a:solidFill>
                <a:latin typeface="HelveticaNeueLT Std" panose="020B0604020202020204" pitchFamily="34" charset="0"/>
              </a:rPr>
              <a:t>: </a:t>
            </a:r>
            <a:r>
              <a:rPr lang="tr-TR" sz="2800" dirty="0">
                <a:solidFill>
                  <a:srgbClr val="292D33"/>
                </a:solidFill>
                <a:latin typeface="HelveticaNeueLT Std" panose="020B0604020202020204" pitchFamily="34" charset="0"/>
                <a:hlinkClick r:id="rId6"/>
              </a:rPr>
              <a:t>https://abp.io</a:t>
            </a:r>
            <a:r>
              <a:rPr lang="tr-TR" sz="2800" dirty="0">
                <a:solidFill>
                  <a:srgbClr val="292D33"/>
                </a:solidFill>
                <a:latin typeface="HelveticaNeueLT Std" panose="020B0604020202020204" pitchFamily="34" charset="0"/>
              </a:rPr>
              <a:t> </a:t>
            </a:r>
          </a:p>
          <a:p>
            <a:r>
              <a:rPr lang="tr-TR" sz="2800" b="1" dirty="0">
                <a:solidFill>
                  <a:srgbClr val="292D33"/>
                </a:solidFill>
                <a:latin typeface="HelveticaNeueLT Std" panose="020B0604020202020204" pitchFamily="34" charset="0"/>
              </a:rPr>
              <a:t>This Presentation</a:t>
            </a:r>
            <a:r>
              <a:rPr lang="tr-TR" sz="2800" dirty="0"/>
              <a:t>: </a:t>
            </a:r>
            <a:r>
              <a:rPr lang="en-US" sz="2800" dirty="0">
                <a:latin typeface="HelveticaNeueLT Std" panose="020B0604020202020204"/>
                <a:hlinkClick r:id="rId7"/>
              </a:rPr>
              <a:t>https://github.com/hikalkan/presentations</a:t>
            </a:r>
            <a:r>
              <a:rPr lang="tr-TR" sz="2800" dirty="0"/>
              <a:t> </a:t>
            </a:r>
            <a:endParaRPr lang="en-US" sz="2800" dirty="0">
              <a:latin typeface="HelveticaNeueLT Std" panose="020B0604020202020204"/>
            </a:endParaRPr>
          </a:p>
          <a:p>
            <a:pPr>
              <a:lnSpc>
                <a:spcPct val="100000"/>
              </a:lnSpc>
            </a:pPr>
            <a:endParaRPr lang="en-US" sz="2800" dirty="0">
              <a:solidFill>
                <a:srgbClr val="292D33"/>
              </a:solidFill>
              <a:latin typeface="HelveticaNeueLT Std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53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1044</Words>
  <Application>Microsoft Office PowerPoint</Application>
  <PresentationFormat>Widescreen</PresentationFormat>
  <Paragraphs>187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Euclid Circular B</vt:lpstr>
      <vt:lpstr>HelveticaNeueLT Std</vt:lpstr>
      <vt:lpstr>Menlo</vt:lpstr>
      <vt:lpstr>Open Sans</vt:lpstr>
      <vt:lpstr>Office Teması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Yasin Aydın</dc:creator>
  <cp:lastModifiedBy>Halil Kalkan</cp:lastModifiedBy>
  <cp:revision>82</cp:revision>
  <dcterms:created xsi:type="dcterms:W3CDTF">2023-08-29T10:33:10Z</dcterms:created>
  <dcterms:modified xsi:type="dcterms:W3CDTF">2025-10-28T13:13:22Z</dcterms:modified>
</cp:coreProperties>
</file>